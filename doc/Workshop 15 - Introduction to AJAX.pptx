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firstSlideNum="180" strictFirstAndLastChars="0" saveSubsetFonts="1" autoCompressPictures="0">
  <p:sldMasterIdLst>
    <p:sldMasterId id="2147483778" r:id="rId1"/>
  </p:sldMasterIdLst>
  <p:notesMasterIdLst>
    <p:notesMasterId r:id="rId24"/>
  </p:notesMasterIdLst>
  <p:handoutMasterIdLst>
    <p:handoutMasterId r:id="rId25"/>
  </p:handoutMasterIdLst>
  <p:sldIdLst>
    <p:sldId id="507" r:id="rId2"/>
    <p:sldId id="506" r:id="rId3"/>
    <p:sldId id="508" r:id="rId4"/>
    <p:sldId id="509" r:id="rId5"/>
    <p:sldId id="510" r:id="rId6"/>
    <p:sldId id="511" r:id="rId7"/>
    <p:sldId id="512" r:id="rId8"/>
    <p:sldId id="513" r:id="rId9"/>
    <p:sldId id="514" r:id="rId10"/>
    <p:sldId id="515" r:id="rId11"/>
    <p:sldId id="516" r:id="rId12"/>
    <p:sldId id="518" r:id="rId13"/>
    <p:sldId id="519" r:id="rId14"/>
    <p:sldId id="517" r:id="rId15"/>
    <p:sldId id="520" r:id="rId16"/>
    <p:sldId id="522" r:id="rId17"/>
    <p:sldId id="521" r:id="rId18"/>
    <p:sldId id="523" r:id="rId19"/>
    <p:sldId id="524" r:id="rId20"/>
    <p:sldId id="525" r:id="rId21"/>
    <p:sldId id="527" r:id="rId22"/>
    <p:sldId id="526" r:id="rId23"/>
  </p:sldIdLst>
  <p:sldSz cx="9144000" cy="6858000" type="screen4x3"/>
  <p:notesSz cx="6858000" cy="9144000"/>
  <p:defaultTextStyle>
    <a:defPPr>
      <a:defRPr lang="en-US"/>
    </a:defPPr>
    <a:lvl1pPr algn="l" rtl="0" fontAlgn="base">
      <a:spcBef>
        <a:spcPct val="0"/>
      </a:spcBef>
      <a:spcAft>
        <a:spcPct val="0"/>
      </a:spcAft>
      <a:defRPr b="1" kern="1200">
        <a:solidFill>
          <a:srgbClr val="FFFFFF"/>
        </a:solidFill>
        <a:latin typeface="Tahoma" pitchFamily="34" charset="0"/>
        <a:ea typeface="ＭＳ Ｐゴシック" pitchFamily="34" charset="-128"/>
        <a:cs typeface="+mn-cs"/>
        <a:sym typeface="Tahoma" pitchFamily="34" charset="0"/>
      </a:defRPr>
    </a:lvl1pPr>
    <a:lvl2pPr marL="342900" indent="114300" algn="l" rtl="0" fontAlgn="base">
      <a:spcBef>
        <a:spcPct val="0"/>
      </a:spcBef>
      <a:spcAft>
        <a:spcPct val="0"/>
      </a:spcAft>
      <a:defRPr b="1" kern="1200">
        <a:solidFill>
          <a:srgbClr val="FFFFFF"/>
        </a:solidFill>
        <a:latin typeface="Tahoma" pitchFamily="34" charset="0"/>
        <a:ea typeface="ＭＳ Ｐゴシック" pitchFamily="34" charset="-128"/>
        <a:cs typeface="+mn-cs"/>
        <a:sym typeface="Tahoma" pitchFamily="34" charset="0"/>
      </a:defRPr>
    </a:lvl2pPr>
    <a:lvl3pPr marL="685800" indent="228600" algn="l" rtl="0" fontAlgn="base">
      <a:spcBef>
        <a:spcPct val="0"/>
      </a:spcBef>
      <a:spcAft>
        <a:spcPct val="0"/>
      </a:spcAft>
      <a:defRPr b="1" kern="1200">
        <a:solidFill>
          <a:srgbClr val="FFFFFF"/>
        </a:solidFill>
        <a:latin typeface="Tahoma" pitchFamily="34" charset="0"/>
        <a:ea typeface="ＭＳ Ｐゴシック" pitchFamily="34" charset="-128"/>
        <a:cs typeface="+mn-cs"/>
        <a:sym typeface="Tahoma" pitchFamily="34" charset="0"/>
      </a:defRPr>
    </a:lvl3pPr>
    <a:lvl4pPr marL="1028700" indent="342900" algn="l" rtl="0" fontAlgn="base">
      <a:spcBef>
        <a:spcPct val="0"/>
      </a:spcBef>
      <a:spcAft>
        <a:spcPct val="0"/>
      </a:spcAft>
      <a:defRPr b="1" kern="1200">
        <a:solidFill>
          <a:srgbClr val="FFFFFF"/>
        </a:solidFill>
        <a:latin typeface="Tahoma" pitchFamily="34" charset="0"/>
        <a:ea typeface="ＭＳ Ｐゴシック" pitchFamily="34" charset="-128"/>
        <a:cs typeface="+mn-cs"/>
        <a:sym typeface="Tahoma" pitchFamily="34" charset="0"/>
      </a:defRPr>
    </a:lvl4pPr>
    <a:lvl5pPr marL="1371600" indent="457200" algn="l" rtl="0" fontAlgn="base">
      <a:spcBef>
        <a:spcPct val="0"/>
      </a:spcBef>
      <a:spcAft>
        <a:spcPct val="0"/>
      </a:spcAft>
      <a:defRPr b="1" kern="1200">
        <a:solidFill>
          <a:srgbClr val="FFFFFF"/>
        </a:solidFill>
        <a:latin typeface="Tahoma" pitchFamily="34" charset="0"/>
        <a:ea typeface="ＭＳ Ｐゴシック" pitchFamily="34" charset="-128"/>
        <a:cs typeface="+mn-cs"/>
        <a:sym typeface="Tahoma" pitchFamily="34" charset="0"/>
      </a:defRPr>
    </a:lvl5pPr>
    <a:lvl6pPr marL="2286000" algn="l" defTabSz="914400" rtl="0" eaLnBrk="1" latinLnBrk="0" hangingPunct="1">
      <a:defRPr b="1" kern="1200">
        <a:solidFill>
          <a:srgbClr val="FFFFFF"/>
        </a:solidFill>
        <a:latin typeface="Tahoma" pitchFamily="34" charset="0"/>
        <a:ea typeface="ＭＳ Ｐゴシック" pitchFamily="34" charset="-128"/>
        <a:cs typeface="+mn-cs"/>
        <a:sym typeface="Tahoma" pitchFamily="34" charset="0"/>
      </a:defRPr>
    </a:lvl6pPr>
    <a:lvl7pPr marL="2743200" algn="l" defTabSz="914400" rtl="0" eaLnBrk="1" latinLnBrk="0" hangingPunct="1">
      <a:defRPr b="1" kern="1200">
        <a:solidFill>
          <a:srgbClr val="FFFFFF"/>
        </a:solidFill>
        <a:latin typeface="Tahoma" pitchFamily="34" charset="0"/>
        <a:ea typeface="ＭＳ Ｐゴシック" pitchFamily="34" charset="-128"/>
        <a:cs typeface="+mn-cs"/>
        <a:sym typeface="Tahoma" pitchFamily="34" charset="0"/>
      </a:defRPr>
    </a:lvl7pPr>
    <a:lvl8pPr marL="3200400" algn="l" defTabSz="914400" rtl="0" eaLnBrk="1" latinLnBrk="0" hangingPunct="1">
      <a:defRPr b="1" kern="1200">
        <a:solidFill>
          <a:srgbClr val="FFFFFF"/>
        </a:solidFill>
        <a:latin typeface="Tahoma" pitchFamily="34" charset="0"/>
        <a:ea typeface="ＭＳ Ｐゴシック" pitchFamily="34" charset="-128"/>
        <a:cs typeface="+mn-cs"/>
        <a:sym typeface="Tahoma" pitchFamily="34" charset="0"/>
      </a:defRPr>
    </a:lvl8pPr>
    <a:lvl9pPr marL="3657600" algn="l" defTabSz="914400" rtl="0" eaLnBrk="1" latinLnBrk="0" hangingPunct="1">
      <a:defRPr b="1" kern="1200">
        <a:solidFill>
          <a:srgbClr val="FFFFFF"/>
        </a:solidFill>
        <a:latin typeface="Tahoma" pitchFamily="34" charset="0"/>
        <a:ea typeface="ＭＳ Ｐゴシック" pitchFamily="34" charset="-128"/>
        <a:cs typeface="+mn-cs"/>
        <a:sym typeface="Tahoma"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48" autoAdjust="0"/>
    <p:restoredTop sz="92769" autoAdjust="0"/>
  </p:normalViewPr>
  <p:slideViewPr>
    <p:cSldViewPr>
      <p:cViewPr>
        <p:scale>
          <a:sx n="80" d="100"/>
          <a:sy n="80" d="100"/>
        </p:scale>
        <p:origin x="-1758" y="-30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hangingPunct="0">
              <a:buClr>
                <a:srgbClr val="FFFFFF"/>
              </a:buClr>
              <a:defRPr sz="1200">
                <a:latin typeface="Tahoma" charset="0"/>
                <a:ea typeface="ＭＳ Ｐゴシック" charset="0"/>
                <a:cs typeface="ＭＳ Ｐゴシック" charset="0"/>
                <a:sym typeface="Tahoma"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hangingPunct="0">
              <a:buClr>
                <a:srgbClr val="FFFFFF"/>
              </a:buClr>
              <a:defRPr sz="1200" smtClean="0">
                <a:latin typeface="Tahoma" charset="0"/>
                <a:ea typeface="ＭＳ Ｐゴシック" charset="0"/>
                <a:cs typeface="ＭＳ Ｐゴシック" charset="0"/>
                <a:sym typeface="Tahoma" charset="0"/>
              </a:defRPr>
            </a:lvl1pPr>
          </a:lstStyle>
          <a:p>
            <a:pPr>
              <a:defRPr/>
            </a:pPr>
            <a:fld id="{80AD5902-CFC7-40A7-866B-9F69F2D64349}" type="datetimeFigureOut">
              <a:rPr lang="en-US"/>
              <a:pPr>
                <a:defRPr/>
              </a:pPr>
              <a:t>2/8/2018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hangingPunct="0">
              <a:buClr>
                <a:srgbClr val="FFFFFF"/>
              </a:buClr>
              <a:defRPr sz="1200">
                <a:latin typeface="Tahoma" charset="0"/>
                <a:ea typeface="ＭＳ Ｐゴシック" charset="0"/>
                <a:cs typeface="ＭＳ Ｐゴシック" charset="0"/>
                <a:sym typeface="Tahoma"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hangingPunct="0">
              <a:buClr>
                <a:srgbClr val="FFFFFF"/>
              </a:buClr>
              <a:defRPr sz="1200" smtClean="0">
                <a:latin typeface="Tahoma" charset="0"/>
                <a:ea typeface="ＭＳ Ｐゴシック" charset="0"/>
                <a:cs typeface="ＭＳ Ｐゴシック" charset="0"/>
                <a:sym typeface="Tahoma" charset="0"/>
              </a:defRPr>
            </a:lvl1pPr>
          </a:lstStyle>
          <a:p>
            <a:pPr>
              <a:defRPr/>
            </a:pPr>
            <a:fld id="{B985EBE9-022F-4AE9-BA43-C7899F1E4398}" type="slidenum">
              <a:rPr lang="en-US"/>
              <a:pPr>
                <a:defRPr/>
              </a:pPr>
              <a:t>‹#›</a:t>
            </a:fld>
            <a:endParaRPr lang="en-US"/>
          </a:p>
        </p:txBody>
      </p:sp>
    </p:spTree>
    <p:extLst>
      <p:ext uri="{BB962C8B-B14F-4D97-AF65-F5344CB8AC3E}">
        <p14:creationId xmlns:p14="http://schemas.microsoft.com/office/powerpoint/2010/main" val="37953828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FAA26D3D-D897-4be2-8F04-BA451C77F1D7}"/>
          </a:extLst>
        </p:spPr>
      </p:sp>
      <p:sp>
        <p:nvSpPr>
          <p:cNvPr id="2050" name="Rectangle 2"/>
          <p:cNvSpPr>
            <a:spLocks noGrp="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US" noProof="0" smtClean="0">
                <a:sym typeface="Noteworthy Bold" charset="0"/>
              </a:rPr>
              <a:t>Click to edit Master text styles</a:t>
            </a:r>
          </a:p>
          <a:p>
            <a:pPr lvl="1"/>
            <a:r>
              <a:rPr lang="en-US" noProof="0" smtClean="0">
                <a:sym typeface="Noteworthy Bold" charset="0"/>
              </a:rPr>
              <a:t>Second level</a:t>
            </a:r>
          </a:p>
          <a:p>
            <a:pPr lvl="2"/>
            <a:r>
              <a:rPr lang="en-US" noProof="0" smtClean="0">
                <a:sym typeface="Noteworthy Bold" charset="0"/>
              </a:rPr>
              <a:t>Third level</a:t>
            </a:r>
          </a:p>
          <a:p>
            <a:pPr lvl="3"/>
            <a:r>
              <a:rPr lang="en-US" noProof="0" smtClean="0">
                <a:sym typeface="Noteworthy Bold" charset="0"/>
              </a:rPr>
              <a:t>Fourth level</a:t>
            </a:r>
          </a:p>
          <a:p>
            <a:pPr lvl="4"/>
            <a:r>
              <a:rPr lang="en-US" noProof="0" smtClean="0">
                <a:sym typeface="Noteworthy Bold" charset="0"/>
              </a:rPr>
              <a:t>Fifth level</a:t>
            </a:r>
          </a:p>
        </p:txBody>
      </p:sp>
    </p:spTree>
    <p:extLst>
      <p:ext uri="{BB962C8B-B14F-4D97-AF65-F5344CB8AC3E}">
        <p14:creationId xmlns:p14="http://schemas.microsoft.com/office/powerpoint/2010/main" val="1995378812"/>
      </p:ext>
    </p:extLst>
  </p:cSld>
  <p:clrMap bg1="lt1" tx1="dk1" bg2="lt2" tx2="dk2" accent1="accent1" accent2="accent2" accent3="accent3" accent4="accent4" accent5="accent5" accent6="accent6" hlink="hlink" folHlink="folHlink"/>
  <p:hf hdr="0" ftr="0" dt="0"/>
  <p:notesStyle>
    <a:lvl1pPr algn="l" defTabSz="457200" rtl="0" eaLnBrk="0" fontAlgn="base" hangingPunct="0">
      <a:lnSpc>
        <a:spcPts val="3500"/>
      </a:lnSpc>
      <a:spcBef>
        <a:spcPct val="0"/>
      </a:spcBef>
      <a:spcAft>
        <a:spcPct val="0"/>
      </a:spcAft>
      <a:defRPr sz="2400" kern="1200">
        <a:solidFill>
          <a:srgbClr val="572E2D"/>
        </a:solidFill>
        <a:latin typeface="Noteworthy Bold" charset="0"/>
        <a:ea typeface="ＭＳ Ｐゴシック" charset="0"/>
        <a:cs typeface="Noteworthy Bold" charset="0"/>
        <a:sym typeface="Noteworthy Bold"/>
      </a:defRPr>
    </a:lvl1pPr>
    <a:lvl2pPr marL="342900" algn="l" defTabSz="457200" rtl="0" eaLnBrk="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a:defRPr>
    </a:lvl2pPr>
    <a:lvl3pPr marL="685800" algn="l" defTabSz="457200" rtl="0" eaLnBrk="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a:defRPr>
    </a:lvl3pPr>
    <a:lvl4pPr marL="1028700" algn="l" defTabSz="457200" rtl="0" eaLnBrk="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a:defRPr>
    </a:lvl4pPr>
    <a:lvl5pPr marL="1371600" algn="l" defTabSz="457200" rtl="0" eaLnBrk="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10999" y="1124744"/>
            <a:ext cx="8175801" cy="5400600"/>
          </a:xfrm>
          <a:prstGeom prst="rect">
            <a:avLst/>
          </a:prstGeom>
        </p:spPr>
        <p:txBody>
          <a:bodyPr lIns="91430" tIns="45715" rIns="91430" bIns="45715"/>
          <a:lstStyle>
            <a:lvl1pPr>
              <a:buClr>
                <a:srgbClr val="C60C30"/>
              </a:buClr>
              <a:buFont typeface="Arial" pitchFamily="34" charset="0"/>
              <a:buChar char="•"/>
              <a:defRPr sz="2400"/>
            </a:lvl1pPr>
            <a:lvl2pPr>
              <a:buClr>
                <a:srgbClr val="C60C30"/>
              </a:buClr>
              <a:defRPr sz="2000"/>
            </a:lvl2pPr>
            <a:lvl3pPr>
              <a:buClr>
                <a:srgbClr val="C60C30"/>
              </a:buClr>
              <a:defRPr sz="1800"/>
            </a:lvl3pPr>
            <a:lvl4pPr>
              <a:buClr>
                <a:srgbClr val="C60C30"/>
              </a:buClr>
              <a:defRPr sz="1600"/>
            </a:lvl4pPr>
            <a:lvl5pPr>
              <a:buClr>
                <a:srgbClr val="C60C30"/>
              </a:buCl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1"/>
          <p:cNvSpPr>
            <a:spLocks noGrp="1"/>
          </p:cNvSpPr>
          <p:nvPr>
            <p:ph type="title"/>
          </p:nvPr>
        </p:nvSpPr>
        <p:spPr>
          <a:xfrm>
            <a:off x="2123729" y="360001"/>
            <a:ext cx="6563072" cy="720000"/>
          </a:xfrm>
          <a:prstGeom prst="rect">
            <a:avLst/>
          </a:prstGeom>
        </p:spPr>
        <p:txBody>
          <a:bodyPr lIns="91430" tIns="45715" rIns="91430" bIns="45715"/>
          <a:lstStyle>
            <a:lvl1pPr>
              <a:defRPr sz="3200"/>
            </a:lvl1pPr>
          </a:lstStyle>
          <a:p>
            <a:r>
              <a:rPr lang="en-US" smtClean="0"/>
              <a:t>Click to edit Master title style</a:t>
            </a:r>
            <a:endParaRPr lang="en-US" dirty="0"/>
          </a:p>
        </p:txBody>
      </p:sp>
      <p:sp>
        <p:nvSpPr>
          <p:cNvPr id="4" name="Slide Number Placeholder 6"/>
          <p:cNvSpPr>
            <a:spLocks noGrp="1"/>
          </p:cNvSpPr>
          <p:nvPr>
            <p:ph type="sldNum" sz="quarter" idx="10"/>
          </p:nvPr>
        </p:nvSpPr>
        <p:spPr/>
        <p:txBody>
          <a:bodyPr/>
          <a:lstStyle>
            <a:lvl1pPr algn="r">
              <a:defRPr sz="1200" b="0" smtClean="0">
                <a:ea typeface="ＭＳ Ｐゴシック" charset="-128"/>
                <a:cs typeface="+mn-cs"/>
              </a:defRPr>
            </a:lvl1pPr>
          </a:lstStyle>
          <a:p>
            <a:pPr>
              <a:defRPr/>
            </a:pPr>
            <a:fld id="{D54FB89F-398B-44C6-B844-399D9F038FBB}" type="slidenum">
              <a:rPr lang="en-US" smtClean="0"/>
              <a:pPr>
                <a:defRPr/>
              </a:pPr>
              <a:t>‹#›</a:t>
            </a:fld>
            <a:endParaRPr lang="en-US">
              <a:latin typeface="+mn-lt"/>
              <a:cs typeface="+mn-cs"/>
            </a:endParaRPr>
          </a:p>
        </p:txBody>
      </p:sp>
    </p:spTree>
    <p:extLst>
      <p:ext uri="{BB962C8B-B14F-4D97-AF65-F5344CB8AC3E}">
        <p14:creationId xmlns:p14="http://schemas.microsoft.com/office/powerpoint/2010/main" val="3461343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vert="horz" wrap="square" lIns="91430" tIns="45715" rIns="91430" bIns="45715" numCol="1" anchor="t" anchorCtr="0" compatLnSpc="1">
            <a:prstTxWarp prst="textNoShape">
              <a:avLst/>
            </a:prstTxWarp>
          </a:bodyPr>
          <a:lstStyle>
            <a:lvl1pPr>
              <a:defRPr smtClean="0">
                <a:ea typeface="ＭＳ Ｐゴシック" charset="-128"/>
                <a:cs typeface="+mn-cs"/>
              </a:defRPr>
            </a:lvl1pPr>
          </a:lstStyle>
          <a:p>
            <a:pPr>
              <a:defRPr/>
            </a:pPr>
            <a:fld id="{9239B54A-AC7D-426E-8800-9737FEE43918}" type="datetime1">
              <a:rPr lang="en-GB" smtClean="0"/>
              <a:t>08/02/2018</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lIns="91430" tIns="45715" rIns="91430" bIns="45715"/>
          <a:lstStyle>
            <a:lvl1pPr fontAlgn="auto">
              <a:spcBef>
                <a:spcPts val="0"/>
              </a:spcBef>
              <a:spcAft>
                <a:spcPts val="0"/>
              </a:spcAft>
              <a:defRPr>
                <a:latin typeface="+mn-lt"/>
                <a:ea typeface="+mn-ea"/>
                <a:cs typeface="+mn-cs"/>
              </a:defRPr>
            </a:lvl1pPr>
          </a:lstStyle>
          <a:p>
            <a:pPr>
              <a:defRPr/>
            </a:pPr>
            <a:endParaRPr lang="en-US"/>
          </a:p>
        </p:txBody>
      </p:sp>
      <p:sp>
        <p:nvSpPr>
          <p:cNvPr id="4" name="Slide Number Placeholder 3"/>
          <p:cNvSpPr>
            <a:spLocks noGrp="1"/>
          </p:cNvSpPr>
          <p:nvPr>
            <p:ph type="sldNum" sz="quarter" idx="12"/>
          </p:nvPr>
        </p:nvSpPr>
        <p:spPr>
          <a:xfrm>
            <a:off x="6553200" y="6356350"/>
            <a:ext cx="2133600" cy="365125"/>
          </a:xfrm>
        </p:spPr>
        <p:txBody>
          <a:bodyPr/>
          <a:lstStyle>
            <a:lvl1pPr>
              <a:defRPr smtClean="0">
                <a:ea typeface="ＭＳ Ｐゴシック" charset="-128"/>
                <a:cs typeface="+mn-cs"/>
              </a:defRPr>
            </a:lvl1pPr>
          </a:lstStyle>
          <a:p>
            <a:pPr>
              <a:defRPr/>
            </a:pPr>
            <a:fld id="{3FA1391E-90C5-4B3E-8AA2-EAC73E3BE8DE}" type="slidenum">
              <a:rPr lang="en-US" smtClean="0"/>
              <a:pPr>
                <a:defRPr/>
              </a:pPr>
              <a:t>‹#›</a:t>
            </a:fld>
            <a:endParaRPr lang="en-US">
              <a:latin typeface="+mn-lt"/>
              <a:cs typeface="+mn-cs"/>
            </a:endParaRPr>
          </a:p>
        </p:txBody>
      </p:sp>
    </p:spTree>
    <p:extLst>
      <p:ext uri="{BB962C8B-B14F-4D97-AF65-F5344CB8AC3E}">
        <p14:creationId xmlns:p14="http://schemas.microsoft.com/office/powerpoint/2010/main" val="674581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19150" y="2130425"/>
            <a:ext cx="7770813" cy="1468438"/>
          </a:xfrm>
          <a:prstGeom prst="rect">
            <a:avLst/>
          </a:prstGeom>
        </p:spPr>
        <p:txBody>
          <a:bodyPr lIns="91430" tIns="45715" rIns="91430" bIns="45715"/>
          <a:lstStyle/>
          <a:p>
            <a:r>
              <a:rPr lang="en-US" smtClean="0"/>
              <a:t>Click to edit Master title style</a:t>
            </a:r>
            <a:endParaRPr lang="en-GB"/>
          </a:p>
        </p:txBody>
      </p:sp>
    </p:spTree>
    <p:extLst>
      <p:ext uri="{BB962C8B-B14F-4D97-AF65-F5344CB8AC3E}">
        <p14:creationId xmlns:p14="http://schemas.microsoft.com/office/powerpoint/2010/main" val="42038821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6"/>
          <p:cNvSpPr>
            <a:spLocks noChangeArrowheads="1"/>
          </p:cNvSpPr>
          <p:nvPr/>
        </p:nvSpPr>
        <p:spPr bwMode="auto">
          <a:xfrm>
            <a:off x="0" y="0"/>
            <a:ext cx="252413" cy="6858000"/>
          </a:xfrm>
          <a:prstGeom prst="rect">
            <a:avLst/>
          </a:prstGeom>
          <a:solidFill>
            <a:srgbClr val="C60C30"/>
          </a:solidFill>
          <a:ln>
            <a:noFill/>
          </a:ln>
          <a:effectLst>
            <a:outerShdw dist="23000" dir="5400000" rotWithShape="0">
              <a:srgbClr val="808080">
                <a:alpha val="34998"/>
              </a:srgbClr>
            </a:outerShdw>
          </a:effectLst>
          <a:extLst>
            <a:ext uri="{91240B29-F687-4F45-9708-019B960494DF}">
              <a14:hiddenLine xmlns:a14="http://schemas.microsoft.com/office/drawing/2010/main" w="0">
                <a:solidFill>
                  <a:srgbClr val="000000"/>
                </a:solidFill>
                <a:round/>
                <a:headEnd/>
                <a:tailEnd/>
              </a14:hiddenLine>
            </a:ext>
          </a:extLst>
        </p:spPr>
        <p:txBody>
          <a:bodyPr lIns="91430" tIns="45715" rIns="91430" bIns="45715" anchor="ctr"/>
          <a:lstStyle/>
          <a:p>
            <a:pPr algn="ctr"/>
            <a:endParaRPr lang="en-US" altLang="en-US">
              <a:latin typeface="Arial" pitchFamily="34" charset="0"/>
            </a:endParaRPr>
          </a:p>
        </p:txBody>
      </p:sp>
      <p:sp>
        <p:nvSpPr>
          <p:cNvPr id="3" name="Slide Number Placeholder 6"/>
          <p:cNvSpPr>
            <a:spLocks noGrp="1"/>
          </p:cNvSpPr>
          <p:nvPr>
            <p:ph type="sldNum" sz="quarter" idx="4"/>
          </p:nvPr>
        </p:nvSpPr>
        <p:spPr>
          <a:xfrm>
            <a:off x="8388425" y="6381329"/>
            <a:ext cx="647626" cy="432222"/>
          </a:xfrm>
          <a:prstGeom prst="rect">
            <a:avLst/>
          </a:prstGeom>
        </p:spPr>
        <p:txBody>
          <a:bodyPr vert="horz" wrap="square" lIns="91430" tIns="45715" rIns="91430" bIns="45715" numCol="1" anchor="t" anchorCtr="0" compatLnSpc="1">
            <a:prstTxWarp prst="textNoShape">
              <a:avLst/>
            </a:prstTxWarp>
          </a:bodyPr>
          <a:lstStyle>
            <a:lvl1pPr algn="r">
              <a:defRPr sz="1200" b="0" smtClean="0">
                <a:solidFill>
                  <a:schemeClr val="tx1">
                    <a:lumMod val="95000"/>
                    <a:lumOff val="5000"/>
                  </a:schemeClr>
                </a:solidFill>
                <a:ea typeface="ＭＳ Ｐゴシック" charset="-128"/>
                <a:cs typeface="+mn-cs"/>
              </a:defRPr>
            </a:lvl1pPr>
          </a:lstStyle>
          <a:p>
            <a:pPr>
              <a:defRPr/>
            </a:pPr>
            <a:r>
              <a:rPr lang="en-US" smtClean="0"/>
              <a:t>Slide </a:t>
            </a:r>
            <a:fld id="{47C5CFBA-4BC7-4EF8-A0D8-A8DBE24BEC8C}" type="slidenum">
              <a:rPr lang="en-US" smtClean="0"/>
              <a:pPr>
                <a:defRPr/>
              </a:pPr>
              <a:t>‹#›</a:t>
            </a:fld>
            <a:fld id="{D6C3435F-9AD8-451E-9536-322A521F7C44}" type="slidenum">
              <a:rPr lang="en-US" smtClean="0"/>
              <a:pPr>
                <a:defRPr/>
              </a:pPr>
              <a:t>‹#›</a:t>
            </a:fld>
            <a:endParaRPr lang="en-US"/>
          </a:p>
        </p:txBody>
      </p:sp>
      <p:pic>
        <p:nvPicPr>
          <p:cNvPr id="1028" name="Picture 1"/>
          <p:cNvPicPr>
            <a:picLocks noChangeAspect="1" noChangeArrowheads="1"/>
          </p:cNvPicPr>
          <p:nvPr/>
        </p:nvPicPr>
        <p:blipFill>
          <a:blip r:embed="rId5">
            <a:extLst>
              <a:ext uri="{28A0092B-C50C-407E-A947-70E740481C1C}">
                <a14:useLocalDpi xmlns:a14="http://schemas.microsoft.com/office/drawing/2010/main" val="0"/>
              </a:ext>
            </a:extLst>
          </a:blip>
          <a:srcRect l="6691" t="7529"/>
          <a:stretch>
            <a:fillRect/>
          </a:stretch>
        </p:blipFill>
        <p:spPr bwMode="auto">
          <a:xfrm>
            <a:off x="279400" y="0"/>
            <a:ext cx="1881188"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Lst>
  <p:hf hdr="0" ftr="0" dt="0"/>
  <p:txStyles>
    <p:title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p:titleStyle>
    <p:body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53" rtl="0" eaLnBrk="1" latinLnBrk="0" hangingPunct="1">
        <a:defRPr sz="1800" kern="1200">
          <a:solidFill>
            <a:schemeClr val="tx1"/>
          </a:solidFill>
          <a:latin typeface="+mn-lt"/>
          <a:ea typeface="+mn-ea"/>
          <a:cs typeface="+mn-cs"/>
        </a:defRPr>
      </a:lvl1pPr>
      <a:lvl2pPr marL="457153" algn="l" defTabSz="457153" rtl="0" eaLnBrk="1" latinLnBrk="0" hangingPunct="1">
        <a:defRPr sz="1800" kern="1200">
          <a:solidFill>
            <a:schemeClr val="tx1"/>
          </a:solidFill>
          <a:latin typeface="+mn-lt"/>
          <a:ea typeface="+mn-ea"/>
          <a:cs typeface="+mn-cs"/>
        </a:defRPr>
      </a:lvl2pPr>
      <a:lvl3pPr marL="914305" algn="l" defTabSz="457153" rtl="0" eaLnBrk="1" latinLnBrk="0" hangingPunct="1">
        <a:defRPr sz="1800" kern="1200">
          <a:solidFill>
            <a:schemeClr val="tx1"/>
          </a:solidFill>
          <a:latin typeface="+mn-lt"/>
          <a:ea typeface="+mn-ea"/>
          <a:cs typeface="+mn-cs"/>
        </a:defRPr>
      </a:lvl3pPr>
      <a:lvl4pPr marL="1371458" algn="l" defTabSz="457153" rtl="0" eaLnBrk="1" latinLnBrk="0" hangingPunct="1">
        <a:defRPr sz="1800" kern="1200">
          <a:solidFill>
            <a:schemeClr val="tx1"/>
          </a:solidFill>
          <a:latin typeface="+mn-lt"/>
          <a:ea typeface="+mn-ea"/>
          <a:cs typeface="+mn-cs"/>
        </a:defRPr>
      </a:lvl4pPr>
      <a:lvl5pPr marL="1828610" algn="l" defTabSz="457153" rtl="0" eaLnBrk="1" latinLnBrk="0" hangingPunct="1">
        <a:defRPr sz="1800" kern="1200">
          <a:solidFill>
            <a:schemeClr val="tx1"/>
          </a:solidFill>
          <a:latin typeface="+mn-lt"/>
          <a:ea typeface="+mn-ea"/>
          <a:cs typeface="+mn-cs"/>
        </a:defRPr>
      </a:lvl5pPr>
      <a:lvl6pPr marL="2285763" algn="l" defTabSz="457153" rtl="0" eaLnBrk="1" latinLnBrk="0" hangingPunct="1">
        <a:defRPr sz="1800" kern="1200">
          <a:solidFill>
            <a:schemeClr val="tx1"/>
          </a:solidFill>
          <a:latin typeface="+mn-lt"/>
          <a:ea typeface="+mn-ea"/>
          <a:cs typeface="+mn-cs"/>
        </a:defRPr>
      </a:lvl6pPr>
      <a:lvl7pPr marL="2742915" algn="l" defTabSz="457153" rtl="0" eaLnBrk="1" latinLnBrk="0" hangingPunct="1">
        <a:defRPr sz="1800" kern="1200">
          <a:solidFill>
            <a:schemeClr val="tx1"/>
          </a:solidFill>
          <a:latin typeface="+mn-lt"/>
          <a:ea typeface="+mn-ea"/>
          <a:cs typeface="+mn-cs"/>
        </a:defRPr>
      </a:lvl7pPr>
      <a:lvl8pPr marL="3200068" algn="l" defTabSz="457153" rtl="0" eaLnBrk="1" latinLnBrk="0" hangingPunct="1">
        <a:defRPr sz="1800" kern="1200">
          <a:solidFill>
            <a:schemeClr val="tx1"/>
          </a:solidFill>
          <a:latin typeface="+mn-lt"/>
          <a:ea typeface="+mn-ea"/>
          <a:cs typeface="+mn-cs"/>
        </a:defRPr>
      </a:lvl8pPr>
      <a:lvl9pPr marL="3657220" algn="l" defTabSz="45715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txBox="1">
            <a:spLocks noChangeArrowheads="1"/>
          </p:cNvSpPr>
          <p:nvPr/>
        </p:nvSpPr>
        <p:spPr bwMode="auto">
          <a:xfrm>
            <a:off x="1835696" y="2636912"/>
            <a:ext cx="6192688" cy="144016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pPr>
              <a:buClr>
                <a:srgbClr val="E5FFFF"/>
              </a:buClr>
              <a:buFont typeface="ArialMT"/>
              <a:buNone/>
            </a:pPr>
            <a:r>
              <a:rPr lang="en-US" altLang="en-US" b="1" dirty="0" smtClean="0">
                <a:latin typeface="Arial" pitchFamily="34" charset="0"/>
                <a:ea typeface="ＭＳ Ｐゴシック" pitchFamily="34" charset="-128"/>
                <a:cs typeface="Arial" pitchFamily="34" charset="0"/>
                <a:sym typeface="Arial" pitchFamily="34" charset="0"/>
              </a:rPr>
              <a:t>Introduction to AJAX</a:t>
            </a:r>
            <a:endParaRPr lang="en-US" altLang="en-US" b="1" dirty="0" smtClean="0">
              <a:latin typeface="Arial Bold" pitchFamily="34" charset="0"/>
              <a:ea typeface="ＭＳ Ｐゴシック" pitchFamily="34" charset="-128"/>
              <a:cs typeface="Arial Bold" pitchFamily="34" charset="0"/>
            </a:endParaRPr>
          </a:p>
        </p:txBody>
      </p:sp>
      <p:sp>
        <p:nvSpPr>
          <p:cNvPr id="3" name="Slide Number Placeholder 2"/>
          <p:cNvSpPr>
            <a:spLocks noGrp="1"/>
          </p:cNvSpPr>
          <p:nvPr>
            <p:ph type="sldNum" sz="quarter" idx="12"/>
          </p:nvPr>
        </p:nvSpPr>
        <p:spPr/>
        <p:txBody>
          <a:bodyPr/>
          <a:lstStyle/>
          <a:p>
            <a:pPr>
              <a:defRPr/>
            </a:pPr>
            <a:fld id="{3FA1391E-90C5-4B3E-8AA2-EAC73E3BE8DE}" type="slidenum">
              <a:rPr lang="en-US" smtClean="0"/>
              <a:pPr>
                <a:defRPr/>
              </a:pPr>
              <a:t>180</a:t>
            </a:fld>
            <a:endParaRPr lang="en-US" dirty="0">
              <a:latin typeface="+mn-lt"/>
              <a:cs typeface="+mn-cs"/>
            </a:endParaRPr>
          </a:p>
        </p:txBody>
      </p:sp>
    </p:spTree>
    <p:extLst>
      <p:ext uri="{BB962C8B-B14F-4D97-AF65-F5344CB8AC3E}">
        <p14:creationId xmlns:p14="http://schemas.microsoft.com/office/powerpoint/2010/main" val="3907726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idx="1"/>
          </p:nvPr>
        </p:nvSpPr>
        <p:spPr>
          <a:xfrm>
            <a:off x="611188" y="1125538"/>
            <a:ext cx="8281291" cy="5572125"/>
          </a:xfrm>
        </p:spPr>
        <p:txBody>
          <a:bodyPr/>
          <a:lstStyle/>
          <a:p>
            <a:pPr algn="just" eaLnBrk="1" hangingPunct="1">
              <a:spcBef>
                <a:spcPts val="400"/>
              </a:spcBef>
              <a:buClr>
                <a:schemeClr val="accent1"/>
              </a:buClr>
              <a:defRPr/>
            </a:pPr>
            <a:r>
              <a:rPr lang="en-US" sz="2000" dirty="0" smtClean="0">
                <a:latin typeface="Arial" charset="0"/>
                <a:cs typeface="Arial" charset="0"/>
                <a:sym typeface="Arial" charset="0"/>
              </a:rPr>
              <a:t>The request and response model for HTTP that we have used so far building PHP web applications is fairly primitive. </a:t>
            </a:r>
          </a:p>
          <a:p>
            <a:pPr algn="just" eaLnBrk="1" hangingPunct="1">
              <a:spcBef>
                <a:spcPts val="400"/>
              </a:spcBef>
              <a:buClr>
                <a:schemeClr val="accent1"/>
              </a:buClr>
              <a:defRPr/>
            </a:pPr>
            <a:endParaRPr lang="en-US" sz="2000" dirty="0" smtClean="0">
              <a:latin typeface="Arial" charset="0"/>
              <a:cs typeface="Arial" charset="0"/>
              <a:sym typeface="Arial" charset="0"/>
            </a:endParaRPr>
          </a:p>
          <a:p>
            <a:pPr algn="just" eaLnBrk="1" hangingPunct="1">
              <a:spcBef>
                <a:spcPts val="400"/>
              </a:spcBef>
              <a:buClr>
                <a:schemeClr val="accent1"/>
              </a:buClr>
              <a:defRPr/>
            </a:pPr>
            <a:r>
              <a:rPr lang="en-US" sz="2000" dirty="0" smtClean="0">
                <a:solidFill>
                  <a:srgbClr val="0070C0"/>
                </a:solidFill>
                <a:latin typeface="Arial" charset="0"/>
                <a:cs typeface="Arial" charset="0"/>
                <a:sym typeface="Arial" charset="0"/>
              </a:rPr>
              <a:t>Each time a UI component is changed (e.g. typing a value into a textbox) the user has to submit the page or form back to the server for processing and wait for the whole page to be rendered back to their client machine.</a:t>
            </a:r>
          </a:p>
          <a:p>
            <a:pPr algn="just" eaLnBrk="1" hangingPunct="1">
              <a:spcBef>
                <a:spcPts val="400"/>
              </a:spcBef>
              <a:buClr>
                <a:schemeClr val="accent1"/>
              </a:buClr>
              <a:defRPr/>
            </a:pPr>
            <a:endParaRPr lang="en-US" sz="2000" dirty="0" smtClean="0">
              <a:latin typeface="Arial" charset="0"/>
              <a:cs typeface="Arial" charset="0"/>
              <a:sym typeface="Arial" charset="0"/>
            </a:endParaRPr>
          </a:p>
          <a:p>
            <a:pPr algn="just" eaLnBrk="1" hangingPunct="1">
              <a:spcBef>
                <a:spcPts val="400"/>
              </a:spcBef>
              <a:buClr>
                <a:schemeClr val="accent1"/>
              </a:buClr>
              <a:defRPr/>
            </a:pPr>
            <a:r>
              <a:rPr lang="en-US" sz="2000" dirty="0" smtClean="0">
                <a:latin typeface="Arial" charset="0"/>
                <a:cs typeface="Arial" charset="0"/>
                <a:sym typeface="Arial" charset="0"/>
              </a:rPr>
              <a:t>In most cases this requires unnecessary data and processing e.g. the header and menu structure is requested and rendered but probably hasn’t changed since the last page request so this is wasteful.</a:t>
            </a:r>
          </a:p>
          <a:p>
            <a:pPr algn="just" eaLnBrk="1" hangingPunct="1">
              <a:spcBef>
                <a:spcPts val="400"/>
              </a:spcBef>
              <a:buClr>
                <a:schemeClr val="accent1"/>
              </a:buClr>
              <a:defRPr/>
            </a:pPr>
            <a:endParaRPr lang="en-US" sz="2000" dirty="0">
              <a:latin typeface="Arial" charset="0"/>
              <a:cs typeface="Arial" charset="0"/>
              <a:sym typeface="Arial" charset="0"/>
            </a:endParaRPr>
          </a:p>
          <a:p>
            <a:pPr algn="just" eaLnBrk="1" hangingPunct="1">
              <a:spcBef>
                <a:spcPts val="400"/>
              </a:spcBef>
              <a:buClr>
                <a:schemeClr val="accent1"/>
              </a:buClr>
              <a:defRPr/>
            </a:pPr>
            <a:r>
              <a:rPr lang="en-US" sz="2000" dirty="0" smtClean="0">
                <a:solidFill>
                  <a:srgbClr val="0070C0"/>
                </a:solidFill>
                <a:latin typeface="Arial" charset="0"/>
                <a:cs typeface="Arial" charset="0"/>
                <a:sym typeface="Arial" charset="0"/>
              </a:rPr>
              <a:t>The diagram on the next slide demonstrates the life cycle of subsequent page requests in a simple design showing that full page contents are refreshed for each request.</a:t>
            </a:r>
          </a:p>
        </p:txBody>
      </p:sp>
      <p:sp>
        <p:nvSpPr>
          <p:cNvPr id="2" name="Title 1"/>
          <p:cNvSpPr>
            <a:spLocks noGrp="1"/>
          </p:cNvSpPr>
          <p:nvPr>
            <p:ph type="title"/>
          </p:nvPr>
        </p:nvSpPr>
        <p:spPr/>
        <p:txBody>
          <a:bodyPr/>
          <a:lstStyle/>
          <a:p>
            <a:r>
              <a:rPr lang="en-US" altLang="en-US" b="1" dirty="0">
                <a:latin typeface="Arial" pitchFamily="34" charset="0"/>
                <a:ea typeface="ＭＳ Ｐゴシック" pitchFamily="34" charset="-128"/>
                <a:cs typeface="Arial" pitchFamily="34" charset="0"/>
                <a:sym typeface="Arial" pitchFamily="34" charset="0"/>
              </a:rPr>
              <a:t>Introduction to </a:t>
            </a:r>
            <a:r>
              <a:rPr lang="en-US" altLang="en-US" b="1" dirty="0" smtClean="0">
                <a:latin typeface="Arial" pitchFamily="34" charset="0"/>
                <a:ea typeface="ＭＳ Ｐゴシック" pitchFamily="34" charset="-128"/>
                <a:cs typeface="Arial" pitchFamily="34" charset="0"/>
                <a:sym typeface="Arial" pitchFamily="34" charset="0"/>
              </a:rPr>
              <a:t>AJAX</a:t>
            </a:r>
            <a:endParaRPr lang="en-GB" dirty="0"/>
          </a:p>
        </p:txBody>
      </p:sp>
      <p:sp>
        <p:nvSpPr>
          <p:cNvPr id="3" name="Slide Number Placeholder 2"/>
          <p:cNvSpPr>
            <a:spLocks noGrp="1"/>
          </p:cNvSpPr>
          <p:nvPr>
            <p:ph type="sldNum" sz="quarter" idx="10"/>
          </p:nvPr>
        </p:nvSpPr>
        <p:spPr>
          <a:xfrm>
            <a:off x="8100392" y="6417425"/>
            <a:ext cx="647626" cy="432222"/>
          </a:xfrm>
        </p:spPr>
        <p:txBody>
          <a:bodyPr/>
          <a:lstStyle/>
          <a:p>
            <a:pPr>
              <a:defRPr/>
            </a:pPr>
            <a:fld id="{D54FB89F-398B-44C6-B844-399D9F038FBB}" type="slidenum">
              <a:rPr lang="en-US" smtClean="0"/>
              <a:pPr>
                <a:defRPr/>
              </a:pPr>
              <a:t>181</a:t>
            </a:fld>
            <a:endParaRPr lang="en-US" dirty="0">
              <a:latin typeface="+mn-lt"/>
              <a:cs typeface="+mn-cs"/>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websiteoptimization.com/secrets/ajax/8-1-ajax-pattern.png"/>
          <p:cNvPicPr>
            <a:picLocks noChangeAspect="1" noChangeArrowheads="1"/>
          </p:cNvPicPr>
          <p:nvPr/>
        </p:nvPicPr>
        <p:blipFill rotWithShape="1">
          <a:blip r:embed="rId2">
            <a:extLst>
              <a:ext uri="{28A0092B-C50C-407E-A947-70E740481C1C}">
                <a14:useLocalDpi xmlns:a14="http://schemas.microsoft.com/office/drawing/2010/main" val="0"/>
              </a:ext>
            </a:extLst>
          </a:blip>
          <a:srcRect t="-5" b="53422"/>
          <a:stretch/>
        </p:blipFill>
        <p:spPr bwMode="auto">
          <a:xfrm>
            <a:off x="1115616" y="1285983"/>
            <a:ext cx="7223762" cy="475252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95536" y="6525344"/>
            <a:ext cx="4572000" cy="253916"/>
          </a:xfrm>
          <a:prstGeom prst="rect">
            <a:avLst/>
          </a:prstGeom>
        </p:spPr>
        <p:txBody>
          <a:bodyPr>
            <a:spAutoFit/>
          </a:bodyPr>
          <a:lstStyle/>
          <a:p>
            <a:r>
              <a:rPr lang="en-GB" sz="1000" b="0" dirty="0">
                <a:solidFill>
                  <a:schemeClr val="tx1">
                    <a:lumMod val="95000"/>
                    <a:lumOff val="5000"/>
                  </a:schemeClr>
                </a:solidFill>
              </a:rPr>
              <a:t>http://www.websiteoptimization.com/secrets/ajax/8-1-ajax-pattern.png</a:t>
            </a:r>
          </a:p>
        </p:txBody>
      </p:sp>
      <p:sp>
        <p:nvSpPr>
          <p:cNvPr id="4" name="Title 1"/>
          <p:cNvSpPr txBox="1">
            <a:spLocks/>
          </p:cNvSpPr>
          <p:nvPr/>
        </p:nvSpPr>
        <p:spPr>
          <a:xfrm>
            <a:off x="2129556" y="116632"/>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Full page refresh method</a:t>
            </a:r>
            <a:endParaRPr lang="en-GB" sz="3600" b="0" dirty="0"/>
          </a:p>
        </p:txBody>
      </p:sp>
      <p:sp>
        <p:nvSpPr>
          <p:cNvPr id="3" name="Slide Number Placeholder 2"/>
          <p:cNvSpPr>
            <a:spLocks noGrp="1"/>
          </p:cNvSpPr>
          <p:nvPr>
            <p:ph type="sldNum" sz="quarter" idx="12"/>
          </p:nvPr>
        </p:nvSpPr>
        <p:spPr/>
        <p:txBody>
          <a:bodyPr/>
          <a:lstStyle/>
          <a:p>
            <a:pPr>
              <a:defRPr/>
            </a:pPr>
            <a:fld id="{3FA1391E-90C5-4B3E-8AA2-EAC73E3BE8DE}" type="slidenum">
              <a:rPr lang="en-US" smtClean="0"/>
              <a:pPr>
                <a:defRPr/>
              </a:pPr>
              <a:t>182</a:t>
            </a:fld>
            <a:endParaRPr lang="en-US">
              <a:latin typeface="+mn-lt"/>
              <a:cs typeface="+mn-cs"/>
            </a:endParaRPr>
          </a:p>
        </p:txBody>
      </p:sp>
    </p:spTree>
    <p:extLst>
      <p:ext uri="{BB962C8B-B14F-4D97-AF65-F5344CB8AC3E}">
        <p14:creationId xmlns:p14="http://schemas.microsoft.com/office/powerpoint/2010/main" val="772558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29801" y="3244334"/>
            <a:ext cx="2484398" cy="369332"/>
          </a:xfrm>
          <a:prstGeom prst="rect">
            <a:avLst/>
          </a:prstGeom>
        </p:spPr>
        <p:txBody>
          <a:bodyPr wrap="none">
            <a:spAutoFit/>
          </a:bodyPr>
          <a:lstStyle/>
          <a:p>
            <a:r>
              <a:rPr lang="en-US" altLang="en-US" dirty="0">
                <a:latin typeface="Arial" pitchFamily="34" charset="0"/>
                <a:cs typeface="Arial" pitchFamily="34" charset="0"/>
                <a:sym typeface="Arial" pitchFamily="34" charset="0"/>
              </a:rPr>
              <a:t>Introduction to AJAX</a:t>
            </a:r>
            <a:endParaRPr lang="en-GB" dirty="0"/>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AJAX method</a:t>
            </a:r>
            <a:endParaRPr lang="en-GB" sz="3600" b="0" dirty="0"/>
          </a:p>
        </p:txBody>
      </p:sp>
      <p:sp>
        <p:nvSpPr>
          <p:cNvPr id="4" name="Rectangle 2"/>
          <p:cNvSpPr txBox="1">
            <a:spLocks noChangeArrowheads="1"/>
          </p:cNvSpPr>
          <p:nvPr/>
        </p:nvSpPr>
        <p:spPr>
          <a:xfrm>
            <a:off x="467544" y="980728"/>
            <a:ext cx="8425631" cy="5716935"/>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lgn="just">
              <a:spcBef>
                <a:spcPts val="400"/>
              </a:spcBef>
              <a:buClr>
                <a:schemeClr val="accent1"/>
              </a:buClr>
              <a:buFont typeface="Arial" panose="020B0604020202020204" pitchFamily="34" charset="0"/>
              <a:buChar char="•"/>
              <a:defRPr/>
            </a:pPr>
            <a:r>
              <a:rPr lang="en-US" sz="2000" b="0" dirty="0" smtClean="0">
                <a:latin typeface="Arial" charset="0"/>
                <a:cs typeface="Arial" charset="0"/>
                <a:sym typeface="Arial" charset="0"/>
              </a:rPr>
              <a:t>AJAX stands for Asynchronous JavaScript and XML and is the general idea that data is delivered to a web page when it is requested by an event in that page (UI event, timer event etc.) without disrupting the user experience with whole page refreshes.</a:t>
            </a:r>
          </a:p>
          <a:p>
            <a:pPr marL="342900" indent="-342900" algn="just">
              <a:spcBef>
                <a:spcPts val="400"/>
              </a:spcBef>
              <a:buClr>
                <a:schemeClr val="accent1"/>
              </a:buClr>
              <a:buFont typeface="Arial" panose="020B0604020202020204" pitchFamily="34" charset="0"/>
              <a:buChar char="•"/>
              <a:defRPr/>
            </a:pPr>
            <a:endParaRPr lang="en-US" sz="1050" b="0" dirty="0" smtClean="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r>
              <a:rPr lang="en-US" sz="2000" b="0" dirty="0" smtClean="0">
                <a:solidFill>
                  <a:srgbClr val="0070C0"/>
                </a:solidFill>
                <a:latin typeface="Arial" charset="0"/>
                <a:cs typeface="Arial" charset="0"/>
                <a:sym typeface="Arial" charset="0"/>
              </a:rPr>
              <a:t>The specific technologies involved in implementing an AJAX approach differ and in fact have changed over the years. For example the X meaning XML data format has been replaced by other ways of representing data e.g. JSON (we’ll come to that later). Technologies used include:</a:t>
            </a:r>
          </a:p>
          <a:p>
            <a:pPr marL="685800" lvl="1" indent="-285750" algn="just">
              <a:spcBef>
                <a:spcPts val="400"/>
              </a:spcBef>
              <a:buClr>
                <a:schemeClr val="accent1"/>
              </a:buClr>
              <a:defRPr/>
            </a:pPr>
            <a:r>
              <a:rPr lang="en-GB" sz="1600" b="0" i="1" dirty="0" smtClean="0">
                <a:latin typeface="Arial" charset="0"/>
                <a:cs typeface="Arial" charset="0"/>
                <a:sym typeface="Arial" charset="0"/>
              </a:rPr>
              <a:t>HTML </a:t>
            </a:r>
            <a:r>
              <a:rPr lang="en-GB" sz="1600" b="0" i="1" dirty="0">
                <a:latin typeface="Arial" charset="0"/>
                <a:cs typeface="Arial" charset="0"/>
                <a:sym typeface="Arial" charset="0"/>
              </a:rPr>
              <a:t>and CSS for presentation</a:t>
            </a:r>
          </a:p>
          <a:p>
            <a:pPr marL="685800" lvl="1" indent="-285750" algn="just">
              <a:spcBef>
                <a:spcPts val="400"/>
              </a:spcBef>
              <a:buClr>
                <a:schemeClr val="accent1"/>
              </a:buClr>
              <a:defRPr/>
            </a:pPr>
            <a:r>
              <a:rPr lang="en-GB" sz="1600" b="0" i="1" dirty="0">
                <a:latin typeface="Arial" charset="0"/>
                <a:cs typeface="Arial" charset="0"/>
                <a:sym typeface="Arial" charset="0"/>
              </a:rPr>
              <a:t>The Document Object Model (DOM) for dynamic </a:t>
            </a:r>
            <a:r>
              <a:rPr lang="en-GB" sz="1600" b="0" i="1" dirty="0" smtClean="0">
                <a:latin typeface="Arial" charset="0"/>
                <a:cs typeface="Arial" charset="0"/>
                <a:sym typeface="Arial" charset="0"/>
              </a:rPr>
              <a:t>display &amp; interaction </a:t>
            </a:r>
            <a:r>
              <a:rPr lang="en-GB" sz="1600" b="0" i="1" dirty="0">
                <a:latin typeface="Arial" charset="0"/>
                <a:cs typeface="Arial" charset="0"/>
                <a:sym typeface="Arial" charset="0"/>
              </a:rPr>
              <a:t>with data</a:t>
            </a:r>
          </a:p>
          <a:p>
            <a:pPr marL="685800" lvl="1" indent="-285750" algn="just">
              <a:spcBef>
                <a:spcPts val="400"/>
              </a:spcBef>
              <a:buClr>
                <a:schemeClr val="accent1"/>
              </a:buClr>
              <a:defRPr/>
            </a:pPr>
            <a:r>
              <a:rPr lang="en-GB" sz="1600" b="0" i="1" dirty="0">
                <a:latin typeface="Arial" charset="0"/>
                <a:cs typeface="Arial" charset="0"/>
                <a:sym typeface="Arial" charset="0"/>
              </a:rPr>
              <a:t>JSON or XML for the interchange of </a:t>
            </a:r>
            <a:r>
              <a:rPr lang="en-GB" sz="1600" b="0" i="1" dirty="0" smtClean="0">
                <a:latin typeface="Arial" charset="0"/>
                <a:cs typeface="Arial" charset="0"/>
                <a:sym typeface="Arial" charset="0"/>
              </a:rPr>
              <a:t>data from server to client</a:t>
            </a:r>
          </a:p>
          <a:p>
            <a:pPr marL="685800" lvl="1" indent="-285750" algn="just">
              <a:spcBef>
                <a:spcPts val="400"/>
              </a:spcBef>
              <a:buClr>
                <a:schemeClr val="accent1"/>
              </a:buClr>
              <a:defRPr/>
            </a:pPr>
            <a:r>
              <a:rPr lang="en-GB" sz="1600" b="0" i="1" dirty="0" smtClean="0">
                <a:latin typeface="Arial" charset="0"/>
                <a:cs typeface="Arial" charset="0"/>
                <a:sym typeface="Arial" charset="0"/>
              </a:rPr>
              <a:t>The </a:t>
            </a:r>
            <a:r>
              <a:rPr lang="en-GB" sz="1600" b="0" i="1" dirty="0" err="1">
                <a:latin typeface="Arial" charset="0"/>
                <a:cs typeface="Arial" charset="0"/>
                <a:sym typeface="Arial" charset="0"/>
              </a:rPr>
              <a:t>XMLHttpRequest</a:t>
            </a:r>
            <a:r>
              <a:rPr lang="en-GB" sz="1600" b="0" i="1" dirty="0">
                <a:latin typeface="Arial" charset="0"/>
                <a:cs typeface="Arial" charset="0"/>
                <a:sym typeface="Arial" charset="0"/>
              </a:rPr>
              <a:t> object for asynchronous communication</a:t>
            </a:r>
          </a:p>
          <a:p>
            <a:pPr marL="685800" lvl="1" indent="-285750" algn="just">
              <a:spcBef>
                <a:spcPts val="400"/>
              </a:spcBef>
              <a:buClr>
                <a:schemeClr val="accent1"/>
              </a:buClr>
              <a:defRPr/>
            </a:pPr>
            <a:r>
              <a:rPr lang="en-GB" sz="1600" b="0" i="1" dirty="0">
                <a:latin typeface="Arial" charset="0"/>
                <a:cs typeface="Arial" charset="0"/>
                <a:sym typeface="Arial" charset="0"/>
              </a:rPr>
              <a:t>JavaScript to bring these technologies together</a:t>
            </a:r>
            <a:endParaRPr lang="en-US" sz="1600" b="0" i="1"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US" sz="7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r>
              <a:rPr lang="en-US" sz="2000" b="0" dirty="0">
                <a:latin typeface="Arial" charset="0"/>
                <a:cs typeface="Arial" charset="0"/>
                <a:sym typeface="Arial" charset="0"/>
              </a:rPr>
              <a:t>The diagram on the next slide demonstrates the life cycle of </a:t>
            </a:r>
            <a:r>
              <a:rPr lang="en-US" sz="2000" b="0" dirty="0" smtClean="0">
                <a:latin typeface="Arial" charset="0"/>
                <a:cs typeface="Arial" charset="0"/>
                <a:sym typeface="Arial" charset="0"/>
              </a:rPr>
              <a:t>data requests </a:t>
            </a:r>
            <a:r>
              <a:rPr lang="en-US" sz="2000" b="0" dirty="0">
                <a:latin typeface="Arial" charset="0"/>
                <a:cs typeface="Arial" charset="0"/>
                <a:sym typeface="Arial" charset="0"/>
              </a:rPr>
              <a:t>in </a:t>
            </a:r>
            <a:r>
              <a:rPr lang="en-US" sz="2000" b="0" dirty="0" smtClean="0">
                <a:latin typeface="Arial" charset="0"/>
                <a:cs typeface="Arial" charset="0"/>
                <a:sym typeface="Arial" charset="0"/>
              </a:rPr>
              <a:t>an AJAX style application design </a:t>
            </a:r>
            <a:r>
              <a:rPr lang="en-US" sz="2000" b="0" dirty="0">
                <a:latin typeface="Arial" charset="0"/>
                <a:cs typeface="Arial" charset="0"/>
                <a:sym typeface="Arial" charset="0"/>
              </a:rPr>
              <a:t>showing that </a:t>
            </a:r>
            <a:r>
              <a:rPr lang="en-US" sz="2000" b="0" dirty="0" smtClean="0">
                <a:latin typeface="Arial" charset="0"/>
                <a:cs typeface="Arial" charset="0"/>
                <a:sym typeface="Arial" charset="0"/>
              </a:rPr>
              <a:t>only partial page </a:t>
            </a:r>
            <a:r>
              <a:rPr lang="en-US" sz="2000" b="0" dirty="0">
                <a:latin typeface="Arial" charset="0"/>
                <a:cs typeface="Arial" charset="0"/>
                <a:sym typeface="Arial" charset="0"/>
              </a:rPr>
              <a:t>contents are </a:t>
            </a:r>
            <a:r>
              <a:rPr lang="en-US" sz="2000" b="0" dirty="0" smtClean="0">
                <a:latin typeface="Arial" charset="0"/>
                <a:cs typeface="Arial" charset="0"/>
                <a:sym typeface="Arial" charset="0"/>
              </a:rPr>
              <a:t>fetched or refreshed </a:t>
            </a:r>
            <a:r>
              <a:rPr lang="en-US" sz="2000" b="0" dirty="0">
                <a:latin typeface="Arial" charset="0"/>
                <a:cs typeface="Arial" charset="0"/>
                <a:sym typeface="Arial" charset="0"/>
              </a:rPr>
              <a:t>for each </a:t>
            </a:r>
            <a:r>
              <a:rPr lang="en-US" sz="2000" b="0" dirty="0" smtClean="0">
                <a:latin typeface="Arial" charset="0"/>
                <a:cs typeface="Arial" charset="0"/>
                <a:sym typeface="Arial" charset="0"/>
              </a:rPr>
              <a:t>request event.</a:t>
            </a:r>
            <a:endParaRPr lang="en-US" sz="20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US" sz="2000" b="0" dirty="0" smtClean="0">
              <a:latin typeface="Arial" charset="0"/>
              <a:cs typeface="Arial" charset="0"/>
              <a:sym typeface="Arial" charset="0"/>
            </a:endParaRPr>
          </a:p>
        </p:txBody>
      </p:sp>
      <p:sp>
        <p:nvSpPr>
          <p:cNvPr id="5" name="Slide Number Placeholder 4"/>
          <p:cNvSpPr>
            <a:spLocks noGrp="1"/>
          </p:cNvSpPr>
          <p:nvPr>
            <p:ph type="sldNum" sz="quarter" idx="12"/>
          </p:nvPr>
        </p:nvSpPr>
        <p:spPr/>
        <p:txBody>
          <a:bodyPr/>
          <a:lstStyle/>
          <a:p>
            <a:pPr>
              <a:defRPr/>
            </a:pPr>
            <a:fld id="{3FA1391E-90C5-4B3E-8AA2-EAC73E3BE8DE}" type="slidenum">
              <a:rPr lang="en-US" smtClean="0"/>
              <a:pPr>
                <a:defRPr/>
              </a:pPr>
              <a:t>183</a:t>
            </a:fld>
            <a:endParaRPr lang="en-US">
              <a:latin typeface="+mn-lt"/>
              <a:cs typeface="+mn-cs"/>
            </a:endParaRPr>
          </a:p>
        </p:txBody>
      </p:sp>
    </p:spTree>
    <p:extLst>
      <p:ext uri="{BB962C8B-B14F-4D97-AF65-F5344CB8AC3E}">
        <p14:creationId xmlns:p14="http://schemas.microsoft.com/office/powerpoint/2010/main" val="4224905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6525344"/>
            <a:ext cx="4572000" cy="253916"/>
          </a:xfrm>
          <a:prstGeom prst="rect">
            <a:avLst/>
          </a:prstGeom>
        </p:spPr>
        <p:txBody>
          <a:bodyPr>
            <a:spAutoFit/>
          </a:bodyPr>
          <a:lstStyle/>
          <a:p>
            <a:r>
              <a:rPr lang="en-GB" sz="1000" b="0" dirty="0">
                <a:solidFill>
                  <a:schemeClr val="tx1">
                    <a:lumMod val="95000"/>
                    <a:lumOff val="5000"/>
                  </a:schemeClr>
                </a:solidFill>
              </a:rPr>
              <a:t>http://www.websiteoptimization.com/secrets/ajax/8-1-ajax-pattern.png</a:t>
            </a:r>
          </a:p>
        </p:txBody>
      </p:sp>
      <p:sp>
        <p:nvSpPr>
          <p:cNvPr id="4" name="Title 1"/>
          <p:cNvSpPr txBox="1">
            <a:spLocks/>
          </p:cNvSpPr>
          <p:nvPr/>
        </p:nvSpPr>
        <p:spPr>
          <a:xfrm>
            <a:off x="2129556" y="116632"/>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err="1" smtClean="0">
                <a:latin typeface="Arial" pitchFamily="34" charset="0"/>
                <a:ea typeface="ＭＳ Ｐゴシック" pitchFamily="34" charset="-128"/>
                <a:cs typeface="Arial" pitchFamily="34" charset="0"/>
                <a:sym typeface="Arial" pitchFamily="34" charset="0"/>
              </a:rPr>
              <a:t>Async</a:t>
            </a:r>
            <a:r>
              <a:rPr lang="en-US" altLang="en-US" sz="3600" b="1" dirty="0" smtClean="0">
                <a:latin typeface="Arial" pitchFamily="34" charset="0"/>
                <a:ea typeface="ＭＳ Ｐゴシック" pitchFamily="34" charset="-128"/>
                <a:cs typeface="Arial" pitchFamily="34" charset="0"/>
                <a:sym typeface="Arial" pitchFamily="34" charset="0"/>
              </a:rPr>
              <a:t> page refresh method</a:t>
            </a:r>
            <a:endParaRPr lang="en-GB" sz="3600" b="0" dirty="0"/>
          </a:p>
        </p:txBody>
      </p:sp>
      <p:pic>
        <p:nvPicPr>
          <p:cNvPr id="2050" name="Picture 2" descr="http://www.websiteoptimization.com/secrets/ajax/8-1-ajax-pattern.png"/>
          <p:cNvPicPr>
            <a:picLocks noChangeAspect="1" noChangeArrowheads="1"/>
          </p:cNvPicPr>
          <p:nvPr/>
        </p:nvPicPr>
        <p:blipFill rotWithShape="1">
          <a:blip r:embed="rId2">
            <a:extLst>
              <a:ext uri="{28A0092B-C50C-407E-A947-70E740481C1C}">
                <a14:useLocalDpi xmlns:a14="http://schemas.microsoft.com/office/drawing/2010/main" val="0"/>
              </a:ext>
            </a:extLst>
          </a:blip>
          <a:srcRect t="50000"/>
          <a:stretch/>
        </p:blipFill>
        <p:spPr bwMode="auto">
          <a:xfrm>
            <a:off x="1403648" y="1268760"/>
            <a:ext cx="6832132" cy="482453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pPr>
              <a:defRPr/>
            </a:pPr>
            <a:fld id="{3FA1391E-90C5-4B3E-8AA2-EAC73E3BE8DE}" type="slidenum">
              <a:rPr lang="en-US" smtClean="0"/>
              <a:pPr>
                <a:defRPr/>
              </a:pPr>
              <a:t>184</a:t>
            </a:fld>
            <a:endParaRPr lang="en-US">
              <a:latin typeface="+mn-lt"/>
              <a:cs typeface="+mn-cs"/>
            </a:endParaRPr>
          </a:p>
        </p:txBody>
      </p:sp>
    </p:spTree>
    <p:extLst>
      <p:ext uri="{BB962C8B-B14F-4D97-AF65-F5344CB8AC3E}">
        <p14:creationId xmlns:p14="http://schemas.microsoft.com/office/powerpoint/2010/main" val="1349258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AJAX method</a:t>
            </a:r>
            <a:endParaRPr lang="en-GB" sz="3600" b="0" dirty="0"/>
          </a:p>
        </p:txBody>
      </p:sp>
      <p:sp>
        <p:nvSpPr>
          <p:cNvPr id="3" name="Rectangle 2"/>
          <p:cNvSpPr txBox="1">
            <a:spLocks noChangeArrowheads="1"/>
          </p:cNvSpPr>
          <p:nvPr/>
        </p:nvSpPr>
        <p:spPr>
          <a:xfrm>
            <a:off x="611188" y="1125538"/>
            <a:ext cx="8281987" cy="5572125"/>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lgn="just">
              <a:spcBef>
                <a:spcPts val="400"/>
              </a:spcBef>
              <a:buClr>
                <a:schemeClr val="accent1"/>
              </a:buClr>
              <a:buFont typeface="Arial" panose="020B0604020202020204" pitchFamily="34" charset="0"/>
              <a:buChar char="•"/>
              <a:defRPr/>
            </a:pPr>
            <a:r>
              <a:rPr lang="en-US" sz="2000" b="0" dirty="0" smtClean="0">
                <a:latin typeface="Arial" charset="0"/>
                <a:cs typeface="Arial" charset="0"/>
                <a:sym typeface="Arial" charset="0"/>
              </a:rPr>
              <a:t>AJAX techniques are implemented in code on the client side primarily, and there are many libraries that offer simplified ways of doing this (e.g. jQuery)</a:t>
            </a:r>
          </a:p>
          <a:p>
            <a:pPr marL="342900" indent="-342900" algn="just">
              <a:spcBef>
                <a:spcPts val="400"/>
              </a:spcBef>
              <a:buClr>
                <a:schemeClr val="accent1"/>
              </a:buClr>
              <a:buFont typeface="Arial" panose="020B0604020202020204" pitchFamily="34" charset="0"/>
              <a:buChar char="•"/>
              <a:defRPr/>
            </a:pPr>
            <a:endParaRPr lang="en-US" sz="20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r>
              <a:rPr lang="en-US" sz="2000" b="0" dirty="0" smtClean="0">
                <a:solidFill>
                  <a:srgbClr val="0070C0"/>
                </a:solidFill>
                <a:latin typeface="Arial" charset="0"/>
                <a:cs typeface="Arial" charset="0"/>
                <a:sym typeface="Arial" charset="0"/>
              </a:rPr>
              <a:t>In this part of the module though it is important to see how AJAX is implemented at the lowest level using raw JavaScript.</a:t>
            </a:r>
          </a:p>
          <a:p>
            <a:pPr marL="342900" indent="-342900" algn="just">
              <a:spcBef>
                <a:spcPts val="400"/>
              </a:spcBef>
              <a:buClr>
                <a:schemeClr val="accent1"/>
              </a:buClr>
              <a:buFont typeface="Arial" panose="020B0604020202020204" pitchFamily="34" charset="0"/>
              <a:buChar char="•"/>
              <a:defRPr/>
            </a:pPr>
            <a:endParaRPr lang="en-US" sz="20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r>
              <a:rPr lang="en-US" sz="2000" b="0" dirty="0" smtClean="0">
                <a:latin typeface="Arial" charset="0"/>
                <a:cs typeface="Arial" charset="0"/>
                <a:sym typeface="Arial" charset="0"/>
              </a:rPr>
              <a:t>The basis of this process is the </a:t>
            </a:r>
            <a:r>
              <a:rPr lang="en-GB" sz="2000" b="0" dirty="0" err="1" smtClean="0">
                <a:latin typeface="Arial" charset="0"/>
                <a:cs typeface="Arial" charset="0"/>
                <a:sym typeface="Arial" charset="0"/>
              </a:rPr>
              <a:t>XMLHttpRequest</a:t>
            </a:r>
            <a:r>
              <a:rPr lang="en-GB" sz="2000" b="0" dirty="0" smtClean="0">
                <a:latin typeface="Arial" charset="0"/>
                <a:cs typeface="Arial" charset="0"/>
                <a:sym typeface="Arial" charset="0"/>
              </a:rPr>
              <a:t> object which was </a:t>
            </a:r>
            <a:r>
              <a:rPr lang="en-GB" sz="2000" b="0" dirty="0">
                <a:latin typeface="Arial" charset="0"/>
                <a:cs typeface="Arial" charset="0"/>
                <a:sym typeface="Arial" charset="0"/>
              </a:rPr>
              <a:t>originally designed by </a:t>
            </a:r>
            <a:r>
              <a:rPr lang="en-GB" sz="2000" dirty="0" smtClean="0">
                <a:solidFill>
                  <a:schemeClr val="tx1">
                    <a:lumMod val="95000"/>
                    <a:lumOff val="5000"/>
                  </a:schemeClr>
                </a:solidFill>
                <a:latin typeface="Arial" charset="0"/>
                <a:cs typeface="Arial" charset="0"/>
                <a:sym typeface="Arial" charset="0"/>
              </a:rPr>
              <a:t>Microsoft</a:t>
            </a:r>
            <a:r>
              <a:rPr lang="en-GB" sz="2000" b="0" dirty="0" smtClean="0">
                <a:latin typeface="Arial" charset="0"/>
                <a:cs typeface="Arial" charset="0"/>
                <a:sym typeface="Arial" charset="0"/>
              </a:rPr>
              <a:t>! </a:t>
            </a:r>
            <a:r>
              <a:rPr lang="en-GB" sz="2000" b="0" dirty="0">
                <a:latin typeface="Arial" charset="0"/>
                <a:cs typeface="Arial" charset="0"/>
                <a:sym typeface="Arial" charset="0"/>
              </a:rPr>
              <a:t>around 1999 and later adopted by Mozilla, Apple, and Google. Since October 2014, it has been </a:t>
            </a:r>
            <a:r>
              <a:rPr lang="en-GB" sz="2000" b="0" dirty="0" smtClean="0">
                <a:latin typeface="Arial" charset="0"/>
                <a:cs typeface="Arial" charset="0"/>
                <a:sym typeface="Arial" charset="0"/>
              </a:rPr>
              <a:t>standardized (and will be superseded by </a:t>
            </a:r>
            <a:r>
              <a:rPr lang="en-GB" sz="2000" b="0" i="1" dirty="0" smtClean="0">
                <a:latin typeface="Arial" charset="0"/>
                <a:cs typeface="Arial" charset="0"/>
                <a:sym typeface="Arial" charset="0"/>
              </a:rPr>
              <a:t>fetch() </a:t>
            </a:r>
            <a:r>
              <a:rPr lang="en-GB" sz="2000" b="0" dirty="0" smtClean="0">
                <a:latin typeface="Arial" charset="0"/>
                <a:cs typeface="Arial" charset="0"/>
                <a:sym typeface="Arial" charset="0"/>
              </a:rPr>
              <a:t>in the future)</a:t>
            </a:r>
            <a:endParaRPr lang="en-GB" sz="20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GB" sz="20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r>
              <a:rPr lang="en-GB" sz="2000" b="0" dirty="0">
                <a:solidFill>
                  <a:srgbClr val="0070C0"/>
                </a:solidFill>
                <a:latin typeface="Arial" charset="0"/>
                <a:cs typeface="Arial" charset="0"/>
                <a:sym typeface="Arial" charset="0"/>
              </a:rPr>
              <a:t>Despite its name, </a:t>
            </a:r>
            <a:r>
              <a:rPr lang="en-GB" sz="2000" dirty="0" err="1">
                <a:solidFill>
                  <a:srgbClr val="0070C0"/>
                </a:solidFill>
                <a:latin typeface="Arial" charset="0"/>
                <a:cs typeface="Arial" charset="0"/>
                <a:sym typeface="Arial" charset="0"/>
              </a:rPr>
              <a:t>XML</a:t>
            </a:r>
            <a:r>
              <a:rPr lang="en-GB" sz="2000" b="0" dirty="0" err="1">
                <a:solidFill>
                  <a:srgbClr val="0070C0"/>
                </a:solidFill>
                <a:latin typeface="Arial" charset="0"/>
                <a:cs typeface="Arial" charset="0"/>
                <a:sym typeface="Arial" charset="0"/>
              </a:rPr>
              <a:t>HttpRequest</a:t>
            </a:r>
            <a:r>
              <a:rPr lang="en-GB" sz="2000" b="0" dirty="0">
                <a:solidFill>
                  <a:srgbClr val="0070C0"/>
                </a:solidFill>
                <a:latin typeface="Arial" charset="0"/>
                <a:cs typeface="Arial" charset="0"/>
                <a:sym typeface="Arial" charset="0"/>
              </a:rPr>
              <a:t> can be used to retrieve any type of data, not just XML, and it supports protocols other than HTTP (including file and ftp).</a:t>
            </a:r>
            <a:endParaRPr lang="en-US" sz="2000" b="0" dirty="0">
              <a:solidFill>
                <a:srgbClr val="0070C0"/>
              </a:solidFill>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US" sz="2000" b="0" dirty="0" smtClean="0">
              <a:latin typeface="Arial" charset="0"/>
              <a:cs typeface="Arial" charset="0"/>
              <a:sym typeface="Arial" charset="0"/>
            </a:endParaRPr>
          </a:p>
        </p:txBody>
      </p:sp>
      <p:sp>
        <p:nvSpPr>
          <p:cNvPr id="4" name="Slide Number Placeholder 3"/>
          <p:cNvSpPr>
            <a:spLocks noGrp="1"/>
          </p:cNvSpPr>
          <p:nvPr>
            <p:ph type="sldNum" sz="quarter" idx="12"/>
          </p:nvPr>
        </p:nvSpPr>
        <p:spPr/>
        <p:txBody>
          <a:bodyPr/>
          <a:lstStyle/>
          <a:p>
            <a:pPr>
              <a:defRPr/>
            </a:pPr>
            <a:fld id="{3FA1391E-90C5-4B3E-8AA2-EAC73E3BE8DE}" type="slidenum">
              <a:rPr lang="en-US" smtClean="0"/>
              <a:pPr>
                <a:defRPr/>
              </a:pPr>
              <a:t>185</a:t>
            </a:fld>
            <a:endParaRPr lang="en-US">
              <a:latin typeface="+mn-lt"/>
              <a:cs typeface="+mn-cs"/>
            </a:endParaRPr>
          </a:p>
        </p:txBody>
      </p:sp>
    </p:spTree>
    <p:extLst>
      <p:ext uri="{BB962C8B-B14F-4D97-AF65-F5344CB8AC3E}">
        <p14:creationId xmlns:p14="http://schemas.microsoft.com/office/powerpoint/2010/main" val="150947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err="1" smtClean="0">
                <a:latin typeface="Arial" pitchFamily="34" charset="0"/>
                <a:ea typeface="ＭＳ Ｐゴシック" pitchFamily="34" charset="-128"/>
                <a:cs typeface="Arial" pitchFamily="34" charset="0"/>
                <a:sym typeface="Arial" pitchFamily="34" charset="0"/>
              </a:rPr>
              <a:t>XMLHttpRequest</a:t>
            </a:r>
            <a:r>
              <a:rPr lang="en-US" altLang="en-US" sz="3600" b="1" dirty="0" smtClean="0">
                <a:latin typeface="Arial" pitchFamily="34" charset="0"/>
                <a:ea typeface="ＭＳ Ｐゴシック" pitchFamily="34" charset="-128"/>
                <a:cs typeface="Arial" pitchFamily="34" charset="0"/>
                <a:sym typeface="Arial" pitchFamily="34" charset="0"/>
              </a:rPr>
              <a:t> method</a:t>
            </a:r>
            <a:endParaRPr lang="en-GB" sz="3600" b="0" dirty="0"/>
          </a:p>
        </p:txBody>
      </p:sp>
      <p:sp>
        <p:nvSpPr>
          <p:cNvPr id="3" name="Rectangle 2"/>
          <p:cNvSpPr txBox="1">
            <a:spLocks noChangeArrowheads="1"/>
          </p:cNvSpPr>
          <p:nvPr/>
        </p:nvSpPr>
        <p:spPr>
          <a:xfrm>
            <a:off x="611188" y="1125538"/>
            <a:ext cx="8281987" cy="5572125"/>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lgn="just">
              <a:spcBef>
                <a:spcPts val="400"/>
              </a:spcBef>
              <a:buClr>
                <a:schemeClr val="accent1"/>
              </a:buClr>
              <a:buFont typeface="Arial" panose="020B0604020202020204" pitchFamily="34" charset="0"/>
              <a:buChar char="•"/>
              <a:defRPr/>
            </a:pPr>
            <a:r>
              <a:rPr lang="en-US" sz="2000" b="0" dirty="0" smtClean="0">
                <a:latin typeface="Arial" charset="0"/>
                <a:cs typeface="Arial" charset="0"/>
                <a:sym typeface="Arial" charset="0"/>
              </a:rPr>
              <a:t>The </a:t>
            </a:r>
            <a:r>
              <a:rPr lang="en-GB" sz="2000" dirty="0" err="1">
                <a:latin typeface="Courier New" panose="02070309020205020404" pitchFamily="49" charset="0"/>
                <a:cs typeface="Courier New" panose="02070309020205020404" pitchFamily="49" charset="0"/>
              </a:rPr>
              <a:t>XMLHttpRequest</a:t>
            </a:r>
            <a:r>
              <a:rPr lang="en-GB" sz="2000" dirty="0" smtClean="0">
                <a:latin typeface="Courier New" panose="02070309020205020404" pitchFamily="49" charset="0"/>
                <a:cs typeface="Courier New" panose="02070309020205020404" pitchFamily="49" charset="0"/>
              </a:rPr>
              <a:t>() </a:t>
            </a:r>
            <a:r>
              <a:rPr lang="en-GB" sz="2000" b="0" dirty="0">
                <a:latin typeface="Arial" charset="0"/>
                <a:cs typeface="Arial" charset="0"/>
              </a:rPr>
              <a:t>method is the core of the process to establish a communication channel to a server </a:t>
            </a:r>
            <a:r>
              <a:rPr lang="en-GB" sz="2000" b="0" dirty="0" smtClean="0">
                <a:latin typeface="Arial" charset="0"/>
                <a:cs typeface="Arial" charset="0"/>
              </a:rPr>
              <a:t>application.</a:t>
            </a:r>
          </a:p>
          <a:p>
            <a:pPr marL="342900" indent="-342900" algn="just">
              <a:spcBef>
                <a:spcPts val="400"/>
              </a:spcBef>
              <a:buClr>
                <a:schemeClr val="accent1"/>
              </a:buClr>
              <a:buFont typeface="Arial" panose="020B0604020202020204" pitchFamily="34" charset="0"/>
              <a:buChar char="•"/>
              <a:defRPr/>
            </a:pPr>
            <a:endParaRPr lang="en-US" sz="2000" b="0" dirty="0">
              <a:latin typeface="Arial" charset="0"/>
              <a:cs typeface="Arial" charset="0"/>
              <a:sym typeface="Arial" charset="0"/>
            </a:endParaRPr>
          </a:p>
          <a:p>
            <a:pPr marL="0" indent="0" algn="just">
              <a:spcBef>
                <a:spcPts val="400"/>
              </a:spcBef>
              <a:buClr>
                <a:schemeClr val="accent1"/>
              </a:buClr>
              <a:defRPr/>
            </a:pPr>
            <a:r>
              <a:rPr lang="en-GB" sz="2000" i="1" dirty="0">
                <a:solidFill>
                  <a:srgbClr val="408080"/>
                </a:solidFill>
                <a:latin typeface="Courier New" panose="02070309020205020404" pitchFamily="49" charset="0"/>
                <a:cs typeface="Courier New" panose="02070309020205020404" pitchFamily="49" charset="0"/>
              </a:rPr>
              <a:t>// This is the client-side script.</a:t>
            </a:r>
            <a:r>
              <a:rPr lang="en-GB" sz="2000" dirty="0">
                <a:latin typeface="Courier New" panose="02070309020205020404" pitchFamily="49" charset="0"/>
                <a:cs typeface="Courier New" panose="02070309020205020404" pitchFamily="49" charset="0"/>
              </a:rPr>
              <a:t> </a:t>
            </a:r>
            <a:endParaRPr lang="en-GB" sz="2000" dirty="0" smtClean="0">
              <a:latin typeface="Courier New" panose="02070309020205020404" pitchFamily="49" charset="0"/>
              <a:cs typeface="Courier New" panose="02070309020205020404" pitchFamily="49" charset="0"/>
            </a:endParaRPr>
          </a:p>
          <a:p>
            <a:pPr marL="0" indent="0" algn="just">
              <a:spcBef>
                <a:spcPts val="400"/>
              </a:spcBef>
              <a:buClr>
                <a:schemeClr val="accent1"/>
              </a:buClr>
              <a:defRPr/>
            </a:pPr>
            <a:r>
              <a:rPr lang="en-GB" sz="2000" i="1" dirty="0" smtClean="0">
                <a:solidFill>
                  <a:srgbClr val="408080"/>
                </a:solidFill>
                <a:latin typeface="Courier New" panose="02070309020205020404" pitchFamily="49" charset="0"/>
                <a:cs typeface="Courier New" panose="02070309020205020404" pitchFamily="49" charset="0"/>
              </a:rPr>
              <a:t>// </a:t>
            </a:r>
            <a:r>
              <a:rPr lang="en-GB" sz="2000" i="1" dirty="0">
                <a:solidFill>
                  <a:srgbClr val="408080"/>
                </a:solidFill>
                <a:latin typeface="Courier New" panose="02070309020205020404" pitchFamily="49" charset="0"/>
                <a:cs typeface="Courier New" panose="02070309020205020404" pitchFamily="49" charset="0"/>
              </a:rPr>
              <a:t>Initialize the HTTP request.</a:t>
            </a:r>
            <a:r>
              <a:rPr lang="en-GB" sz="2000" dirty="0">
                <a:latin typeface="Courier New" panose="02070309020205020404" pitchFamily="49" charset="0"/>
                <a:cs typeface="Courier New" panose="02070309020205020404" pitchFamily="49" charset="0"/>
              </a:rPr>
              <a:t> </a:t>
            </a:r>
            <a:endParaRPr lang="en-GB" sz="2000" dirty="0" smtClean="0">
              <a:latin typeface="Courier New" panose="02070309020205020404" pitchFamily="49" charset="0"/>
              <a:cs typeface="Courier New" panose="02070309020205020404" pitchFamily="49" charset="0"/>
            </a:endParaRPr>
          </a:p>
          <a:p>
            <a:pPr marL="0" indent="0" algn="just">
              <a:spcBef>
                <a:spcPts val="400"/>
              </a:spcBef>
              <a:buClr>
                <a:schemeClr val="accent1"/>
              </a:buClr>
              <a:defRPr/>
            </a:pPr>
            <a:endParaRPr lang="en-GB" sz="2000" dirty="0" smtClean="0">
              <a:latin typeface="Courier New" panose="02070309020205020404" pitchFamily="49" charset="0"/>
              <a:cs typeface="Courier New" panose="02070309020205020404" pitchFamily="49" charset="0"/>
            </a:endParaRPr>
          </a:p>
          <a:p>
            <a:pPr marL="0" indent="0" algn="just">
              <a:spcBef>
                <a:spcPts val="400"/>
              </a:spcBef>
              <a:buClr>
                <a:schemeClr val="accent1"/>
              </a:buClr>
              <a:defRPr/>
            </a:pPr>
            <a:r>
              <a:rPr lang="en-GB" sz="2000" dirty="0" err="1" smtClean="0">
                <a:solidFill>
                  <a:srgbClr val="008000"/>
                </a:solidFill>
                <a:latin typeface="Courier New" panose="02070309020205020404" pitchFamily="49" charset="0"/>
                <a:cs typeface="Courier New" panose="02070309020205020404" pitchFamily="49" charset="0"/>
              </a:rPr>
              <a:t>var</a:t>
            </a:r>
            <a:r>
              <a:rPr lang="en-GB" sz="2000" dirty="0" smtClean="0">
                <a:latin typeface="Courier New" panose="02070309020205020404" pitchFamily="49" charset="0"/>
                <a:cs typeface="Courier New" panose="02070309020205020404" pitchFamily="49" charset="0"/>
              </a:rPr>
              <a:t> </a:t>
            </a:r>
            <a:r>
              <a:rPr lang="en-GB" sz="2000" dirty="0" err="1">
                <a:latin typeface="Courier New" panose="02070309020205020404" pitchFamily="49" charset="0"/>
                <a:cs typeface="Courier New" panose="02070309020205020404" pitchFamily="49" charset="0"/>
              </a:rPr>
              <a:t>xhr</a:t>
            </a:r>
            <a:r>
              <a:rPr lang="en-GB" sz="2000" dirty="0">
                <a:latin typeface="Courier New" panose="02070309020205020404" pitchFamily="49" charset="0"/>
                <a:cs typeface="Courier New" panose="02070309020205020404" pitchFamily="49" charset="0"/>
              </a:rPr>
              <a:t> </a:t>
            </a:r>
            <a:r>
              <a:rPr lang="en-GB" sz="2000" dirty="0">
                <a:solidFill>
                  <a:srgbClr val="666666"/>
                </a:solidFill>
                <a:latin typeface="Courier New" panose="02070309020205020404" pitchFamily="49" charset="0"/>
                <a:cs typeface="Courier New" panose="02070309020205020404" pitchFamily="49" charset="0"/>
              </a:rPr>
              <a:t>=</a:t>
            </a:r>
            <a:r>
              <a:rPr lang="en-GB" sz="2000" dirty="0">
                <a:latin typeface="Courier New" panose="02070309020205020404" pitchFamily="49" charset="0"/>
                <a:cs typeface="Courier New" panose="02070309020205020404" pitchFamily="49" charset="0"/>
              </a:rPr>
              <a:t> </a:t>
            </a:r>
            <a:r>
              <a:rPr lang="en-GB" sz="2000" dirty="0">
                <a:solidFill>
                  <a:srgbClr val="008000"/>
                </a:solidFill>
                <a:latin typeface="Courier New" panose="02070309020205020404" pitchFamily="49" charset="0"/>
                <a:cs typeface="Courier New" panose="02070309020205020404" pitchFamily="49" charset="0"/>
              </a:rPr>
              <a:t>new</a:t>
            </a:r>
            <a:r>
              <a:rPr lang="en-GB" sz="2000" dirty="0">
                <a:latin typeface="Courier New" panose="02070309020205020404" pitchFamily="49" charset="0"/>
                <a:cs typeface="Courier New" panose="02070309020205020404" pitchFamily="49" charset="0"/>
              </a:rPr>
              <a:t> </a:t>
            </a:r>
            <a:r>
              <a:rPr lang="en-GB" sz="2000" dirty="0" err="1">
                <a:latin typeface="Courier New" panose="02070309020205020404" pitchFamily="49" charset="0"/>
                <a:cs typeface="Courier New" panose="02070309020205020404" pitchFamily="49" charset="0"/>
              </a:rPr>
              <a:t>XMLHttpRequest</a:t>
            </a:r>
            <a:r>
              <a:rPr lang="en-GB" sz="2000" dirty="0">
                <a:latin typeface="Courier New" panose="02070309020205020404" pitchFamily="49" charset="0"/>
                <a:cs typeface="Courier New" panose="02070309020205020404" pitchFamily="49" charset="0"/>
              </a:rPr>
              <a:t>(); </a:t>
            </a:r>
            <a:endParaRPr lang="en-GB" sz="2000" dirty="0" smtClean="0">
              <a:latin typeface="Courier New" panose="02070309020205020404" pitchFamily="49" charset="0"/>
              <a:cs typeface="Courier New" panose="02070309020205020404" pitchFamily="49" charset="0"/>
            </a:endParaRPr>
          </a:p>
          <a:p>
            <a:pPr marL="0" indent="0" algn="just">
              <a:spcBef>
                <a:spcPts val="400"/>
              </a:spcBef>
              <a:buClr>
                <a:schemeClr val="accent1"/>
              </a:buClr>
              <a:defRPr/>
            </a:pPr>
            <a:r>
              <a:rPr lang="en-GB" sz="2000" dirty="0" err="1" smtClean="0">
                <a:latin typeface="Courier New" panose="02070309020205020404" pitchFamily="49" charset="0"/>
                <a:cs typeface="Courier New" panose="02070309020205020404" pitchFamily="49" charset="0"/>
              </a:rPr>
              <a:t>xhr.open</a:t>
            </a:r>
            <a:r>
              <a:rPr lang="en-GB" sz="2000" dirty="0">
                <a:latin typeface="Courier New" panose="02070309020205020404" pitchFamily="49" charset="0"/>
                <a:cs typeface="Courier New" panose="02070309020205020404" pitchFamily="49" charset="0"/>
              </a:rPr>
              <a:t>(</a:t>
            </a:r>
            <a:r>
              <a:rPr lang="en-GB" sz="2000" dirty="0">
                <a:solidFill>
                  <a:srgbClr val="BA2121"/>
                </a:solidFill>
                <a:latin typeface="Courier New" panose="02070309020205020404" pitchFamily="49" charset="0"/>
                <a:cs typeface="Courier New" panose="02070309020205020404" pitchFamily="49" charset="0"/>
              </a:rPr>
              <a:t>'GET'</a:t>
            </a:r>
            <a:r>
              <a:rPr lang="en-GB" sz="2000" dirty="0">
                <a:latin typeface="Courier New" panose="02070309020205020404" pitchFamily="49" charset="0"/>
                <a:cs typeface="Courier New" panose="02070309020205020404" pitchFamily="49" charset="0"/>
              </a:rPr>
              <a:t>, </a:t>
            </a:r>
            <a:r>
              <a:rPr lang="en-GB" sz="2000" dirty="0">
                <a:solidFill>
                  <a:srgbClr val="BA2121"/>
                </a:solidFill>
                <a:latin typeface="Courier New" panose="02070309020205020404" pitchFamily="49" charset="0"/>
                <a:cs typeface="Courier New" panose="02070309020205020404" pitchFamily="49" charset="0"/>
              </a:rPr>
              <a:t>'send-</a:t>
            </a:r>
            <a:r>
              <a:rPr lang="en-GB" sz="2000" dirty="0" err="1">
                <a:solidFill>
                  <a:srgbClr val="BA2121"/>
                </a:solidFill>
                <a:latin typeface="Courier New" panose="02070309020205020404" pitchFamily="49" charset="0"/>
                <a:cs typeface="Courier New" panose="02070309020205020404" pitchFamily="49" charset="0"/>
              </a:rPr>
              <a:t>ajax</a:t>
            </a:r>
            <a:r>
              <a:rPr lang="en-GB" sz="2000" dirty="0">
                <a:solidFill>
                  <a:srgbClr val="BA2121"/>
                </a:solidFill>
                <a:latin typeface="Courier New" panose="02070309020205020404" pitchFamily="49" charset="0"/>
                <a:cs typeface="Courier New" panose="02070309020205020404" pitchFamily="49" charset="0"/>
              </a:rPr>
              <a:t>-</a:t>
            </a:r>
            <a:r>
              <a:rPr lang="en-GB" sz="2000" dirty="0" err="1">
                <a:solidFill>
                  <a:srgbClr val="BA2121"/>
                </a:solidFill>
                <a:latin typeface="Courier New" panose="02070309020205020404" pitchFamily="49" charset="0"/>
                <a:cs typeface="Courier New" panose="02070309020205020404" pitchFamily="49" charset="0"/>
              </a:rPr>
              <a:t>data.php</a:t>
            </a:r>
            <a:r>
              <a:rPr lang="en-GB" sz="2000" dirty="0" smtClean="0">
                <a:solidFill>
                  <a:srgbClr val="BA2121"/>
                </a:solidFill>
                <a:latin typeface="Courier New" panose="02070309020205020404" pitchFamily="49" charset="0"/>
                <a:cs typeface="Courier New" panose="02070309020205020404" pitchFamily="49" charset="0"/>
              </a:rPr>
              <a:t>'</a:t>
            </a:r>
            <a:r>
              <a:rPr lang="en-GB" sz="2000" dirty="0" smtClean="0">
                <a:latin typeface="Courier New" panose="02070309020205020404" pitchFamily="49" charset="0"/>
                <a:cs typeface="Courier New" panose="02070309020205020404" pitchFamily="49" charset="0"/>
              </a:rPr>
              <a:t>);</a:t>
            </a:r>
          </a:p>
          <a:p>
            <a:pPr marL="0" indent="0" algn="just">
              <a:spcBef>
                <a:spcPts val="400"/>
              </a:spcBef>
              <a:buClr>
                <a:schemeClr val="accent1"/>
              </a:buClr>
              <a:defRPr/>
            </a:pPr>
            <a:endParaRPr lang="en-GB" sz="2000" b="0" dirty="0">
              <a:latin typeface="Courier New" panose="02070309020205020404" pitchFamily="49" charset="0"/>
              <a:cs typeface="Courier New" panose="02070309020205020404" pitchFamily="49" charset="0"/>
              <a:sym typeface="Arial" charset="0"/>
            </a:endParaRPr>
          </a:p>
          <a:p>
            <a:pPr marL="0" indent="0" algn="just">
              <a:spcBef>
                <a:spcPts val="400"/>
              </a:spcBef>
              <a:buClr>
                <a:schemeClr val="accent1"/>
              </a:buClr>
              <a:defRPr/>
            </a:pPr>
            <a:r>
              <a:rPr lang="en-GB" sz="2000" b="0" dirty="0" smtClean="0">
                <a:latin typeface="Arial" charset="0"/>
                <a:cs typeface="Arial" charset="0"/>
              </a:rPr>
              <a:t>The object is created and the open() method is used to prepare a GET request (in this instance) to a PHP script. Once sent (see next slide), the PHP script will return some data which can then be processed by the client with more JavaScript.</a:t>
            </a:r>
            <a:endParaRPr lang="en-GB" sz="2000" b="0" dirty="0">
              <a:latin typeface="Arial" charset="0"/>
              <a:cs typeface="Arial" charset="0"/>
            </a:endParaRPr>
          </a:p>
          <a:p>
            <a:pPr marL="0" indent="0" algn="just">
              <a:spcBef>
                <a:spcPts val="400"/>
              </a:spcBef>
              <a:buClr>
                <a:schemeClr val="accent1"/>
              </a:buClr>
              <a:defRPr/>
            </a:pPr>
            <a:endParaRPr lang="en-US" sz="2000" b="0" dirty="0" smtClean="0">
              <a:latin typeface="Courier New" panose="02070309020205020404" pitchFamily="49" charset="0"/>
              <a:cs typeface="Courier New" panose="02070309020205020404" pitchFamily="49" charset="0"/>
              <a:sym typeface="Arial" charset="0"/>
            </a:endParaRPr>
          </a:p>
        </p:txBody>
      </p:sp>
      <p:sp>
        <p:nvSpPr>
          <p:cNvPr id="4" name="Slide Number Placeholder 3"/>
          <p:cNvSpPr>
            <a:spLocks noGrp="1"/>
          </p:cNvSpPr>
          <p:nvPr>
            <p:ph type="sldNum" sz="quarter" idx="12"/>
          </p:nvPr>
        </p:nvSpPr>
        <p:spPr/>
        <p:txBody>
          <a:bodyPr/>
          <a:lstStyle/>
          <a:p>
            <a:pPr>
              <a:defRPr/>
            </a:pPr>
            <a:fld id="{3FA1391E-90C5-4B3E-8AA2-EAC73E3BE8DE}" type="slidenum">
              <a:rPr lang="en-US" smtClean="0"/>
              <a:pPr>
                <a:defRPr/>
              </a:pPr>
              <a:t>186</a:t>
            </a:fld>
            <a:endParaRPr lang="en-US">
              <a:latin typeface="+mn-lt"/>
              <a:cs typeface="+mn-cs"/>
            </a:endParaRPr>
          </a:p>
        </p:txBody>
      </p:sp>
    </p:spTree>
    <p:extLst>
      <p:ext uri="{BB962C8B-B14F-4D97-AF65-F5344CB8AC3E}">
        <p14:creationId xmlns:p14="http://schemas.microsoft.com/office/powerpoint/2010/main" val="3782749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err="1" smtClean="0">
                <a:latin typeface="Arial" pitchFamily="34" charset="0"/>
                <a:ea typeface="ＭＳ Ｐゴシック" pitchFamily="34" charset="-128"/>
                <a:cs typeface="Arial" pitchFamily="34" charset="0"/>
                <a:sym typeface="Arial" pitchFamily="34" charset="0"/>
              </a:rPr>
              <a:t>XMLHttpRequest</a:t>
            </a:r>
            <a:r>
              <a:rPr lang="en-US" altLang="en-US" sz="3600" b="1" dirty="0" smtClean="0">
                <a:latin typeface="Arial" pitchFamily="34" charset="0"/>
                <a:ea typeface="ＭＳ Ｐゴシック" pitchFamily="34" charset="-128"/>
                <a:cs typeface="Arial" pitchFamily="34" charset="0"/>
                <a:sym typeface="Arial" pitchFamily="34" charset="0"/>
              </a:rPr>
              <a:t> method</a:t>
            </a:r>
            <a:endParaRPr lang="en-GB" sz="3600" b="0" dirty="0"/>
          </a:p>
        </p:txBody>
      </p:sp>
      <p:sp>
        <p:nvSpPr>
          <p:cNvPr id="3" name="Rectangle 2"/>
          <p:cNvSpPr txBox="1">
            <a:spLocks noChangeArrowheads="1"/>
          </p:cNvSpPr>
          <p:nvPr/>
        </p:nvSpPr>
        <p:spPr>
          <a:xfrm>
            <a:off x="467544" y="1125538"/>
            <a:ext cx="8425631" cy="5572125"/>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lgn="just">
              <a:spcBef>
                <a:spcPts val="400"/>
              </a:spcBef>
              <a:buClr>
                <a:schemeClr val="accent1"/>
              </a:buClr>
              <a:buFont typeface="Arial" panose="020B0604020202020204" pitchFamily="34" charset="0"/>
              <a:buChar char="•"/>
              <a:defRPr/>
            </a:pPr>
            <a:r>
              <a:rPr lang="en-US" sz="2000" b="0" dirty="0" smtClean="0">
                <a:latin typeface="Arial" charset="0"/>
                <a:cs typeface="Arial" charset="0"/>
                <a:sym typeface="Arial" charset="0"/>
              </a:rPr>
              <a:t>The </a:t>
            </a:r>
            <a:r>
              <a:rPr lang="en-GB" sz="2000" dirty="0" err="1">
                <a:latin typeface="Courier New" panose="02070309020205020404" pitchFamily="49" charset="0"/>
                <a:cs typeface="Courier New" panose="02070309020205020404" pitchFamily="49" charset="0"/>
              </a:rPr>
              <a:t>XMLHttpRequest</a:t>
            </a:r>
            <a:r>
              <a:rPr lang="en-GB" sz="2000" dirty="0" smtClean="0">
                <a:latin typeface="Courier New" panose="02070309020205020404" pitchFamily="49" charset="0"/>
                <a:cs typeface="Courier New" panose="02070309020205020404" pitchFamily="49" charset="0"/>
              </a:rPr>
              <a:t>() </a:t>
            </a:r>
            <a:r>
              <a:rPr lang="en-GB" sz="2000" b="0" dirty="0">
                <a:latin typeface="Arial" charset="0"/>
                <a:cs typeface="Arial" charset="0"/>
              </a:rPr>
              <a:t>method </a:t>
            </a:r>
            <a:r>
              <a:rPr lang="en-GB" sz="2000" b="0" dirty="0" smtClean="0">
                <a:latin typeface="Arial" charset="0"/>
                <a:cs typeface="Arial" charset="0"/>
              </a:rPr>
              <a:t>uses a send() method to initiate the request but needs to be told how to handle any data returned. Thus an event handler function needs to be added to the client script:</a:t>
            </a:r>
          </a:p>
          <a:p>
            <a:pPr marL="342900" indent="-342900" algn="just">
              <a:spcBef>
                <a:spcPts val="400"/>
              </a:spcBef>
              <a:buClr>
                <a:schemeClr val="accent1"/>
              </a:buClr>
              <a:buFont typeface="Arial" panose="020B0604020202020204" pitchFamily="34" charset="0"/>
              <a:buChar char="•"/>
              <a:defRPr/>
            </a:pPr>
            <a:endParaRPr lang="en-GB" sz="1000" b="0" dirty="0">
              <a:latin typeface="Arial" charset="0"/>
              <a:cs typeface="Arial" charset="0"/>
            </a:endParaRPr>
          </a:p>
          <a:p>
            <a:pPr marL="0" indent="0" algn="just">
              <a:spcBef>
                <a:spcPts val="0"/>
              </a:spcBef>
              <a:buClr>
                <a:schemeClr val="accent1"/>
              </a:buClr>
              <a:defRPr/>
            </a:pPr>
            <a:r>
              <a:rPr lang="en-GB" sz="1600" i="1" dirty="0">
                <a:solidFill>
                  <a:srgbClr val="408080"/>
                </a:solidFill>
                <a:latin typeface="Courier New" panose="02070309020205020404" pitchFamily="49" charset="0"/>
                <a:cs typeface="Courier New" panose="02070309020205020404" pitchFamily="49" charset="0"/>
              </a:rPr>
              <a:t>// Track the state changes of the request.</a:t>
            </a:r>
            <a:r>
              <a:rPr lang="en-GB" sz="1600" dirty="0">
                <a:latin typeface="Courier New" panose="02070309020205020404" pitchFamily="49" charset="0"/>
                <a:cs typeface="Courier New" panose="02070309020205020404" pitchFamily="49" charset="0"/>
              </a:rPr>
              <a:t> </a:t>
            </a:r>
            <a:endParaRPr lang="en-GB" sz="1600" dirty="0" smtClean="0">
              <a:latin typeface="Courier New" panose="02070309020205020404" pitchFamily="49" charset="0"/>
              <a:cs typeface="Courier New" panose="02070309020205020404" pitchFamily="49" charset="0"/>
            </a:endParaRPr>
          </a:p>
          <a:p>
            <a:pPr marL="0" indent="0" algn="just">
              <a:spcBef>
                <a:spcPts val="0"/>
              </a:spcBef>
              <a:buClr>
                <a:schemeClr val="accent1"/>
              </a:buClr>
              <a:defRPr/>
            </a:pPr>
            <a:r>
              <a:rPr lang="en-GB" sz="1600" dirty="0" err="1" smtClean="0">
                <a:latin typeface="Courier New" panose="02070309020205020404" pitchFamily="49" charset="0"/>
                <a:cs typeface="Courier New" panose="02070309020205020404" pitchFamily="49" charset="0"/>
              </a:rPr>
              <a:t>xhr.onreadystatechange</a:t>
            </a:r>
            <a:r>
              <a:rPr lang="en-GB" sz="1600" dirty="0" smtClean="0">
                <a:latin typeface="Courier New" panose="02070309020205020404" pitchFamily="49" charset="0"/>
                <a:cs typeface="Courier New" panose="02070309020205020404" pitchFamily="49" charset="0"/>
              </a:rPr>
              <a:t> </a:t>
            </a:r>
            <a:r>
              <a:rPr lang="en-GB" sz="1600" dirty="0">
                <a:solidFill>
                  <a:srgbClr val="666666"/>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function</a:t>
            </a:r>
            <a:r>
              <a:rPr lang="en-GB" sz="1600" dirty="0">
                <a:latin typeface="Courier New" panose="02070309020205020404" pitchFamily="49" charset="0"/>
                <a:cs typeface="Courier New" panose="02070309020205020404" pitchFamily="49" charset="0"/>
              </a:rPr>
              <a:t> () </a:t>
            </a:r>
            <a:r>
              <a:rPr lang="en-GB" sz="1600" dirty="0" smtClean="0">
                <a:latin typeface="Courier New" panose="02070309020205020404" pitchFamily="49" charset="0"/>
                <a:cs typeface="Courier New" panose="02070309020205020404" pitchFamily="49" charset="0"/>
              </a:rPr>
              <a:t>{ </a:t>
            </a:r>
          </a:p>
          <a:p>
            <a:pPr marL="0" indent="0" algn="just">
              <a:spcBef>
                <a:spcPts val="0"/>
              </a:spcBef>
              <a:buClr>
                <a:schemeClr val="accent1"/>
              </a:buClr>
              <a:defRPr/>
            </a:pPr>
            <a:r>
              <a:rPr lang="en-GB" sz="1600" dirty="0" smtClean="0">
                <a:solidFill>
                  <a:srgbClr val="008000"/>
                </a:solidFill>
                <a:latin typeface="Courier New" panose="02070309020205020404" pitchFamily="49" charset="0"/>
                <a:cs typeface="Courier New" panose="02070309020205020404" pitchFamily="49" charset="0"/>
              </a:rPr>
              <a:t>	</a:t>
            </a:r>
            <a:r>
              <a:rPr lang="en-GB" sz="1600" dirty="0" err="1" smtClean="0">
                <a:solidFill>
                  <a:srgbClr val="008000"/>
                </a:solidFill>
                <a:latin typeface="Courier New" panose="02070309020205020404" pitchFamily="49" charset="0"/>
                <a:cs typeface="Courier New" panose="02070309020205020404" pitchFamily="49" charset="0"/>
              </a:rPr>
              <a:t>var</a:t>
            </a:r>
            <a:r>
              <a:rPr lang="en-GB" sz="1600" dirty="0" smtClean="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DONE </a:t>
            </a:r>
            <a:r>
              <a:rPr lang="en-GB" sz="1600" dirty="0">
                <a:solidFill>
                  <a:srgbClr val="666666"/>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 </a:t>
            </a:r>
            <a:r>
              <a:rPr lang="en-GB" sz="1600" dirty="0">
                <a:solidFill>
                  <a:srgbClr val="666666"/>
                </a:solidFill>
                <a:latin typeface="Courier New" panose="02070309020205020404" pitchFamily="49" charset="0"/>
                <a:cs typeface="Courier New" panose="02070309020205020404" pitchFamily="49" charset="0"/>
              </a:rPr>
              <a:t>4</a:t>
            </a:r>
            <a:r>
              <a:rPr lang="en-GB" sz="1600" dirty="0">
                <a:latin typeface="Courier New" panose="02070309020205020404" pitchFamily="49" charset="0"/>
                <a:cs typeface="Courier New" panose="02070309020205020404" pitchFamily="49" charset="0"/>
              </a:rPr>
              <a:t>; </a:t>
            </a:r>
            <a:r>
              <a:rPr lang="en-GB" sz="1600" i="1" dirty="0">
                <a:solidFill>
                  <a:srgbClr val="408080"/>
                </a:solidFill>
                <a:latin typeface="Courier New" panose="02070309020205020404" pitchFamily="49" charset="0"/>
                <a:cs typeface="Courier New" panose="02070309020205020404" pitchFamily="49" charset="0"/>
              </a:rPr>
              <a:t>// </a:t>
            </a:r>
            <a:r>
              <a:rPr lang="en-GB" sz="1600" i="1" dirty="0" err="1">
                <a:solidFill>
                  <a:srgbClr val="408080"/>
                </a:solidFill>
                <a:latin typeface="Courier New" panose="02070309020205020404" pitchFamily="49" charset="0"/>
                <a:cs typeface="Courier New" panose="02070309020205020404" pitchFamily="49" charset="0"/>
              </a:rPr>
              <a:t>readyState</a:t>
            </a:r>
            <a:r>
              <a:rPr lang="en-GB" sz="1600" i="1" dirty="0">
                <a:solidFill>
                  <a:srgbClr val="408080"/>
                </a:solidFill>
                <a:latin typeface="Courier New" panose="02070309020205020404" pitchFamily="49" charset="0"/>
                <a:cs typeface="Courier New" panose="02070309020205020404" pitchFamily="49" charset="0"/>
              </a:rPr>
              <a:t> 4 means the request is done.</a:t>
            </a:r>
            <a:r>
              <a:rPr lang="en-GB" sz="1600" dirty="0">
                <a:latin typeface="Courier New" panose="02070309020205020404" pitchFamily="49" charset="0"/>
                <a:cs typeface="Courier New" panose="02070309020205020404" pitchFamily="49" charset="0"/>
              </a:rPr>
              <a:t> </a:t>
            </a:r>
            <a:endParaRPr lang="en-GB" sz="1600" dirty="0" smtClean="0">
              <a:latin typeface="Courier New" panose="02070309020205020404" pitchFamily="49" charset="0"/>
              <a:cs typeface="Courier New" panose="02070309020205020404" pitchFamily="49" charset="0"/>
            </a:endParaRPr>
          </a:p>
          <a:p>
            <a:pPr marL="0" indent="0" algn="just">
              <a:spcBef>
                <a:spcPts val="0"/>
              </a:spcBef>
              <a:buClr>
                <a:schemeClr val="accent1"/>
              </a:buClr>
              <a:defRPr/>
            </a:pPr>
            <a:r>
              <a:rPr lang="en-GB" sz="1600" dirty="0" smtClean="0">
                <a:solidFill>
                  <a:srgbClr val="008000"/>
                </a:solidFill>
                <a:latin typeface="Courier New" panose="02070309020205020404" pitchFamily="49" charset="0"/>
                <a:cs typeface="Courier New" panose="02070309020205020404" pitchFamily="49" charset="0"/>
              </a:rPr>
              <a:t>	</a:t>
            </a:r>
            <a:r>
              <a:rPr lang="en-GB" sz="1600" dirty="0" err="1" smtClean="0">
                <a:solidFill>
                  <a:srgbClr val="008000"/>
                </a:solidFill>
                <a:latin typeface="Courier New" panose="02070309020205020404" pitchFamily="49" charset="0"/>
                <a:cs typeface="Courier New" panose="02070309020205020404" pitchFamily="49" charset="0"/>
              </a:rPr>
              <a:t>var</a:t>
            </a:r>
            <a:r>
              <a:rPr lang="en-GB" sz="1600" dirty="0" smtClean="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OK </a:t>
            </a:r>
            <a:r>
              <a:rPr lang="en-GB" sz="1600" dirty="0">
                <a:solidFill>
                  <a:srgbClr val="666666"/>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 </a:t>
            </a:r>
            <a:r>
              <a:rPr lang="en-GB" sz="1600" dirty="0">
                <a:solidFill>
                  <a:srgbClr val="666666"/>
                </a:solidFill>
                <a:latin typeface="Courier New" panose="02070309020205020404" pitchFamily="49" charset="0"/>
                <a:cs typeface="Courier New" panose="02070309020205020404" pitchFamily="49" charset="0"/>
              </a:rPr>
              <a:t>200</a:t>
            </a:r>
            <a:r>
              <a:rPr lang="en-GB" sz="1600" dirty="0">
                <a:latin typeface="Courier New" panose="02070309020205020404" pitchFamily="49" charset="0"/>
                <a:cs typeface="Courier New" panose="02070309020205020404" pitchFamily="49" charset="0"/>
              </a:rPr>
              <a:t>; </a:t>
            </a:r>
            <a:r>
              <a:rPr lang="en-GB" sz="1600" i="1" dirty="0">
                <a:solidFill>
                  <a:srgbClr val="408080"/>
                </a:solidFill>
                <a:latin typeface="Courier New" panose="02070309020205020404" pitchFamily="49" charset="0"/>
                <a:cs typeface="Courier New" panose="02070309020205020404" pitchFamily="49" charset="0"/>
              </a:rPr>
              <a:t>// status 200 is a successful return.</a:t>
            </a:r>
            <a:r>
              <a:rPr lang="en-GB" sz="1600" dirty="0">
                <a:latin typeface="Courier New" panose="02070309020205020404" pitchFamily="49" charset="0"/>
                <a:cs typeface="Courier New" panose="02070309020205020404" pitchFamily="49" charset="0"/>
              </a:rPr>
              <a:t> </a:t>
            </a:r>
            <a:endParaRPr lang="en-GB" sz="1600" dirty="0" smtClean="0">
              <a:latin typeface="Courier New" panose="02070309020205020404" pitchFamily="49" charset="0"/>
              <a:cs typeface="Courier New" panose="02070309020205020404" pitchFamily="49" charset="0"/>
            </a:endParaRPr>
          </a:p>
          <a:p>
            <a:pPr marL="0" indent="0" algn="just">
              <a:spcBef>
                <a:spcPts val="0"/>
              </a:spcBef>
              <a:buClr>
                <a:schemeClr val="accent1"/>
              </a:buClr>
              <a:defRPr/>
            </a:pPr>
            <a:r>
              <a:rPr lang="en-GB" sz="1600" dirty="0" smtClean="0">
                <a:solidFill>
                  <a:srgbClr val="008000"/>
                </a:solidFill>
                <a:latin typeface="Courier New" panose="02070309020205020404" pitchFamily="49" charset="0"/>
                <a:cs typeface="Courier New" panose="02070309020205020404" pitchFamily="49" charset="0"/>
              </a:rPr>
              <a:t>	if</a:t>
            </a:r>
            <a:r>
              <a:rPr lang="en-GB" sz="1600" dirty="0" smtClean="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xhr.readyState</a:t>
            </a:r>
            <a:r>
              <a:rPr lang="en-GB" sz="1600" dirty="0">
                <a:latin typeface="Courier New" panose="02070309020205020404" pitchFamily="49" charset="0"/>
                <a:cs typeface="Courier New" panose="02070309020205020404" pitchFamily="49" charset="0"/>
              </a:rPr>
              <a:t> </a:t>
            </a:r>
            <a:r>
              <a:rPr lang="en-GB" sz="1600" dirty="0">
                <a:solidFill>
                  <a:srgbClr val="666666"/>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 DONE) </a:t>
            </a:r>
            <a:endParaRPr lang="en-GB" sz="1600" dirty="0" smtClean="0">
              <a:latin typeface="Courier New" panose="02070309020205020404" pitchFamily="49" charset="0"/>
              <a:cs typeface="Courier New" panose="02070309020205020404" pitchFamily="49" charset="0"/>
            </a:endParaRPr>
          </a:p>
          <a:p>
            <a:pPr marL="0" indent="0" algn="just">
              <a:spcBef>
                <a:spcPts val="0"/>
              </a:spcBef>
              <a:buClr>
                <a:schemeClr val="accent1"/>
              </a:buClr>
              <a:defRPr/>
            </a:pPr>
            <a:r>
              <a:rPr lang="en-GB" sz="1600" dirty="0" smtClean="0">
                <a:latin typeface="Courier New" panose="02070309020205020404" pitchFamily="49" charset="0"/>
                <a:cs typeface="Courier New" panose="02070309020205020404" pitchFamily="49" charset="0"/>
              </a:rPr>
              <a:t>	{ </a:t>
            </a:r>
          </a:p>
          <a:p>
            <a:pPr marL="0" indent="0" algn="just">
              <a:spcBef>
                <a:spcPts val="0"/>
              </a:spcBef>
              <a:buClr>
                <a:schemeClr val="accent1"/>
              </a:buClr>
              <a:defRPr/>
            </a:pPr>
            <a:r>
              <a:rPr lang="en-GB" sz="1600" dirty="0">
                <a:solidFill>
                  <a:srgbClr val="008000"/>
                </a:solidFill>
                <a:latin typeface="Courier New" panose="02070309020205020404" pitchFamily="49" charset="0"/>
                <a:cs typeface="Courier New" panose="02070309020205020404" pitchFamily="49" charset="0"/>
              </a:rPr>
              <a:t> </a:t>
            </a:r>
            <a:r>
              <a:rPr lang="en-GB" sz="1600" dirty="0" smtClean="0">
                <a:solidFill>
                  <a:srgbClr val="008000"/>
                </a:solidFill>
                <a:latin typeface="Courier New" panose="02070309020205020404" pitchFamily="49" charset="0"/>
                <a:cs typeface="Courier New" panose="02070309020205020404" pitchFamily="49" charset="0"/>
              </a:rPr>
              <a:t>  		if</a:t>
            </a:r>
            <a:r>
              <a:rPr lang="en-GB" sz="1600" dirty="0" smtClean="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xhr.status</a:t>
            </a:r>
            <a:r>
              <a:rPr lang="en-GB" sz="1600" dirty="0">
                <a:latin typeface="Courier New" panose="02070309020205020404" pitchFamily="49" charset="0"/>
                <a:cs typeface="Courier New" panose="02070309020205020404" pitchFamily="49" charset="0"/>
              </a:rPr>
              <a:t> </a:t>
            </a:r>
            <a:r>
              <a:rPr lang="en-GB" sz="1600" dirty="0">
                <a:solidFill>
                  <a:srgbClr val="666666"/>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 OK) { </a:t>
            </a:r>
            <a:endParaRPr lang="en-GB" sz="1600" dirty="0" smtClean="0">
              <a:latin typeface="Courier New" panose="02070309020205020404" pitchFamily="49" charset="0"/>
              <a:cs typeface="Courier New" panose="02070309020205020404" pitchFamily="49" charset="0"/>
            </a:endParaRPr>
          </a:p>
          <a:p>
            <a:pPr marL="0" indent="0" algn="just">
              <a:spcBef>
                <a:spcPts val="0"/>
              </a:spcBef>
              <a:buClr>
                <a:schemeClr val="accent1"/>
              </a:buClr>
              <a:defRPr/>
            </a:pP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console.log(</a:t>
            </a:r>
            <a:r>
              <a:rPr lang="en-GB" sz="1600" dirty="0" err="1" smtClean="0">
                <a:latin typeface="Courier New" panose="02070309020205020404" pitchFamily="49" charset="0"/>
                <a:cs typeface="Courier New" panose="02070309020205020404" pitchFamily="49" charset="0"/>
              </a:rPr>
              <a:t>xhr.responseText</a:t>
            </a:r>
            <a:r>
              <a:rPr lang="en-GB" sz="1600" dirty="0">
                <a:latin typeface="Courier New" panose="02070309020205020404" pitchFamily="49" charset="0"/>
                <a:cs typeface="Courier New" panose="02070309020205020404" pitchFamily="49" charset="0"/>
              </a:rPr>
              <a:t>); </a:t>
            </a:r>
            <a:r>
              <a:rPr lang="en-GB" sz="1600" i="1" dirty="0">
                <a:solidFill>
                  <a:srgbClr val="408080"/>
                </a:solidFill>
                <a:latin typeface="Courier New" panose="02070309020205020404" pitchFamily="49" charset="0"/>
                <a:cs typeface="Courier New" panose="02070309020205020404" pitchFamily="49" charset="0"/>
              </a:rPr>
              <a:t>// 'This is the output.'</a:t>
            </a:r>
            <a:r>
              <a:rPr lang="en-GB" sz="1600" dirty="0">
                <a:latin typeface="Courier New" panose="02070309020205020404" pitchFamily="49" charset="0"/>
                <a:cs typeface="Courier New" panose="02070309020205020404" pitchFamily="49" charset="0"/>
              </a:rPr>
              <a:t> </a:t>
            </a:r>
            <a:endParaRPr lang="en-GB" sz="1600" dirty="0" smtClean="0">
              <a:latin typeface="Courier New" panose="02070309020205020404" pitchFamily="49" charset="0"/>
              <a:cs typeface="Courier New" panose="02070309020205020404" pitchFamily="49" charset="0"/>
            </a:endParaRPr>
          </a:p>
          <a:p>
            <a:pPr marL="0" indent="0" algn="just">
              <a:spcBef>
                <a:spcPts val="0"/>
              </a:spcBef>
              <a:buClr>
                <a:schemeClr val="accent1"/>
              </a:buClr>
              <a:defRPr/>
            </a:pP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 </a:t>
            </a:r>
          </a:p>
          <a:p>
            <a:pPr marL="0" indent="0" algn="just">
              <a:spcBef>
                <a:spcPts val="0"/>
              </a:spcBef>
              <a:buClr>
                <a:schemeClr val="accent1"/>
              </a:buClr>
              <a:defRPr/>
            </a:pPr>
            <a:r>
              <a:rPr lang="en-GB" sz="1600" dirty="0">
                <a:solidFill>
                  <a:srgbClr val="008000"/>
                </a:solidFill>
                <a:latin typeface="Courier New" panose="02070309020205020404" pitchFamily="49" charset="0"/>
                <a:cs typeface="Courier New" panose="02070309020205020404" pitchFamily="49" charset="0"/>
              </a:rPr>
              <a:t> </a:t>
            </a:r>
            <a:r>
              <a:rPr lang="en-GB" sz="1600" dirty="0" smtClean="0">
                <a:solidFill>
                  <a:srgbClr val="008000"/>
                </a:solidFill>
                <a:latin typeface="Courier New" panose="02070309020205020404" pitchFamily="49" charset="0"/>
                <a:cs typeface="Courier New" panose="02070309020205020404" pitchFamily="49" charset="0"/>
              </a:rPr>
              <a:t>  		else</a:t>
            </a:r>
            <a:r>
              <a:rPr lang="en-GB" sz="1600" dirty="0" smtClean="0">
                <a:latin typeface="Courier New" panose="02070309020205020404" pitchFamily="49" charset="0"/>
                <a:cs typeface="Courier New" panose="02070309020205020404" pitchFamily="49" charset="0"/>
              </a:rPr>
              <a:t> </a:t>
            </a:r>
          </a:p>
          <a:p>
            <a:pPr marL="0" indent="0" algn="just">
              <a:spcBef>
                <a:spcPts val="0"/>
              </a:spcBef>
              <a:buClr>
                <a:schemeClr val="accent1"/>
              </a:buClr>
              <a:defRPr/>
            </a:pP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 </a:t>
            </a:r>
          </a:p>
          <a:p>
            <a:pPr marL="0" indent="0" algn="just">
              <a:spcBef>
                <a:spcPts val="0"/>
              </a:spcBef>
              <a:buClr>
                <a:schemeClr val="accent1"/>
              </a:buClr>
              <a:defRPr/>
            </a:pP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console.log</a:t>
            </a:r>
            <a:r>
              <a:rPr lang="en-GB" sz="1600" dirty="0">
                <a:latin typeface="Courier New" panose="02070309020205020404" pitchFamily="49" charset="0"/>
                <a:cs typeface="Courier New" panose="02070309020205020404" pitchFamily="49" charset="0"/>
              </a:rPr>
              <a:t>(</a:t>
            </a:r>
            <a:r>
              <a:rPr lang="en-GB" sz="1600" dirty="0">
                <a:solidFill>
                  <a:srgbClr val="BA2121"/>
                </a:solidFill>
                <a:latin typeface="Courier New" panose="02070309020205020404" pitchFamily="49" charset="0"/>
                <a:cs typeface="Courier New" panose="02070309020205020404" pitchFamily="49" charset="0"/>
              </a:rPr>
              <a:t>'Error: '</a:t>
            </a:r>
            <a:r>
              <a:rPr lang="en-GB" sz="1600" dirty="0">
                <a:latin typeface="Courier New" panose="02070309020205020404" pitchFamily="49" charset="0"/>
                <a:cs typeface="Courier New" panose="02070309020205020404" pitchFamily="49" charset="0"/>
              </a:rPr>
              <a:t> </a:t>
            </a:r>
            <a:r>
              <a:rPr lang="en-GB" sz="1600" dirty="0">
                <a:solidFill>
                  <a:srgbClr val="666666"/>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xhr.status</a:t>
            </a:r>
            <a:r>
              <a:rPr lang="en-GB" sz="1600" dirty="0">
                <a:latin typeface="Courier New" panose="02070309020205020404" pitchFamily="49" charset="0"/>
                <a:cs typeface="Courier New" panose="02070309020205020404" pitchFamily="49" charset="0"/>
              </a:rPr>
              <a:t>); </a:t>
            </a:r>
            <a:endParaRPr lang="en-GB" sz="1600" dirty="0" smtClean="0">
              <a:latin typeface="Courier New" panose="02070309020205020404" pitchFamily="49" charset="0"/>
              <a:cs typeface="Courier New" panose="02070309020205020404" pitchFamily="49" charset="0"/>
            </a:endParaRPr>
          </a:p>
          <a:p>
            <a:pPr marL="0" indent="0" algn="just">
              <a:spcBef>
                <a:spcPts val="0"/>
              </a:spcBef>
              <a:buClr>
                <a:schemeClr val="accent1"/>
              </a:buClr>
              <a:defRPr/>
            </a:pPr>
            <a:r>
              <a:rPr lang="en-GB" sz="1600" i="1" dirty="0" smtClean="0">
                <a:solidFill>
                  <a:srgbClr val="408080"/>
                </a:solidFill>
                <a:latin typeface="Courier New" panose="02070309020205020404" pitchFamily="49" charset="0"/>
                <a:cs typeface="Courier New" panose="02070309020205020404" pitchFamily="49" charset="0"/>
              </a:rPr>
              <a:t>	      	// </a:t>
            </a:r>
            <a:r>
              <a:rPr lang="en-GB" sz="1600" i="1" dirty="0">
                <a:solidFill>
                  <a:srgbClr val="408080"/>
                </a:solidFill>
                <a:latin typeface="Courier New" panose="02070309020205020404" pitchFamily="49" charset="0"/>
                <a:cs typeface="Courier New" panose="02070309020205020404" pitchFamily="49" charset="0"/>
              </a:rPr>
              <a:t>An error occurred during the request.</a:t>
            </a:r>
            <a:r>
              <a:rPr lang="en-GB" sz="1600" dirty="0">
                <a:latin typeface="Courier New" panose="02070309020205020404" pitchFamily="49" charset="0"/>
                <a:cs typeface="Courier New" panose="02070309020205020404" pitchFamily="49" charset="0"/>
              </a:rPr>
              <a:t> </a:t>
            </a:r>
            <a:endParaRPr lang="en-GB" sz="1600" dirty="0" smtClean="0">
              <a:latin typeface="Courier New" panose="02070309020205020404" pitchFamily="49" charset="0"/>
              <a:cs typeface="Courier New" panose="02070309020205020404" pitchFamily="49" charset="0"/>
            </a:endParaRPr>
          </a:p>
          <a:p>
            <a:pPr marL="0" indent="0" algn="just">
              <a:spcBef>
                <a:spcPts val="0"/>
              </a:spcBef>
              <a:buClr>
                <a:schemeClr val="accent1"/>
              </a:buClr>
              <a:defRPr/>
            </a:pP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 </a:t>
            </a:r>
          </a:p>
          <a:p>
            <a:pPr marL="0" indent="0" algn="just">
              <a:spcBef>
                <a:spcPts val="0"/>
              </a:spcBef>
              <a:buClr>
                <a:schemeClr val="accent1"/>
              </a:buClr>
              <a:defRPr/>
            </a:pPr>
            <a:r>
              <a:rPr lang="en-GB" sz="1600" dirty="0" smtClean="0">
                <a:latin typeface="Courier New" panose="02070309020205020404" pitchFamily="49" charset="0"/>
                <a:cs typeface="Courier New" panose="02070309020205020404" pitchFamily="49" charset="0"/>
              </a:rPr>
              <a:t>	}</a:t>
            </a:r>
          </a:p>
          <a:p>
            <a:pPr marL="0" indent="0" algn="just">
              <a:spcBef>
                <a:spcPts val="400"/>
              </a:spcBef>
              <a:buClr>
                <a:schemeClr val="accent1"/>
              </a:buClr>
              <a:defRPr/>
            </a:pPr>
            <a:r>
              <a:rPr lang="en-GB" sz="1400" dirty="0" smtClean="0">
                <a:latin typeface="Courier New" panose="02070309020205020404" pitchFamily="49" charset="0"/>
                <a:cs typeface="Courier New" panose="02070309020205020404" pitchFamily="49" charset="0"/>
              </a:rPr>
              <a:t> };</a:t>
            </a:r>
          </a:p>
          <a:p>
            <a:pPr marL="0" indent="0" algn="just">
              <a:spcBef>
                <a:spcPts val="400"/>
              </a:spcBef>
              <a:buClr>
                <a:schemeClr val="accent1"/>
              </a:buClr>
              <a:defRPr/>
            </a:pPr>
            <a:r>
              <a:rPr lang="en-GB" sz="1400" dirty="0" smtClean="0">
                <a:latin typeface="Courier New" panose="02070309020205020404" pitchFamily="49" charset="0"/>
                <a:cs typeface="Courier New" panose="02070309020205020404" pitchFamily="49" charset="0"/>
              </a:rPr>
              <a:t> </a:t>
            </a:r>
          </a:p>
          <a:p>
            <a:pPr marL="0" indent="0" algn="just">
              <a:spcBef>
                <a:spcPts val="400"/>
              </a:spcBef>
              <a:buClr>
                <a:schemeClr val="accent1"/>
              </a:buClr>
              <a:defRPr/>
            </a:pPr>
            <a:r>
              <a:rPr lang="en-GB" sz="1600" i="1" dirty="0" smtClean="0">
                <a:solidFill>
                  <a:srgbClr val="408080"/>
                </a:solidFill>
                <a:latin typeface="Courier New" panose="02070309020205020404" pitchFamily="49" charset="0"/>
                <a:cs typeface="Courier New" panose="02070309020205020404" pitchFamily="49" charset="0"/>
              </a:rPr>
              <a:t>// </a:t>
            </a:r>
            <a:r>
              <a:rPr lang="en-GB" sz="1600" i="1" dirty="0">
                <a:solidFill>
                  <a:srgbClr val="408080"/>
                </a:solidFill>
                <a:latin typeface="Courier New" panose="02070309020205020404" pitchFamily="49" charset="0"/>
                <a:cs typeface="Courier New" panose="02070309020205020404" pitchFamily="49" charset="0"/>
              </a:rPr>
              <a:t>Send the request to send-</a:t>
            </a:r>
            <a:r>
              <a:rPr lang="en-GB" sz="1600" i="1" dirty="0" err="1">
                <a:solidFill>
                  <a:srgbClr val="408080"/>
                </a:solidFill>
                <a:latin typeface="Courier New" panose="02070309020205020404" pitchFamily="49" charset="0"/>
                <a:cs typeface="Courier New" panose="02070309020205020404" pitchFamily="49" charset="0"/>
              </a:rPr>
              <a:t>ajax</a:t>
            </a:r>
            <a:r>
              <a:rPr lang="en-GB" sz="1600" i="1" dirty="0">
                <a:solidFill>
                  <a:srgbClr val="408080"/>
                </a:solidFill>
                <a:latin typeface="Courier New" panose="02070309020205020404" pitchFamily="49" charset="0"/>
                <a:cs typeface="Courier New" panose="02070309020205020404" pitchFamily="49" charset="0"/>
              </a:rPr>
              <a:t>-</a:t>
            </a:r>
            <a:r>
              <a:rPr lang="en-GB" sz="1600" i="1" dirty="0" err="1">
                <a:solidFill>
                  <a:srgbClr val="408080"/>
                </a:solidFill>
                <a:latin typeface="Courier New" panose="02070309020205020404" pitchFamily="49" charset="0"/>
                <a:cs typeface="Courier New" panose="02070309020205020404" pitchFamily="49" charset="0"/>
              </a:rPr>
              <a:t>data.php</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xhr.send</a:t>
            </a:r>
            <a:r>
              <a:rPr lang="en-GB" sz="1600" dirty="0">
                <a:latin typeface="Courier New" panose="02070309020205020404" pitchFamily="49" charset="0"/>
                <a:cs typeface="Courier New" panose="02070309020205020404" pitchFamily="49" charset="0"/>
              </a:rPr>
              <a:t>(</a:t>
            </a:r>
            <a:r>
              <a:rPr lang="en-GB" sz="1600" dirty="0">
                <a:solidFill>
                  <a:srgbClr val="008000"/>
                </a:solidFill>
                <a:latin typeface="Courier New" panose="02070309020205020404" pitchFamily="49" charset="0"/>
                <a:cs typeface="Courier New" panose="02070309020205020404" pitchFamily="49" charset="0"/>
              </a:rPr>
              <a:t>null</a:t>
            </a:r>
            <a:r>
              <a:rPr lang="en-GB" sz="1600" dirty="0" smtClean="0">
                <a:latin typeface="Courier New" panose="02070309020205020404" pitchFamily="49" charset="0"/>
                <a:cs typeface="Courier New" panose="02070309020205020404" pitchFamily="49" charset="0"/>
              </a:rPr>
              <a:t>);</a:t>
            </a:r>
          </a:p>
        </p:txBody>
      </p:sp>
      <p:sp>
        <p:nvSpPr>
          <p:cNvPr id="4" name="Slide Number Placeholder 3"/>
          <p:cNvSpPr>
            <a:spLocks noGrp="1"/>
          </p:cNvSpPr>
          <p:nvPr>
            <p:ph type="sldNum" sz="quarter" idx="12"/>
          </p:nvPr>
        </p:nvSpPr>
        <p:spPr/>
        <p:txBody>
          <a:bodyPr/>
          <a:lstStyle/>
          <a:p>
            <a:pPr>
              <a:defRPr/>
            </a:pPr>
            <a:fld id="{3FA1391E-90C5-4B3E-8AA2-EAC73E3BE8DE}" type="slidenum">
              <a:rPr lang="en-US" smtClean="0"/>
              <a:pPr>
                <a:defRPr/>
              </a:pPr>
              <a:t>187</a:t>
            </a:fld>
            <a:endParaRPr lang="en-US" dirty="0">
              <a:latin typeface="+mn-lt"/>
              <a:cs typeface="+mn-cs"/>
            </a:endParaRPr>
          </a:p>
        </p:txBody>
      </p:sp>
    </p:spTree>
    <p:extLst>
      <p:ext uri="{BB962C8B-B14F-4D97-AF65-F5344CB8AC3E}">
        <p14:creationId xmlns:p14="http://schemas.microsoft.com/office/powerpoint/2010/main" val="1014807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188</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PHP script to service the </a:t>
            </a:r>
            <a:r>
              <a:rPr lang="en-US" altLang="en-US" sz="3600" b="1" dirty="0" err="1" smtClean="0">
                <a:latin typeface="Arial" pitchFamily="34" charset="0"/>
                <a:ea typeface="ＭＳ Ｐゴシック" pitchFamily="34" charset="-128"/>
                <a:cs typeface="Arial" pitchFamily="34" charset="0"/>
                <a:sym typeface="Arial" pitchFamily="34" charset="0"/>
              </a:rPr>
              <a:t>req</a:t>
            </a:r>
            <a:endParaRPr lang="en-GB" sz="3600" b="0" dirty="0"/>
          </a:p>
        </p:txBody>
      </p:sp>
      <p:sp>
        <p:nvSpPr>
          <p:cNvPr id="4" name="Rectangle 2"/>
          <p:cNvSpPr txBox="1">
            <a:spLocks noChangeArrowheads="1"/>
          </p:cNvSpPr>
          <p:nvPr/>
        </p:nvSpPr>
        <p:spPr>
          <a:xfrm>
            <a:off x="467544" y="1125538"/>
            <a:ext cx="8425631" cy="5572125"/>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lgn="just">
              <a:spcBef>
                <a:spcPts val="400"/>
              </a:spcBef>
              <a:buClr>
                <a:schemeClr val="accent1"/>
              </a:buClr>
              <a:buFont typeface="Arial" panose="020B0604020202020204" pitchFamily="34" charset="0"/>
              <a:buChar char="•"/>
              <a:defRPr/>
            </a:pPr>
            <a:r>
              <a:rPr lang="en-US" sz="2000" b="0" dirty="0" smtClean="0">
                <a:latin typeface="Arial" charset="0"/>
                <a:cs typeface="Arial" charset="0"/>
                <a:sym typeface="Arial" charset="0"/>
              </a:rPr>
              <a:t>The </a:t>
            </a:r>
            <a:r>
              <a:rPr lang="en-GB" sz="2000" dirty="0" smtClean="0">
                <a:solidFill>
                  <a:srgbClr val="BA2121"/>
                </a:solidFill>
                <a:latin typeface="Courier New" panose="02070309020205020404" pitchFamily="49" charset="0"/>
                <a:cs typeface="Courier New" panose="02070309020205020404" pitchFamily="49" charset="0"/>
              </a:rPr>
              <a:t>send-</a:t>
            </a:r>
            <a:r>
              <a:rPr lang="en-GB" sz="2000" dirty="0" err="1" smtClean="0">
                <a:solidFill>
                  <a:srgbClr val="BA2121"/>
                </a:solidFill>
                <a:latin typeface="Courier New" panose="02070309020205020404" pitchFamily="49" charset="0"/>
                <a:cs typeface="Courier New" panose="02070309020205020404" pitchFamily="49" charset="0"/>
              </a:rPr>
              <a:t>ajax</a:t>
            </a:r>
            <a:r>
              <a:rPr lang="en-GB" sz="2000" dirty="0" smtClean="0">
                <a:solidFill>
                  <a:srgbClr val="BA2121"/>
                </a:solidFill>
                <a:latin typeface="Courier New" panose="02070309020205020404" pitchFamily="49" charset="0"/>
                <a:cs typeface="Courier New" panose="02070309020205020404" pitchFamily="49" charset="0"/>
              </a:rPr>
              <a:t>-</a:t>
            </a:r>
            <a:r>
              <a:rPr lang="en-GB" sz="2000" dirty="0" err="1" smtClean="0">
                <a:solidFill>
                  <a:srgbClr val="BA2121"/>
                </a:solidFill>
                <a:latin typeface="Courier New" panose="02070309020205020404" pitchFamily="49" charset="0"/>
                <a:cs typeface="Courier New" panose="02070309020205020404" pitchFamily="49" charset="0"/>
              </a:rPr>
              <a:t>data.php</a:t>
            </a:r>
            <a:r>
              <a:rPr lang="en-GB" sz="2000" dirty="0" smtClean="0">
                <a:solidFill>
                  <a:srgbClr val="BA2121"/>
                </a:solidFill>
                <a:latin typeface="Courier New" panose="02070309020205020404" pitchFamily="49" charset="0"/>
                <a:cs typeface="Courier New" panose="02070309020205020404" pitchFamily="49" charset="0"/>
              </a:rPr>
              <a:t> </a:t>
            </a:r>
            <a:r>
              <a:rPr lang="en-GB" sz="2000" b="0" dirty="0">
                <a:latin typeface="Arial" charset="0"/>
                <a:cs typeface="Arial" charset="0"/>
              </a:rPr>
              <a:t>script sends data back from the server. This example just sends a string back.</a:t>
            </a:r>
          </a:p>
          <a:p>
            <a:pPr marL="342900" indent="-342900" algn="just">
              <a:spcBef>
                <a:spcPts val="400"/>
              </a:spcBef>
              <a:buClr>
                <a:schemeClr val="accent1"/>
              </a:buClr>
              <a:buFont typeface="Arial" panose="020B0604020202020204" pitchFamily="34" charset="0"/>
              <a:buChar char="•"/>
              <a:defRPr/>
            </a:pPr>
            <a:endParaRPr lang="en-GB" sz="1400" b="0" dirty="0">
              <a:latin typeface="Arial" charset="0"/>
              <a:cs typeface="Arial" charset="0"/>
            </a:endParaRPr>
          </a:p>
          <a:p>
            <a:pPr marL="0" indent="0">
              <a:spcBef>
                <a:spcPts val="400"/>
              </a:spcBef>
              <a:buClr>
                <a:schemeClr val="accent1"/>
              </a:buClr>
              <a:defRPr/>
            </a:pPr>
            <a:r>
              <a:rPr lang="en-GB" sz="2000" dirty="0">
                <a:solidFill>
                  <a:srgbClr val="BC7A00"/>
                </a:solidFill>
                <a:latin typeface="Courier New" panose="02070309020205020404" pitchFamily="49" charset="0"/>
                <a:cs typeface="Courier New" panose="02070309020205020404" pitchFamily="49" charset="0"/>
              </a:rPr>
              <a:t>&lt;?</a:t>
            </a:r>
            <a:r>
              <a:rPr lang="en-GB" sz="2000" dirty="0" err="1">
                <a:solidFill>
                  <a:srgbClr val="BC7A00"/>
                </a:solidFill>
                <a:latin typeface="Courier New" panose="02070309020205020404" pitchFamily="49" charset="0"/>
                <a:cs typeface="Courier New" panose="02070309020205020404" pitchFamily="49" charset="0"/>
              </a:rPr>
              <a:t>php</a:t>
            </a:r>
            <a:r>
              <a:rPr lang="en-GB" sz="2000" dirty="0">
                <a:latin typeface="Courier New" panose="02070309020205020404" pitchFamily="49" charset="0"/>
                <a:cs typeface="Courier New" panose="02070309020205020404" pitchFamily="49" charset="0"/>
              </a:rPr>
              <a:t> </a:t>
            </a:r>
            <a:r>
              <a:rPr lang="en-GB" sz="2000" dirty="0" smtClean="0">
                <a:latin typeface="Courier New" panose="02070309020205020404" pitchFamily="49" charset="0"/>
                <a:cs typeface="Courier New" panose="02070309020205020404" pitchFamily="49" charset="0"/>
              </a:rPr>
              <a:t/>
            </a:r>
            <a:br>
              <a:rPr lang="en-GB" sz="2000" dirty="0" smtClean="0">
                <a:latin typeface="Courier New" panose="02070309020205020404" pitchFamily="49" charset="0"/>
                <a:cs typeface="Courier New" panose="02070309020205020404" pitchFamily="49" charset="0"/>
              </a:rPr>
            </a:br>
            <a:r>
              <a:rPr lang="en-GB" sz="2000" i="1" dirty="0" smtClean="0">
                <a:solidFill>
                  <a:srgbClr val="408080"/>
                </a:solidFill>
                <a:latin typeface="Courier New" panose="02070309020205020404" pitchFamily="49" charset="0"/>
                <a:cs typeface="Courier New" panose="02070309020205020404" pitchFamily="49" charset="0"/>
              </a:rPr>
              <a:t>// </a:t>
            </a:r>
            <a:r>
              <a:rPr lang="en-GB" sz="2000" i="1" dirty="0">
                <a:solidFill>
                  <a:srgbClr val="408080"/>
                </a:solidFill>
                <a:latin typeface="Courier New" panose="02070309020205020404" pitchFamily="49" charset="0"/>
                <a:cs typeface="Courier New" panose="02070309020205020404" pitchFamily="49" charset="0"/>
              </a:rPr>
              <a:t>This is the server-side script.</a:t>
            </a:r>
            <a:r>
              <a:rPr lang="en-GB" sz="2000" dirty="0">
                <a:latin typeface="Courier New" panose="02070309020205020404" pitchFamily="49" charset="0"/>
                <a:cs typeface="Courier New" panose="02070309020205020404" pitchFamily="49" charset="0"/>
              </a:rPr>
              <a:t> </a:t>
            </a:r>
            <a:r>
              <a:rPr lang="en-GB" sz="2000" dirty="0" smtClean="0">
                <a:latin typeface="Courier New" panose="02070309020205020404" pitchFamily="49" charset="0"/>
                <a:cs typeface="Courier New" panose="02070309020205020404" pitchFamily="49" charset="0"/>
              </a:rPr>
              <a:t/>
            </a:r>
            <a:br>
              <a:rPr lang="en-GB" sz="2000" dirty="0" smtClean="0">
                <a:latin typeface="Courier New" panose="02070309020205020404" pitchFamily="49" charset="0"/>
                <a:cs typeface="Courier New" panose="02070309020205020404" pitchFamily="49" charset="0"/>
              </a:rPr>
            </a:br>
            <a:r>
              <a:rPr lang="en-GB" sz="2000" i="1" dirty="0" smtClean="0">
                <a:solidFill>
                  <a:srgbClr val="408080"/>
                </a:solidFill>
                <a:latin typeface="Courier New" panose="02070309020205020404" pitchFamily="49" charset="0"/>
                <a:cs typeface="Courier New" panose="02070309020205020404" pitchFamily="49" charset="0"/>
              </a:rPr>
              <a:t>// </a:t>
            </a:r>
            <a:r>
              <a:rPr lang="en-GB" sz="2000" i="1" dirty="0">
                <a:solidFill>
                  <a:srgbClr val="408080"/>
                </a:solidFill>
                <a:latin typeface="Courier New" panose="02070309020205020404" pitchFamily="49" charset="0"/>
                <a:cs typeface="Courier New" panose="02070309020205020404" pitchFamily="49" charset="0"/>
              </a:rPr>
              <a:t>Set the content type.</a:t>
            </a:r>
            <a:r>
              <a:rPr lang="en-GB" sz="2000" dirty="0">
                <a:latin typeface="Courier New" panose="02070309020205020404" pitchFamily="49" charset="0"/>
                <a:cs typeface="Courier New" panose="02070309020205020404" pitchFamily="49" charset="0"/>
              </a:rPr>
              <a:t> </a:t>
            </a:r>
            <a:r>
              <a:rPr lang="en-GB" sz="2000" dirty="0" smtClean="0">
                <a:latin typeface="Courier New" panose="02070309020205020404" pitchFamily="49" charset="0"/>
                <a:cs typeface="Courier New" panose="02070309020205020404" pitchFamily="49" charset="0"/>
              </a:rPr>
              <a:t/>
            </a:r>
            <a:br>
              <a:rPr lang="en-GB" sz="2000" dirty="0" smtClean="0">
                <a:latin typeface="Courier New" panose="02070309020205020404" pitchFamily="49" charset="0"/>
                <a:cs typeface="Courier New" panose="02070309020205020404" pitchFamily="49" charset="0"/>
              </a:rPr>
            </a:br>
            <a:r>
              <a:rPr lang="en-GB" sz="2000" dirty="0" smtClean="0">
                <a:solidFill>
                  <a:srgbClr val="008000"/>
                </a:solidFill>
                <a:latin typeface="Courier New" panose="02070309020205020404" pitchFamily="49" charset="0"/>
                <a:cs typeface="Courier New" panose="02070309020205020404" pitchFamily="49" charset="0"/>
              </a:rPr>
              <a:t>header</a:t>
            </a:r>
            <a:r>
              <a:rPr lang="en-GB" sz="2000" dirty="0">
                <a:latin typeface="Courier New" panose="02070309020205020404" pitchFamily="49" charset="0"/>
                <a:cs typeface="Courier New" panose="02070309020205020404" pitchFamily="49" charset="0"/>
              </a:rPr>
              <a:t>(</a:t>
            </a:r>
            <a:r>
              <a:rPr lang="en-GB" sz="2000" dirty="0">
                <a:solidFill>
                  <a:srgbClr val="BA2121"/>
                </a:solidFill>
                <a:latin typeface="Courier New" panose="02070309020205020404" pitchFamily="49" charset="0"/>
                <a:cs typeface="Courier New" panose="02070309020205020404" pitchFamily="49" charset="0"/>
              </a:rPr>
              <a:t>'Content-Type: text/plain'</a:t>
            </a:r>
            <a:r>
              <a:rPr lang="en-GB" sz="2000" dirty="0">
                <a:latin typeface="Courier New" panose="02070309020205020404" pitchFamily="49" charset="0"/>
                <a:cs typeface="Courier New" panose="02070309020205020404" pitchFamily="49" charset="0"/>
              </a:rPr>
              <a:t>); </a:t>
            </a:r>
            <a:r>
              <a:rPr lang="en-GB" sz="2000" dirty="0" smtClean="0">
                <a:latin typeface="Courier New" panose="02070309020205020404" pitchFamily="49" charset="0"/>
                <a:cs typeface="Courier New" panose="02070309020205020404" pitchFamily="49" charset="0"/>
              </a:rPr>
              <a:t/>
            </a:r>
            <a:br>
              <a:rPr lang="en-GB" sz="2000" dirty="0" smtClean="0">
                <a:latin typeface="Courier New" panose="02070309020205020404" pitchFamily="49" charset="0"/>
                <a:cs typeface="Courier New" panose="02070309020205020404" pitchFamily="49" charset="0"/>
              </a:rPr>
            </a:br>
            <a:r>
              <a:rPr lang="en-GB" sz="2000" i="1" dirty="0" smtClean="0">
                <a:solidFill>
                  <a:srgbClr val="408080"/>
                </a:solidFill>
                <a:latin typeface="Courier New" panose="02070309020205020404" pitchFamily="49" charset="0"/>
                <a:cs typeface="Courier New" panose="02070309020205020404" pitchFamily="49" charset="0"/>
              </a:rPr>
              <a:t>// </a:t>
            </a:r>
            <a:r>
              <a:rPr lang="en-GB" sz="2000" i="1" dirty="0">
                <a:solidFill>
                  <a:srgbClr val="408080"/>
                </a:solidFill>
                <a:latin typeface="Courier New" panose="02070309020205020404" pitchFamily="49" charset="0"/>
                <a:cs typeface="Courier New" panose="02070309020205020404" pitchFamily="49" charset="0"/>
              </a:rPr>
              <a:t>Send the data back.</a:t>
            </a:r>
            <a:r>
              <a:rPr lang="en-GB" sz="2000" dirty="0">
                <a:latin typeface="Courier New" panose="02070309020205020404" pitchFamily="49" charset="0"/>
                <a:cs typeface="Courier New" panose="02070309020205020404" pitchFamily="49" charset="0"/>
              </a:rPr>
              <a:t> </a:t>
            </a:r>
            <a:r>
              <a:rPr lang="en-GB" sz="2000" dirty="0" smtClean="0">
                <a:latin typeface="Courier New" panose="02070309020205020404" pitchFamily="49" charset="0"/>
                <a:cs typeface="Courier New" panose="02070309020205020404" pitchFamily="49" charset="0"/>
              </a:rPr>
              <a:t/>
            </a:r>
            <a:br>
              <a:rPr lang="en-GB" sz="2000" dirty="0" smtClean="0">
                <a:latin typeface="Courier New" panose="02070309020205020404" pitchFamily="49" charset="0"/>
                <a:cs typeface="Courier New" panose="02070309020205020404" pitchFamily="49" charset="0"/>
              </a:rPr>
            </a:br>
            <a:r>
              <a:rPr lang="en-GB" sz="2000" dirty="0" smtClean="0">
                <a:solidFill>
                  <a:srgbClr val="008000"/>
                </a:solidFill>
                <a:latin typeface="Courier New" panose="02070309020205020404" pitchFamily="49" charset="0"/>
                <a:cs typeface="Courier New" panose="02070309020205020404" pitchFamily="49" charset="0"/>
              </a:rPr>
              <a:t>echo</a:t>
            </a:r>
            <a:r>
              <a:rPr lang="en-GB" sz="2000" dirty="0" smtClean="0">
                <a:latin typeface="Courier New" panose="02070309020205020404" pitchFamily="49" charset="0"/>
                <a:cs typeface="Courier New" panose="02070309020205020404" pitchFamily="49" charset="0"/>
              </a:rPr>
              <a:t> </a:t>
            </a:r>
            <a:r>
              <a:rPr lang="en-GB" sz="2000" dirty="0">
                <a:solidFill>
                  <a:srgbClr val="BA2121"/>
                </a:solidFill>
                <a:latin typeface="Courier New" panose="02070309020205020404" pitchFamily="49" charset="0"/>
                <a:cs typeface="Courier New" panose="02070309020205020404" pitchFamily="49" charset="0"/>
              </a:rPr>
              <a:t>"This is the output."</a:t>
            </a:r>
            <a:r>
              <a:rPr lang="en-GB" sz="2000" dirty="0">
                <a:latin typeface="Courier New" panose="02070309020205020404" pitchFamily="49" charset="0"/>
                <a:cs typeface="Courier New" panose="02070309020205020404" pitchFamily="49" charset="0"/>
              </a:rPr>
              <a:t>; </a:t>
            </a:r>
            <a:r>
              <a:rPr lang="en-GB" sz="2000" dirty="0" smtClean="0">
                <a:latin typeface="Courier New" panose="02070309020205020404" pitchFamily="49" charset="0"/>
                <a:cs typeface="Courier New" panose="02070309020205020404" pitchFamily="49" charset="0"/>
              </a:rPr>
              <a:t/>
            </a:r>
            <a:br>
              <a:rPr lang="en-GB" sz="2000" dirty="0" smtClean="0">
                <a:latin typeface="Courier New" panose="02070309020205020404" pitchFamily="49" charset="0"/>
                <a:cs typeface="Courier New" panose="02070309020205020404" pitchFamily="49" charset="0"/>
              </a:rPr>
            </a:br>
            <a:r>
              <a:rPr lang="en-GB" sz="2000" dirty="0" smtClean="0">
                <a:solidFill>
                  <a:srgbClr val="BC7A00"/>
                </a:solidFill>
                <a:latin typeface="Courier New" panose="02070309020205020404" pitchFamily="49" charset="0"/>
                <a:cs typeface="Courier New" panose="02070309020205020404" pitchFamily="49" charset="0"/>
              </a:rPr>
              <a:t>?&gt;</a:t>
            </a:r>
          </a:p>
          <a:p>
            <a:pPr marL="0" indent="0">
              <a:spcBef>
                <a:spcPts val="400"/>
              </a:spcBef>
              <a:buClr>
                <a:schemeClr val="accent1"/>
              </a:buClr>
              <a:defRPr/>
            </a:pPr>
            <a:endParaRPr lang="en-GB" sz="1600" b="0" dirty="0">
              <a:solidFill>
                <a:srgbClr val="BC7A00"/>
              </a:solidFill>
              <a:latin typeface="Courier New" panose="02070309020205020404" pitchFamily="49" charset="0"/>
              <a:cs typeface="Courier New" panose="02070309020205020404" pitchFamily="49" charset="0"/>
            </a:endParaRPr>
          </a:p>
          <a:p>
            <a:pPr marL="342900" indent="-342900">
              <a:spcBef>
                <a:spcPts val="400"/>
              </a:spcBef>
              <a:buClr>
                <a:schemeClr val="accent1"/>
              </a:buClr>
              <a:buFont typeface="Arial" panose="020B0604020202020204" pitchFamily="34" charset="0"/>
              <a:buChar char="•"/>
              <a:defRPr/>
            </a:pPr>
            <a:r>
              <a:rPr lang="en-GB" sz="2000" dirty="0" err="1" smtClean="0">
                <a:latin typeface="Courier New" panose="02070309020205020404" pitchFamily="49" charset="0"/>
                <a:cs typeface="Courier New" panose="02070309020205020404" pitchFamily="49" charset="0"/>
              </a:rPr>
              <a:t>xhr.responseText</a:t>
            </a:r>
            <a:r>
              <a:rPr lang="en-GB" sz="2000" dirty="0" smtClean="0">
                <a:latin typeface="Courier New" panose="02070309020205020404" pitchFamily="49" charset="0"/>
                <a:cs typeface="Courier New" panose="02070309020205020404" pitchFamily="49" charset="0"/>
              </a:rPr>
              <a:t> </a:t>
            </a:r>
            <a:r>
              <a:rPr lang="en-GB" sz="2000" b="0" dirty="0">
                <a:latin typeface="Arial" charset="0"/>
                <a:cs typeface="Arial" charset="0"/>
              </a:rPr>
              <a:t>in the </a:t>
            </a:r>
            <a:r>
              <a:rPr lang="en-GB" sz="2000" b="0" dirty="0" err="1">
                <a:latin typeface="Arial" charset="0"/>
                <a:cs typeface="Arial" charset="0"/>
              </a:rPr>
              <a:t>JavaSctipt</a:t>
            </a:r>
            <a:r>
              <a:rPr lang="en-GB" sz="2000" b="0" dirty="0">
                <a:latin typeface="Arial" charset="0"/>
                <a:cs typeface="Arial" charset="0"/>
              </a:rPr>
              <a:t> holds the returned server string value and this can be inserted into the DOM of the page</a:t>
            </a:r>
            <a:r>
              <a:rPr lang="en-GB" sz="2000" b="0" dirty="0" smtClean="0">
                <a:latin typeface="Arial" charset="0"/>
                <a:cs typeface="Arial" charset="0"/>
              </a:rPr>
              <a:t>.</a:t>
            </a:r>
          </a:p>
          <a:p>
            <a:pPr marL="171450" indent="-171450">
              <a:spcBef>
                <a:spcPts val="400"/>
              </a:spcBef>
              <a:buClr>
                <a:schemeClr val="accent1"/>
              </a:buClr>
              <a:buFont typeface="Arial" panose="020B0604020202020204" pitchFamily="34" charset="0"/>
              <a:buChar char="•"/>
              <a:defRPr/>
            </a:pPr>
            <a:endParaRPr lang="en-GB" sz="1100" b="0" dirty="0">
              <a:latin typeface="Arial" charset="0"/>
              <a:cs typeface="Arial" charset="0"/>
            </a:endParaRPr>
          </a:p>
          <a:p>
            <a:pPr marL="342900" indent="-342900">
              <a:spcBef>
                <a:spcPts val="400"/>
              </a:spcBef>
              <a:buClr>
                <a:schemeClr val="accent1"/>
              </a:buClr>
              <a:buFont typeface="Arial" panose="020B0604020202020204" pitchFamily="34" charset="0"/>
              <a:buChar char="•"/>
              <a:defRPr/>
            </a:pPr>
            <a:r>
              <a:rPr lang="en-GB" sz="2000" b="0" dirty="0" smtClean="0">
                <a:latin typeface="Arial" charset="0"/>
                <a:cs typeface="Arial" charset="0"/>
              </a:rPr>
              <a:t>The client UI via JavaScript can be made to trigger server calls like then when necessary to update part of the page without a complete page reload.</a:t>
            </a:r>
            <a:endParaRPr lang="en-GB" sz="2000" b="0" dirty="0">
              <a:latin typeface="Arial" charset="0"/>
              <a:cs typeface="Arial" charset="0"/>
            </a:endParaRPr>
          </a:p>
          <a:p>
            <a:pPr marL="342900" indent="-342900" algn="just">
              <a:spcBef>
                <a:spcPts val="400"/>
              </a:spcBef>
              <a:buClr>
                <a:schemeClr val="accent1"/>
              </a:buClr>
              <a:buFont typeface="Arial" panose="020B0604020202020204" pitchFamily="34" charset="0"/>
              <a:buChar char="•"/>
              <a:defRPr/>
            </a:pPr>
            <a:endParaRPr lang="en-US" sz="2000" b="0" dirty="0">
              <a:latin typeface="Arial" charset="0"/>
              <a:cs typeface="Arial" charset="0"/>
              <a:sym typeface="Arial" charset="0"/>
            </a:endParaRPr>
          </a:p>
          <a:p>
            <a:pPr marL="0" indent="0" algn="just">
              <a:spcBef>
                <a:spcPts val="400"/>
              </a:spcBef>
              <a:buClr>
                <a:schemeClr val="accent1"/>
              </a:buClr>
              <a:defRPr/>
            </a:pPr>
            <a:endParaRPr lang="en-GB" sz="2000" b="0" dirty="0">
              <a:latin typeface="Courier New" panose="02070309020205020404" pitchFamily="49" charset="0"/>
              <a:cs typeface="Courier New" panose="02070309020205020404" pitchFamily="49" charset="0"/>
              <a:sym typeface="Arial" charset="0"/>
            </a:endParaRPr>
          </a:p>
          <a:p>
            <a:pPr marL="0" indent="0" algn="just">
              <a:spcBef>
                <a:spcPts val="400"/>
              </a:spcBef>
              <a:buClr>
                <a:schemeClr val="accent1"/>
              </a:buClr>
              <a:defRPr/>
            </a:pPr>
            <a:endParaRPr lang="en-US" sz="2000" b="0" dirty="0" smtClean="0">
              <a:latin typeface="Courier New" panose="02070309020205020404" pitchFamily="49" charset="0"/>
              <a:cs typeface="Courier New" panose="02070309020205020404" pitchFamily="49" charset="0"/>
              <a:sym typeface="Arial" charset="0"/>
            </a:endParaRPr>
          </a:p>
        </p:txBody>
      </p:sp>
    </p:spTree>
    <p:extLst>
      <p:ext uri="{BB962C8B-B14F-4D97-AF65-F5344CB8AC3E}">
        <p14:creationId xmlns:p14="http://schemas.microsoft.com/office/powerpoint/2010/main" val="2528544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189</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15.1</a:t>
            </a:r>
            <a:endParaRPr lang="en-GB" sz="3600" b="0" dirty="0"/>
          </a:p>
        </p:txBody>
      </p:sp>
      <p:sp>
        <p:nvSpPr>
          <p:cNvPr id="4" name="Rectangle 2"/>
          <p:cNvSpPr txBox="1">
            <a:spLocks noChangeArrowheads="1"/>
          </p:cNvSpPr>
          <p:nvPr/>
        </p:nvSpPr>
        <p:spPr>
          <a:xfrm>
            <a:off x="467544" y="1125539"/>
            <a:ext cx="8425631" cy="2519486"/>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lgn="just">
              <a:spcBef>
                <a:spcPts val="400"/>
              </a:spcBef>
              <a:buClr>
                <a:schemeClr val="accent1"/>
              </a:buClr>
              <a:buFont typeface="Arial" panose="020B0604020202020204" pitchFamily="34" charset="0"/>
              <a:buChar char="•"/>
              <a:defRPr/>
            </a:pPr>
            <a:r>
              <a:rPr lang="en-GB" sz="2000" b="0" dirty="0" smtClean="0">
                <a:latin typeface="Arial" charset="0"/>
                <a:cs typeface="Arial" charset="0"/>
                <a:sym typeface="Arial" charset="0"/>
              </a:rPr>
              <a:t>Create an HTML page with the AJAX code on slides 186 and 187 in a &lt;script&gt; element and the PHP server code on slide 188 in a .</a:t>
            </a:r>
            <a:r>
              <a:rPr lang="en-GB" sz="2000" b="0" dirty="0" err="1" smtClean="0">
                <a:latin typeface="Arial" charset="0"/>
                <a:cs typeface="Arial" charset="0"/>
                <a:sym typeface="Arial" charset="0"/>
              </a:rPr>
              <a:t>php</a:t>
            </a:r>
            <a:r>
              <a:rPr lang="en-GB" sz="2000" b="0" dirty="0" smtClean="0">
                <a:latin typeface="Arial" charset="0"/>
                <a:cs typeface="Arial" charset="0"/>
                <a:sym typeface="Arial" charset="0"/>
              </a:rPr>
              <a:t> file in </a:t>
            </a:r>
            <a:r>
              <a:rPr lang="en-GB" sz="2000" b="0" dirty="0" err="1" smtClean="0">
                <a:latin typeface="Arial" charset="0"/>
                <a:cs typeface="Arial" charset="0"/>
                <a:sym typeface="Arial" charset="0"/>
              </a:rPr>
              <a:t>PHPStorm</a:t>
            </a:r>
            <a:r>
              <a:rPr lang="en-GB" sz="2000" b="0" dirty="0" smtClean="0">
                <a:latin typeface="Arial" charset="0"/>
                <a:cs typeface="Arial" charset="0"/>
                <a:sym typeface="Arial" charset="0"/>
              </a:rPr>
              <a:t>.</a:t>
            </a:r>
          </a:p>
          <a:p>
            <a:pPr marL="342900" indent="-342900" algn="just">
              <a:spcBef>
                <a:spcPts val="400"/>
              </a:spcBef>
              <a:buClr>
                <a:schemeClr val="accent1"/>
              </a:buClr>
              <a:buFont typeface="Arial" panose="020B0604020202020204" pitchFamily="34" charset="0"/>
              <a:buChar char="•"/>
              <a:defRPr/>
            </a:pPr>
            <a:endParaRPr lang="en-GB" sz="20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r>
              <a:rPr lang="en-GB" sz="2000" b="0" dirty="0" smtClean="0">
                <a:latin typeface="Arial" charset="0"/>
                <a:cs typeface="Arial" charset="0"/>
                <a:sym typeface="Arial" charset="0"/>
              </a:rPr>
              <a:t>Load the page in Chrome and check the </a:t>
            </a:r>
            <a:r>
              <a:rPr lang="en-GB" sz="2000" dirty="0">
                <a:latin typeface="Arial" charset="0"/>
                <a:cs typeface="Arial" charset="0"/>
                <a:sym typeface="Arial" charset="0"/>
              </a:rPr>
              <a:t>C</a:t>
            </a:r>
            <a:r>
              <a:rPr lang="en-GB" sz="2000" dirty="0" smtClean="0">
                <a:latin typeface="Arial" charset="0"/>
                <a:cs typeface="Arial" charset="0"/>
                <a:sym typeface="Arial" charset="0"/>
              </a:rPr>
              <a:t>onsole</a:t>
            </a:r>
            <a:r>
              <a:rPr lang="en-GB" sz="2000" b="0" dirty="0" smtClean="0">
                <a:latin typeface="Arial" charset="0"/>
                <a:cs typeface="Arial" charset="0"/>
                <a:sym typeface="Arial" charset="0"/>
              </a:rPr>
              <a:t> via the inspector to see that output string </a:t>
            </a:r>
            <a:r>
              <a:rPr lang="en-GB" sz="2000" dirty="0" smtClean="0">
                <a:solidFill>
                  <a:srgbClr val="BA2121"/>
                </a:solidFill>
                <a:latin typeface="Courier New" panose="02070309020205020404" pitchFamily="49" charset="0"/>
                <a:cs typeface="Courier New" panose="02070309020205020404" pitchFamily="49" charset="0"/>
              </a:rPr>
              <a:t>”This </a:t>
            </a:r>
            <a:r>
              <a:rPr lang="en-GB" sz="2000" dirty="0">
                <a:solidFill>
                  <a:srgbClr val="BA2121"/>
                </a:solidFill>
                <a:latin typeface="Courier New" panose="02070309020205020404" pitchFamily="49" charset="0"/>
                <a:cs typeface="Courier New" panose="02070309020205020404" pitchFamily="49" charset="0"/>
              </a:rPr>
              <a:t>is the output</a:t>
            </a:r>
            <a:r>
              <a:rPr lang="en-GB" sz="2000" dirty="0" smtClean="0">
                <a:solidFill>
                  <a:srgbClr val="BA2121"/>
                </a:solidFill>
                <a:latin typeface="Courier New" panose="02070309020205020404" pitchFamily="49" charset="0"/>
                <a:cs typeface="Courier New" panose="02070309020205020404" pitchFamily="49" charset="0"/>
              </a:rPr>
              <a:t>.” </a:t>
            </a:r>
            <a:r>
              <a:rPr lang="en-GB" sz="2000" b="0" dirty="0">
                <a:latin typeface="Arial" charset="0"/>
                <a:cs typeface="Arial" charset="0"/>
              </a:rPr>
              <a:t>appears</a:t>
            </a:r>
          </a:p>
          <a:p>
            <a:pPr marL="342900" indent="-342900" algn="just">
              <a:spcBef>
                <a:spcPts val="400"/>
              </a:spcBef>
              <a:buClr>
                <a:schemeClr val="accent1"/>
              </a:buClr>
              <a:buFont typeface="Arial" panose="020B0604020202020204" pitchFamily="34" charset="0"/>
              <a:buChar char="•"/>
              <a:defRPr/>
            </a:pPr>
            <a:endParaRPr lang="en-US" sz="2000" b="0" dirty="0">
              <a:latin typeface="Arial" charset="0"/>
              <a:cs typeface="Arial" charset="0"/>
              <a:sym typeface="Arial" charset="0"/>
            </a:endParaRPr>
          </a:p>
          <a:p>
            <a:pPr marL="0" indent="0" algn="just">
              <a:spcBef>
                <a:spcPts val="400"/>
              </a:spcBef>
              <a:buClr>
                <a:schemeClr val="accent1"/>
              </a:buClr>
              <a:defRPr/>
            </a:pPr>
            <a:endParaRPr lang="en-GB" sz="2000" b="0" dirty="0">
              <a:latin typeface="Courier New" panose="02070309020205020404" pitchFamily="49" charset="0"/>
              <a:cs typeface="Courier New" panose="02070309020205020404" pitchFamily="49" charset="0"/>
              <a:sym typeface="Arial" charset="0"/>
            </a:endParaRPr>
          </a:p>
          <a:p>
            <a:pPr marL="0" indent="0" algn="just">
              <a:spcBef>
                <a:spcPts val="400"/>
              </a:spcBef>
              <a:buClr>
                <a:schemeClr val="accent1"/>
              </a:buClr>
              <a:defRPr/>
            </a:pPr>
            <a:endParaRPr lang="en-US" sz="2000" b="0" dirty="0" smtClean="0">
              <a:latin typeface="Courier New" panose="02070309020205020404" pitchFamily="49" charset="0"/>
              <a:cs typeface="Courier New" panose="02070309020205020404" pitchFamily="49" charset="0"/>
              <a:sym typeface="Arial" charset="0"/>
            </a:endParaRPr>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3558" r="56363" b="8572"/>
          <a:stretch/>
        </p:blipFill>
        <p:spPr bwMode="auto">
          <a:xfrm>
            <a:off x="971600" y="4077072"/>
            <a:ext cx="7814821"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flipH="1">
            <a:off x="3059832" y="3140968"/>
            <a:ext cx="1296144" cy="100811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5889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190</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15.2</a:t>
            </a:r>
            <a:endParaRPr lang="en-GB" sz="3600" b="0" dirty="0"/>
          </a:p>
        </p:txBody>
      </p:sp>
      <p:sp>
        <p:nvSpPr>
          <p:cNvPr id="4" name="Rectangle 2"/>
          <p:cNvSpPr txBox="1">
            <a:spLocks noChangeArrowheads="1"/>
          </p:cNvSpPr>
          <p:nvPr/>
        </p:nvSpPr>
        <p:spPr>
          <a:xfrm>
            <a:off x="467544" y="1125539"/>
            <a:ext cx="8425631" cy="3311573"/>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lgn="just">
              <a:spcBef>
                <a:spcPts val="400"/>
              </a:spcBef>
              <a:buClr>
                <a:schemeClr val="accent1"/>
              </a:buClr>
              <a:buFont typeface="Arial" panose="020B0604020202020204" pitchFamily="34" charset="0"/>
              <a:buChar char="•"/>
              <a:defRPr/>
            </a:pPr>
            <a:r>
              <a:rPr lang="en-GB" sz="2000" b="0" dirty="0" smtClean="0">
                <a:latin typeface="Arial" charset="0"/>
                <a:cs typeface="Arial" charset="0"/>
                <a:sym typeface="Arial" charset="0"/>
              </a:rPr>
              <a:t>The </a:t>
            </a:r>
            <a:r>
              <a:rPr lang="en-GB" sz="2000" b="0" dirty="0" smtClean="0">
                <a:latin typeface="Arial" charset="0"/>
                <a:cs typeface="Arial" charset="0"/>
                <a:sym typeface="Arial" charset="0"/>
              </a:rPr>
              <a:t>simple example in 15.1 executes the </a:t>
            </a:r>
            <a:r>
              <a:rPr lang="en-GB" sz="2000" b="0" dirty="0" err="1" smtClean="0">
                <a:latin typeface="Arial" charset="0"/>
                <a:cs typeface="Arial" charset="0"/>
                <a:sym typeface="Arial" charset="0"/>
              </a:rPr>
              <a:t>XMLHttpRequest</a:t>
            </a:r>
            <a:r>
              <a:rPr lang="en-GB" sz="2000" b="0" dirty="0" smtClean="0">
                <a:latin typeface="Arial" charset="0"/>
                <a:cs typeface="Arial" charset="0"/>
                <a:sym typeface="Arial" charset="0"/>
              </a:rPr>
              <a:t> when the page is loaded but it is more realistic to execute the call on a UI event such as a button press or text input action.</a:t>
            </a:r>
          </a:p>
          <a:p>
            <a:pPr marL="342900" indent="-342900" algn="just">
              <a:spcBef>
                <a:spcPts val="400"/>
              </a:spcBef>
              <a:buClr>
                <a:schemeClr val="accent1"/>
              </a:buClr>
              <a:buFont typeface="Arial" panose="020B0604020202020204" pitchFamily="34" charset="0"/>
              <a:buChar char="•"/>
              <a:defRPr/>
            </a:pPr>
            <a:endParaRPr lang="en-GB" sz="11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r>
              <a:rPr lang="en-GB" sz="2000" b="0" dirty="0" smtClean="0">
                <a:latin typeface="Arial" charset="0"/>
                <a:cs typeface="Arial" charset="0"/>
                <a:sym typeface="Arial" charset="0"/>
              </a:rPr>
              <a:t>Add a text element (e.g. a &lt;p&gt;) and button to your webpage and modify the JavaScript code to wrap the </a:t>
            </a:r>
            <a:r>
              <a:rPr lang="en-GB" sz="2000" dirty="0" err="1">
                <a:latin typeface="Courier New" panose="02070309020205020404" pitchFamily="49" charset="0"/>
                <a:cs typeface="Courier New" panose="02070309020205020404" pitchFamily="49" charset="0"/>
              </a:rPr>
              <a:t>xhr.send</a:t>
            </a:r>
            <a:r>
              <a:rPr lang="en-GB" sz="2000" dirty="0">
                <a:latin typeface="Courier New" panose="02070309020205020404" pitchFamily="49" charset="0"/>
                <a:cs typeface="Courier New" panose="02070309020205020404" pitchFamily="49" charset="0"/>
              </a:rPr>
              <a:t>(</a:t>
            </a:r>
            <a:r>
              <a:rPr lang="en-GB" sz="2000" dirty="0">
                <a:solidFill>
                  <a:srgbClr val="008000"/>
                </a:solidFill>
                <a:latin typeface="Courier New" panose="02070309020205020404" pitchFamily="49" charset="0"/>
                <a:cs typeface="Courier New" panose="02070309020205020404" pitchFamily="49" charset="0"/>
              </a:rPr>
              <a:t>null</a:t>
            </a:r>
            <a:r>
              <a:rPr lang="en-GB" sz="2000" dirty="0" smtClean="0">
                <a:latin typeface="Courier New" panose="02070309020205020404" pitchFamily="49" charset="0"/>
                <a:cs typeface="Courier New" panose="02070309020205020404" pitchFamily="49" charset="0"/>
              </a:rPr>
              <a:t>); </a:t>
            </a:r>
            <a:r>
              <a:rPr lang="en-GB" sz="2000" b="0" dirty="0">
                <a:latin typeface="Arial" charset="0"/>
                <a:cs typeface="Arial" charset="0"/>
              </a:rPr>
              <a:t>call in a </a:t>
            </a:r>
            <a:r>
              <a:rPr lang="en-GB" sz="2000" dirty="0">
                <a:latin typeface="Arial" charset="0"/>
                <a:cs typeface="Arial" charset="0"/>
              </a:rPr>
              <a:t>function</a:t>
            </a:r>
            <a:r>
              <a:rPr lang="en-GB" sz="2000" b="0" dirty="0">
                <a:latin typeface="Arial" charset="0"/>
                <a:cs typeface="Arial" charset="0"/>
              </a:rPr>
              <a:t> that is called when the button is </a:t>
            </a:r>
            <a:r>
              <a:rPr lang="en-GB" sz="2000" b="0" dirty="0" smtClean="0">
                <a:latin typeface="Arial" charset="0"/>
                <a:cs typeface="Arial" charset="0"/>
              </a:rPr>
              <a:t>pressed – look back at your JavaScript workshops at event listeners. </a:t>
            </a:r>
            <a:r>
              <a:rPr lang="en-GB" sz="2000" b="0" dirty="0">
                <a:latin typeface="Arial" charset="0"/>
                <a:cs typeface="Arial" charset="0"/>
              </a:rPr>
              <a:t>You can keep the </a:t>
            </a:r>
            <a:r>
              <a:rPr lang="en-GB" sz="2000" b="0" dirty="0" err="1">
                <a:latin typeface="Arial" charset="0"/>
                <a:cs typeface="Arial" charset="0"/>
              </a:rPr>
              <a:t>xhr</a:t>
            </a:r>
            <a:r>
              <a:rPr lang="en-GB" sz="2000" b="0" dirty="0">
                <a:latin typeface="Arial" charset="0"/>
                <a:cs typeface="Arial" charset="0"/>
              </a:rPr>
              <a:t> constructor and </a:t>
            </a:r>
            <a:r>
              <a:rPr lang="en-GB" sz="2000" dirty="0" smtClean="0">
                <a:latin typeface="Courier New" panose="02070309020205020404" pitchFamily="49" charset="0"/>
                <a:cs typeface="Courier New" panose="02070309020205020404" pitchFamily="49" charset="0"/>
              </a:rPr>
              <a:t>.</a:t>
            </a:r>
            <a:r>
              <a:rPr lang="en-GB" sz="2000" dirty="0" err="1" smtClean="0">
                <a:latin typeface="Courier New" panose="02070309020205020404" pitchFamily="49" charset="0"/>
                <a:cs typeface="Courier New" panose="02070309020205020404" pitchFamily="49" charset="0"/>
              </a:rPr>
              <a:t>Onreadystatechange</a:t>
            </a:r>
            <a:r>
              <a:rPr lang="en-GB" sz="2000" dirty="0" smtClean="0">
                <a:latin typeface="Courier New" panose="02070309020205020404" pitchFamily="49" charset="0"/>
                <a:cs typeface="Courier New" panose="02070309020205020404" pitchFamily="49" charset="0"/>
              </a:rPr>
              <a:t> </a:t>
            </a:r>
            <a:r>
              <a:rPr lang="en-GB" sz="2000" b="0" dirty="0">
                <a:latin typeface="Arial" charset="0"/>
                <a:cs typeface="Arial" charset="0"/>
              </a:rPr>
              <a:t>code in a </a:t>
            </a:r>
            <a:r>
              <a:rPr lang="en-GB" sz="2000" dirty="0" smtClean="0">
                <a:latin typeface="Courier New" panose="02070309020205020404" pitchFamily="49" charset="0"/>
                <a:cs typeface="Courier New" panose="02070309020205020404" pitchFamily="49" charset="0"/>
              </a:rPr>
              <a:t>&lt;script&gt; </a:t>
            </a:r>
            <a:r>
              <a:rPr lang="en-GB" sz="2000" b="0" dirty="0">
                <a:latin typeface="Arial" charset="0"/>
                <a:cs typeface="Arial" charset="0"/>
              </a:rPr>
              <a:t>element loaded when the page loads.</a:t>
            </a:r>
          </a:p>
          <a:p>
            <a:pPr marL="342900" indent="-342900" algn="just">
              <a:spcBef>
                <a:spcPts val="400"/>
              </a:spcBef>
              <a:buClr>
                <a:schemeClr val="accent1"/>
              </a:buClr>
              <a:buFont typeface="Arial" panose="020B0604020202020204" pitchFamily="34" charset="0"/>
              <a:buChar char="•"/>
              <a:defRPr/>
            </a:pPr>
            <a:endParaRPr lang="en-GB" sz="2000" b="0" dirty="0" smtClean="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GB" sz="2000" b="0" dirty="0">
              <a:latin typeface="Arial" charset="0"/>
              <a:cs typeface="Arial" charset="0"/>
              <a:sym typeface="Arial" charset="0"/>
            </a:endParaRP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5948" t="36987" r="28779" b="50760"/>
          <a:stretch/>
        </p:blipFill>
        <p:spPr bwMode="auto">
          <a:xfrm>
            <a:off x="2843808" y="4725144"/>
            <a:ext cx="3510430"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620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191</a:t>
            </a:fld>
            <a:endParaRPr lang="en-US">
              <a:latin typeface="+mn-lt"/>
              <a:cs typeface="+mn-cs"/>
            </a:endParaRPr>
          </a:p>
        </p:txBody>
      </p:sp>
      <p:sp>
        <p:nvSpPr>
          <p:cNvPr id="5" name="Rectangle 3"/>
          <p:cNvSpPr>
            <a:spLocks noChangeArrowheads="1"/>
          </p:cNvSpPr>
          <p:nvPr/>
        </p:nvSpPr>
        <p:spPr bwMode="auto">
          <a:xfrm>
            <a:off x="611560" y="1487169"/>
            <a:ext cx="8208912" cy="438772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7610" rIns="0" bIns="0" numCol="1" anchor="ctr" anchorCtr="0" compatLnSpc="1">
            <a:prstTxWarp prst="textNoShape">
              <a:avLst/>
            </a:prstTxWarp>
            <a:spAutoFit/>
          </a:bodyPr>
          <a:lstStyle>
            <a:lvl1pPr>
              <a:defRPr>
                <a:solidFill>
                  <a:schemeClr val="tx1"/>
                </a:solidFill>
                <a:latin typeface="Arial" pitchFamily="34" charset="0"/>
                <a:cs typeface="Arial" pitchFamily="34" charset="0"/>
              </a:defRPr>
            </a:lvl1pPr>
            <a:lvl2pPr marL="457200">
              <a:defRPr>
                <a:solidFill>
                  <a:schemeClr val="tx1"/>
                </a:solidFill>
                <a:latin typeface="Arial" pitchFamily="34" charset="0"/>
                <a:cs typeface="Arial" pitchFamily="34" charset="0"/>
              </a:defRPr>
            </a:lvl2pPr>
            <a:lvl3pPr marL="914400">
              <a:defRPr>
                <a:solidFill>
                  <a:schemeClr val="tx1"/>
                </a:solidFill>
                <a:latin typeface="Arial" pitchFamily="34" charset="0"/>
                <a:cs typeface="Arial" pitchFamily="34" charset="0"/>
              </a:defRPr>
            </a:lvl3pPr>
            <a:lvl4pPr marL="1371600">
              <a:defRPr>
                <a:solidFill>
                  <a:schemeClr val="tx1"/>
                </a:solidFill>
                <a:latin typeface="Arial" pitchFamily="34" charset="0"/>
                <a:cs typeface="Arial" pitchFamily="34" charset="0"/>
              </a:defRPr>
            </a:lvl4pPr>
            <a:lvl5pPr marL="1828800">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3200" b="1" i="0" u="none" strike="noStrike" cap="none" normalizeH="0" baseline="0" dirty="0" smtClean="0">
                <a:ln>
                  <a:noFill/>
                </a:ln>
                <a:solidFill>
                  <a:srgbClr val="000000"/>
                </a:solidFill>
                <a:effectLst/>
                <a:latin typeface="Arial" pitchFamily="34" charset="0"/>
                <a:cs typeface="Arial" pitchFamily="34" charset="0"/>
              </a:rPr>
              <a:t>fetch()  method : </a:t>
            </a:r>
            <a:r>
              <a:rPr kumimoji="0" lang="en-US" altLang="en-US" b="0" i="0" u="none" strike="noStrike" cap="none" normalizeH="0" baseline="0" dirty="0" smtClean="0">
                <a:ln>
                  <a:noFill/>
                </a:ln>
                <a:solidFill>
                  <a:srgbClr val="222222"/>
                </a:solidFill>
                <a:effectLst/>
                <a:latin typeface="Arial" pitchFamily="34" charset="0"/>
                <a:cs typeface="Arial" pitchFamily="34" charset="0"/>
              </a:rPr>
              <a:t>fetch is a new native JavaScript API. Although not yet supported by all browsers, it is gaining momentum as a more popular way to execute Ajax. According to</a:t>
            </a:r>
            <a:r>
              <a:rPr lang="en-US" altLang="en-US" b="0" dirty="0">
                <a:solidFill>
                  <a:srgbClr val="222222"/>
                </a:solidFill>
              </a:rPr>
              <a:t> </a:t>
            </a:r>
            <a:r>
              <a:rPr lang="en-US" altLang="en-US" b="0" dirty="0" smtClean="0">
                <a:solidFill>
                  <a:srgbClr val="222222"/>
                </a:solidFill>
              </a:rPr>
              <a:t>Google documentation</a:t>
            </a:r>
            <a:r>
              <a:rPr kumimoji="0" lang="en-US" altLang="en-US" b="0" i="0" u="none" strike="noStrike" cap="none" normalizeH="0" baseline="0" dirty="0" smtClean="0">
                <a:ln>
                  <a:noFill/>
                </a:ln>
                <a:solidFill>
                  <a:srgbClr val="222222"/>
                </a:solidFill>
                <a:effectLst/>
                <a:latin typeface="Arial" pitchFamily="34" charset="0"/>
                <a:cs typeface="Arial" pitchFamily="34" charset="0"/>
              </a:rPr>
              <a:t>, "Fetch makes it easier to make web requests and handle responses than with the older </a:t>
            </a:r>
            <a:r>
              <a:rPr kumimoji="0" lang="en-US" altLang="en-US" b="0" i="0" u="none" strike="noStrike" cap="none" normalizeH="0" baseline="0" dirty="0" err="1" smtClean="0">
                <a:ln>
                  <a:noFill/>
                </a:ln>
                <a:solidFill>
                  <a:srgbClr val="222222"/>
                </a:solidFill>
                <a:effectLst/>
                <a:latin typeface="Arial" pitchFamily="34" charset="0"/>
                <a:cs typeface="Arial" pitchFamily="34" charset="0"/>
              </a:rPr>
              <a:t>XMLHttpRequest</a:t>
            </a:r>
            <a:r>
              <a:rPr kumimoji="0" lang="en-US" altLang="en-US" b="0" i="0" u="none" strike="noStrike" cap="none" normalizeH="0" baseline="0" dirty="0" smtClean="0">
                <a:ln>
                  <a:noFill/>
                </a:ln>
                <a:solidFill>
                  <a:srgbClr val="222222"/>
                </a:solidFill>
                <a:effectLst/>
                <a:latin typeface="Arial" pitchFamily="34" charset="0"/>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rgbClr val="222222"/>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fetch(</a:t>
            </a:r>
            <a:r>
              <a:rPr kumimoji="0" lang="en-US" altLang="en-US" b="0" i="0" u="none" strike="noStrike" cap="none" normalizeH="0" baseline="0" dirty="0" smtClean="0">
                <a:ln>
                  <a:noFill/>
                </a:ln>
                <a:solidFill>
                  <a:srgbClr val="BA2121"/>
                </a:solidFill>
                <a:effectLst/>
                <a:latin typeface="Courier New" pitchFamily="49" charset="0"/>
                <a:cs typeface="Courier New" pitchFamily="49" charset="0"/>
              </a:rPr>
              <a:t>'send-</a:t>
            </a:r>
            <a:r>
              <a:rPr kumimoji="0" lang="en-US" altLang="en-US" b="0" i="0" u="none" strike="noStrike" cap="none" normalizeH="0" baseline="0" dirty="0" err="1" smtClean="0">
                <a:ln>
                  <a:noFill/>
                </a:ln>
                <a:solidFill>
                  <a:srgbClr val="BA2121"/>
                </a:solidFill>
                <a:effectLst/>
                <a:latin typeface="Courier New" pitchFamily="49" charset="0"/>
                <a:cs typeface="Courier New" pitchFamily="49" charset="0"/>
              </a:rPr>
              <a:t>ajax</a:t>
            </a:r>
            <a:r>
              <a:rPr kumimoji="0" lang="en-US" altLang="en-US" b="0" i="0" u="none" strike="noStrike" cap="none" normalizeH="0" baseline="0" dirty="0" smtClean="0">
                <a:ln>
                  <a:noFill/>
                </a:ln>
                <a:solidFill>
                  <a:srgbClr val="BA2121"/>
                </a:solidFill>
                <a:effectLst/>
                <a:latin typeface="Courier New" pitchFamily="49" charset="0"/>
                <a:cs typeface="Courier New" pitchFamily="49" charset="0"/>
              </a:rPr>
              <a:t>-</a:t>
            </a:r>
            <a:r>
              <a:rPr kumimoji="0" lang="en-US" altLang="en-US" b="0" i="0" u="none" strike="noStrike" cap="none" normalizeH="0" baseline="0" dirty="0" err="1" smtClean="0">
                <a:ln>
                  <a:noFill/>
                </a:ln>
                <a:solidFill>
                  <a:srgbClr val="BA2121"/>
                </a:solidFill>
                <a:effectLst/>
                <a:latin typeface="Courier New" pitchFamily="49" charset="0"/>
                <a:cs typeface="Courier New" pitchFamily="49" charset="0"/>
              </a:rPr>
              <a:t>data.php</a:t>
            </a:r>
            <a:r>
              <a:rPr kumimoji="0" lang="en-US" altLang="en-US" b="0" i="0" u="none" strike="noStrike" cap="none" normalizeH="0" baseline="0" dirty="0" smtClean="0">
                <a:ln>
                  <a:noFill/>
                </a:ln>
                <a:solidFill>
                  <a:srgbClr val="BA2121"/>
                </a:solidFill>
                <a:effectLst/>
                <a:latin typeface="Courier New" pitchFamily="49" charset="0"/>
                <a:cs typeface="Courier New" pitchFamily="49" charset="0"/>
              </a:rPr>
              <a:t>'</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).then(</a:t>
            </a:r>
            <a:r>
              <a:rPr kumimoji="0" lang="en-US" altLang="en-US" b="1" i="0" u="none" strike="noStrike" cap="none" normalizeH="0" baseline="0" dirty="0" smtClean="0">
                <a:ln>
                  <a:noFill/>
                </a:ln>
                <a:solidFill>
                  <a:srgbClr val="008000"/>
                </a:solidFill>
                <a:effectLst/>
                <a:latin typeface="Courier New" pitchFamily="49" charset="0"/>
                <a:cs typeface="Courier New" pitchFamily="49" charset="0"/>
              </a:rPr>
              <a:t>function</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(response) </a:t>
            </a:r>
          </a:p>
          <a:p>
            <a:pPr marL="0" marR="0" lvl="0" indent="0" algn="l" defTabSz="914400" rtl="0" eaLnBrk="0" fontAlgn="base" latinLnBrk="0" hangingPunct="0">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 </a:t>
            </a:r>
          </a:p>
          <a:p>
            <a:pPr marL="0" marR="0" lvl="0" indent="0" algn="l" defTabSz="914400" rtl="0" eaLnBrk="0" fontAlgn="base" latinLnBrk="0" hangingPunct="0">
              <a:spcBef>
                <a:spcPct val="0"/>
              </a:spcBef>
              <a:spcAft>
                <a:spcPct val="0"/>
              </a:spcAft>
              <a:buClrTx/>
              <a:buSzTx/>
              <a:buFontTx/>
              <a:buNone/>
              <a:tabLst/>
            </a:pPr>
            <a:r>
              <a:rPr lang="en-US" altLang="en-US" b="0" dirty="0">
                <a:solidFill>
                  <a:srgbClr val="000000"/>
                </a:solidFill>
                <a:latin typeface="Courier New" pitchFamily="49" charset="0"/>
                <a:cs typeface="Courier New" pitchFamily="49" charset="0"/>
              </a:rPr>
              <a:t> </a:t>
            </a:r>
            <a:r>
              <a:rPr lang="en-US" altLang="en-US" b="0" dirty="0" smtClean="0">
                <a:solidFill>
                  <a:srgbClr val="000000"/>
                </a:solidFill>
                <a:latin typeface="Courier New" pitchFamily="49" charset="0"/>
                <a:cs typeface="Courier New" pitchFamily="49" charset="0"/>
              </a:rPr>
              <a:t> </a:t>
            </a:r>
            <a:r>
              <a:rPr kumimoji="0" lang="en-US" altLang="en-US" b="1" i="0" u="none" strike="noStrike" cap="none" normalizeH="0" baseline="0" dirty="0" smtClean="0">
                <a:ln>
                  <a:noFill/>
                </a:ln>
                <a:solidFill>
                  <a:srgbClr val="008000"/>
                </a:solidFill>
                <a:effectLst/>
                <a:latin typeface="Courier New" pitchFamily="49" charset="0"/>
                <a:cs typeface="Courier New" pitchFamily="49" charset="0"/>
              </a:rPr>
              <a:t>return</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b="0" i="0" u="none" strike="noStrike" cap="none" normalizeH="0" baseline="0" dirty="0" err="1" smtClean="0">
                <a:ln>
                  <a:noFill/>
                </a:ln>
                <a:solidFill>
                  <a:srgbClr val="000000"/>
                </a:solidFill>
                <a:effectLst/>
                <a:latin typeface="Courier New" pitchFamily="49" charset="0"/>
                <a:cs typeface="Courier New" pitchFamily="49" charset="0"/>
              </a:rPr>
              <a:t>response.text</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 </a:t>
            </a:r>
          </a:p>
          <a:p>
            <a:pPr marL="0" marR="0" lvl="0" indent="0" algn="l" defTabSz="914400" rtl="0" eaLnBrk="0" fontAlgn="base" latinLnBrk="0" hangingPunct="0">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}).then(</a:t>
            </a:r>
            <a:r>
              <a:rPr kumimoji="0" lang="en-US" altLang="en-US" b="1" i="0" u="none" strike="noStrike" cap="none" normalizeH="0" baseline="0" dirty="0" smtClean="0">
                <a:ln>
                  <a:noFill/>
                </a:ln>
                <a:solidFill>
                  <a:srgbClr val="008000"/>
                </a:solidFill>
                <a:effectLst/>
                <a:latin typeface="Courier New" pitchFamily="49" charset="0"/>
                <a:cs typeface="Courier New" pitchFamily="49" charset="0"/>
              </a:rPr>
              <a:t>function</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(data) </a:t>
            </a:r>
          </a:p>
          <a:p>
            <a:pPr marL="0" marR="0" lvl="0" indent="0" algn="l" defTabSz="914400" rtl="0" eaLnBrk="0" fontAlgn="base" latinLnBrk="0" hangingPunct="0">
              <a:spcBef>
                <a:spcPct val="0"/>
              </a:spcBef>
              <a:spcAft>
                <a:spcPct val="0"/>
              </a:spcAft>
              <a:buClrTx/>
              <a:buSzTx/>
              <a:buFontTx/>
              <a:buNone/>
              <a:tabLst/>
            </a:pPr>
            <a:r>
              <a:rPr lang="en-US" altLang="en-US" b="0" dirty="0">
                <a:solidFill>
                  <a:srgbClr val="000000"/>
                </a:solidFill>
                <a:latin typeface="Courier New" pitchFamily="49" charset="0"/>
                <a:cs typeface="Courier New" pitchFamily="49" charset="0"/>
              </a:rPr>
              <a:t> </a:t>
            </a:r>
            <a:r>
              <a:rPr lang="en-US" altLang="en-US" b="0" dirty="0" smtClean="0">
                <a:solidFill>
                  <a:srgbClr val="000000"/>
                </a:solidFill>
                <a:latin typeface="Courier New" pitchFamily="49" charset="0"/>
                <a:cs typeface="Courier New" pitchFamily="49" charset="0"/>
              </a:rPr>
              <a:t> </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 </a:t>
            </a:r>
          </a:p>
          <a:p>
            <a:pPr marL="0" marR="0" lvl="0" indent="0" algn="l" defTabSz="914400" rtl="0" eaLnBrk="0" fontAlgn="base" latinLnBrk="0" hangingPunct="0">
              <a:spcBef>
                <a:spcPct val="0"/>
              </a:spcBef>
              <a:spcAft>
                <a:spcPct val="0"/>
              </a:spcAft>
              <a:buClrTx/>
              <a:buSzTx/>
              <a:buFontTx/>
              <a:buNone/>
              <a:tabLst/>
            </a:pPr>
            <a:r>
              <a:rPr lang="en-US" altLang="en-US" b="0" dirty="0">
                <a:solidFill>
                  <a:srgbClr val="000000"/>
                </a:solidFill>
                <a:latin typeface="Courier New" pitchFamily="49" charset="0"/>
                <a:cs typeface="Courier New" pitchFamily="49" charset="0"/>
              </a:rPr>
              <a:t> </a:t>
            </a:r>
            <a:r>
              <a:rPr lang="en-US" altLang="en-US" b="0" dirty="0" smtClean="0">
                <a:solidFill>
                  <a:srgbClr val="000000"/>
                </a:solidFill>
                <a:latin typeface="Courier New" pitchFamily="49" charset="0"/>
                <a:cs typeface="Courier New" pitchFamily="49" charset="0"/>
              </a:rPr>
              <a:t>   </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console.log(data); </a:t>
            </a:r>
          </a:p>
          <a:p>
            <a:pPr marL="0" marR="0" lvl="0" indent="0" algn="l" defTabSz="914400" rtl="0" eaLnBrk="0" fontAlgn="base" latinLnBrk="0" hangingPunct="0">
              <a:spcBef>
                <a:spcPct val="0"/>
              </a:spcBef>
              <a:spcAft>
                <a:spcPct val="0"/>
              </a:spcAft>
              <a:buClrTx/>
              <a:buSzTx/>
              <a:buFontTx/>
              <a:buNone/>
              <a:tabLst/>
            </a:pPr>
            <a:r>
              <a:rPr lang="en-US" altLang="en-US" b="0" dirty="0">
                <a:solidFill>
                  <a:srgbClr val="000000"/>
                </a:solidFill>
                <a:latin typeface="Courier New" pitchFamily="49" charset="0"/>
                <a:cs typeface="Courier New" pitchFamily="49" charset="0"/>
              </a:rPr>
              <a:t> </a:t>
            </a:r>
            <a:r>
              <a:rPr lang="en-US" altLang="en-US" b="0" dirty="0" smtClean="0">
                <a:solidFill>
                  <a:srgbClr val="000000"/>
                </a:solidFill>
                <a:latin typeface="Courier New" pitchFamily="49" charset="0"/>
                <a:cs typeface="Courier New" pitchFamily="49" charset="0"/>
              </a:rPr>
              <a:t> </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a:t>
            </a:r>
            <a:r>
              <a:rPr kumimoji="0" lang="en-US" altLang="en-US" b="1" i="0" u="none" strike="noStrike" cap="none" normalizeH="0" baseline="0" dirty="0" smtClean="0">
                <a:ln>
                  <a:noFill/>
                </a:ln>
                <a:solidFill>
                  <a:srgbClr val="008000"/>
                </a:solidFill>
                <a:effectLst/>
                <a:latin typeface="Courier New" pitchFamily="49" charset="0"/>
                <a:cs typeface="Courier New" pitchFamily="49" charset="0"/>
              </a:rPr>
              <a:t>catch</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a:t>
            </a:r>
            <a:r>
              <a:rPr kumimoji="0" lang="en-US" altLang="en-US" b="1" i="0" u="none" strike="noStrike" cap="none" normalizeH="0" baseline="0" dirty="0" smtClean="0">
                <a:ln>
                  <a:noFill/>
                </a:ln>
                <a:solidFill>
                  <a:srgbClr val="008000"/>
                </a:solidFill>
                <a:effectLst/>
                <a:latin typeface="Courier New" pitchFamily="49" charset="0"/>
                <a:cs typeface="Courier New" pitchFamily="49" charset="0"/>
              </a:rPr>
              <a:t>function</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(error)</a:t>
            </a:r>
            <a:b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b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 console.log(</a:t>
            </a:r>
            <a:r>
              <a:rPr kumimoji="0" lang="en-US" altLang="en-US" b="0" i="0" u="none" strike="noStrike" cap="none" normalizeH="0" baseline="0" dirty="0" smtClean="0">
                <a:ln>
                  <a:noFill/>
                </a:ln>
                <a:solidFill>
                  <a:srgbClr val="BA2121"/>
                </a:solidFill>
                <a:effectLst/>
                <a:latin typeface="Courier New" pitchFamily="49" charset="0"/>
                <a:cs typeface="Courier New" pitchFamily="49" charset="0"/>
              </a:rPr>
              <a:t>'Error: ‘</a:t>
            </a:r>
            <a:r>
              <a:rPr lang="en-US" altLang="en-US" b="0" dirty="0" smtClean="0">
                <a:solidFill>
                  <a:srgbClr val="000000"/>
                </a:solidFill>
                <a:latin typeface="Courier New" pitchFamily="49" charset="0"/>
                <a:cs typeface="Courier New" pitchFamily="49" charset="0"/>
              </a:rPr>
              <a:t> + </a:t>
            </a:r>
            <a:r>
              <a:rPr kumimoji="0" lang="en-US" altLang="en-US" b="0" i="0" u="none" strike="noStrike" cap="none" normalizeH="0" baseline="0" dirty="0" smtClean="0">
                <a:ln>
                  <a:noFill/>
                </a:ln>
                <a:solidFill>
                  <a:srgbClr val="000000"/>
                </a:solidFill>
                <a:effectLst/>
                <a:latin typeface="Courier New" pitchFamily="49" charset="0"/>
                <a:cs typeface="Courier New" pitchFamily="49" charset="0"/>
              </a:rPr>
              <a:t>error); });</a:t>
            </a:r>
            <a:endParaRPr kumimoji="0" lang="en-US" altLang="en-US" sz="40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15.3 – </a:t>
            </a:r>
            <a:r>
              <a:rPr lang="en-US" altLang="en-US" sz="3600" i="1" dirty="0" smtClean="0">
                <a:solidFill>
                  <a:srgbClr val="000000"/>
                </a:solidFill>
                <a:latin typeface="Arial" pitchFamily="34" charset="0"/>
                <a:cs typeface="Arial" pitchFamily="34" charset="0"/>
              </a:rPr>
              <a:t>fetch()</a:t>
            </a:r>
            <a:endParaRPr lang="en-GB" sz="3600" b="0" i="1" dirty="0"/>
          </a:p>
        </p:txBody>
      </p:sp>
    </p:spTree>
    <p:extLst>
      <p:ext uri="{BB962C8B-B14F-4D97-AF65-F5344CB8AC3E}">
        <p14:creationId xmlns:p14="http://schemas.microsoft.com/office/powerpoint/2010/main" val="29763077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192</a:t>
            </a:fld>
            <a:endParaRPr lang="en-US">
              <a:latin typeface="+mn-lt"/>
              <a:cs typeface="+mn-cs"/>
            </a:endParaRPr>
          </a:p>
        </p:txBody>
      </p:sp>
      <p:sp>
        <p:nvSpPr>
          <p:cNvPr id="5" name="Rectangle 3"/>
          <p:cNvSpPr>
            <a:spLocks noChangeArrowheads="1"/>
          </p:cNvSpPr>
          <p:nvPr/>
        </p:nvSpPr>
        <p:spPr bwMode="auto">
          <a:xfrm>
            <a:off x="450166" y="1124744"/>
            <a:ext cx="8496944" cy="5526498"/>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7610" rIns="0" bIns="0" numCol="1" anchor="ctr" anchorCtr="0" compatLnSpc="1">
            <a:prstTxWarp prst="textNoShape">
              <a:avLst/>
            </a:prstTxWarp>
            <a:spAutoFit/>
          </a:bodyPr>
          <a:lstStyle>
            <a:lvl1pPr>
              <a:defRPr>
                <a:solidFill>
                  <a:schemeClr val="tx1"/>
                </a:solidFill>
                <a:latin typeface="Arial" pitchFamily="34" charset="0"/>
                <a:cs typeface="Arial" pitchFamily="34" charset="0"/>
              </a:defRPr>
            </a:lvl1pPr>
            <a:lvl2pPr marL="457200">
              <a:defRPr>
                <a:solidFill>
                  <a:schemeClr val="tx1"/>
                </a:solidFill>
                <a:latin typeface="Arial" pitchFamily="34" charset="0"/>
                <a:cs typeface="Arial" pitchFamily="34" charset="0"/>
              </a:defRPr>
            </a:lvl2pPr>
            <a:lvl3pPr marL="914400">
              <a:defRPr>
                <a:solidFill>
                  <a:schemeClr val="tx1"/>
                </a:solidFill>
                <a:latin typeface="Arial" pitchFamily="34" charset="0"/>
                <a:cs typeface="Arial" pitchFamily="34" charset="0"/>
              </a:defRPr>
            </a:lvl3pPr>
            <a:lvl4pPr marL="1371600">
              <a:defRPr>
                <a:solidFill>
                  <a:schemeClr val="tx1"/>
                </a:solidFill>
                <a:latin typeface="Arial" pitchFamily="34" charset="0"/>
                <a:cs typeface="Arial" pitchFamily="34" charset="0"/>
              </a:defRPr>
            </a:lvl4pPr>
            <a:lvl5pPr marL="1828800">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2400" b="0" dirty="0" smtClean="0">
                <a:solidFill>
                  <a:srgbClr val="000000"/>
                </a:solidFill>
              </a:rPr>
              <a:t>fetch() but working with the DOM:</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rPr>
              <a:t> </a:t>
            </a:r>
            <a:endParaRPr kumimoji="0" lang="en-US" altLang="en-US" sz="2400" b="0" i="0" u="none" strike="noStrike" cap="none" normalizeH="0" baseline="0" dirty="0">
              <a:ln>
                <a:noFill/>
              </a:ln>
              <a:solidFill>
                <a:srgbClr val="000000"/>
              </a:solidFill>
              <a:effectLst/>
            </a:endParaRPr>
          </a:p>
          <a:p>
            <a:pPr lvl="0"/>
            <a:r>
              <a:rPr lang="en-GB" sz="1400" dirty="0" smtClean="0">
                <a:latin typeface="Courier New" panose="02070309020205020404" pitchFamily="49" charset="0"/>
                <a:cs typeface="Courier New" panose="02070309020205020404" pitchFamily="49" charset="0"/>
              </a:rPr>
              <a:t>&lt;</a:t>
            </a:r>
            <a:r>
              <a:rPr lang="en-GB" sz="1400" dirty="0">
                <a:solidFill>
                  <a:srgbClr val="000080"/>
                </a:solidFill>
                <a:latin typeface="Courier New" panose="02070309020205020404" pitchFamily="49" charset="0"/>
                <a:cs typeface="Courier New" panose="02070309020205020404" pitchFamily="49" charset="0"/>
              </a:rPr>
              <a:t>script</a:t>
            </a:r>
            <a:r>
              <a:rPr lang="en-GB" sz="1400" dirty="0">
                <a:latin typeface="Courier New" panose="02070309020205020404" pitchFamily="49" charset="0"/>
                <a:cs typeface="Courier New" panose="02070309020205020404" pitchFamily="49" charset="0"/>
              </a:rPr>
              <a:t>&gt;</a:t>
            </a:r>
            <a:br>
              <a:rPr lang="en-GB" sz="1400" dirty="0">
                <a:latin typeface="Courier New" panose="02070309020205020404" pitchFamily="49" charset="0"/>
                <a:cs typeface="Courier New" panose="02070309020205020404" pitchFamily="49" charset="0"/>
              </a:rPr>
            </a:br>
            <a:r>
              <a:rPr lang="en-GB" sz="1400" dirty="0" smtClean="0">
                <a:latin typeface="Courier New" panose="02070309020205020404" pitchFamily="49" charset="0"/>
                <a:cs typeface="Courier New" panose="02070309020205020404" pitchFamily="49" charset="0"/>
              </a:rPr>
              <a:t>   </a:t>
            </a:r>
            <a:r>
              <a:rPr lang="en-GB" sz="1400" dirty="0">
                <a:solidFill>
                  <a:srgbClr val="000080"/>
                </a:solidFill>
                <a:latin typeface="Courier New" panose="02070309020205020404" pitchFamily="49" charset="0"/>
                <a:cs typeface="Courier New" panose="02070309020205020404" pitchFamily="49" charset="0"/>
              </a:rPr>
              <a:t>function </a:t>
            </a:r>
            <a:r>
              <a:rPr lang="en-GB" sz="1400" i="1" dirty="0" err="1">
                <a:latin typeface="Courier New" panose="02070309020205020404" pitchFamily="49" charset="0"/>
                <a:cs typeface="Courier New" panose="02070309020205020404" pitchFamily="49" charset="0"/>
              </a:rPr>
              <a:t>onclickHandler</a:t>
            </a:r>
            <a:r>
              <a:rPr lang="en-GB" sz="1400" dirty="0">
                <a:latin typeface="Courier New" panose="02070309020205020404" pitchFamily="49" charset="0"/>
                <a:cs typeface="Courier New" panose="02070309020205020404" pitchFamily="49" charset="0"/>
              </a:rPr>
              <a:t>(event) {</a:t>
            </a:r>
            <a:br>
              <a:rPr lang="en-GB" sz="1400" dirty="0">
                <a:latin typeface="Courier New" panose="02070309020205020404" pitchFamily="49" charset="0"/>
                <a:cs typeface="Courier New" panose="02070309020205020404" pitchFamily="49" charset="0"/>
              </a:rPr>
            </a:br>
            <a:r>
              <a:rPr lang="en-GB" sz="1400" dirty="0" smtClean="0">
                <a:latin typeface="Courier New" panose="02070309020205020404" pitchFamily="49" charset="0"/>
                <a:cs typeface="Courier New" panose="02070309020205020404" pitchFamily="49" charset="0"/>
              </a:rPr>
              <a:t>      </a:t>
            </a:r>
            <a:r>
              <a:rPr lang="en-GB" sz="1400" dirty="0" err="1">
                <a:solidFill>
                  <a:srgbClr val="660E7A"/>
                </a:solidFill>
                <a:latin typeface="Courier New" panose="02070309020205020404" pitchFamily="49" charset="0"/>
                <a:cs typeface="Courier New" panose="02070309020205020404" pitchFamily="49" charset="0"/>
              </a:rPr>
              <a:t>document</a:t>
            </a:r>
            <a:r>
              <a:rPr lang="en-GB" sz="1400" dirty="0" err="1">
                <a:latin typeface="Courier New" panose="02070309020205020404" pitchFamily="49" charset="0"/>
                <a:cs typeface="Courier New" panose="02070309020205020404" pitchFamily="49" charset="0"/>
              </a:rPr>
              <a:t>.</a:t>
            </a:r>
            <a:r>
              <a:rPr lang="en-GB" sz="1400" dirty="0" err="1">
                <a:solidFill>
                  <a:srgbClr val="7A7A43"/>
                </a:solidFill>
                <a:latin typeface="Courier New" panose="02070309020205020404" pitchFamily="49" charset="0"/>
                <a:cs typeface="Courier New" panose="02070309020205020404" pitchFamily="49" charset="0"/>
              </a:rPr>
              <a:t>getElementById</a:t>
            </a:r>
            <a:r>
              <a:rPr lang="en-GB" sz="1400" dirty="0">
                <a:latin typeface="Courier New" panose="02070309020205020404" pitchFamily="49" charset="0"/>
                <a:cs typeface="Courier New" panose="02070309020205020404" pitchFamily="49" charset="0"/>
              </a:rPr>
              <a:t>(</a:t>
            </a:r>
            <a:r>
              <a:rPr lang="en-GB" sz="1400" dirty="0">
                <a:solidFill>
                  <a:srgbClr val="008000"/>
                </a:solidFill>
                <a:latin typeface="Courier New" panose="02070309020205020404" pitchFamily="49" charset="0"/>
                <a:cs typeface="Courier New" panose="02070309020205020404" pitchFamily="49" charset="0"/>
              </a:rPr>
              <a:t>'output'</a:t>
            </a:r>
            <a:r>
              <a:rPr lang="en-GB" sz="1400" dirty="0">
                <a:latin typeface="Courier New" panose="02070309020205020404" pitchFamily="49" charset="0"/>
                <a:cs typeface="Courier New" panose="02070309020205020404" pitchFamily="49" charset="0"/>
              </a:rPr>
              <a:t>).</a:t>
            </a:r>
            <a:r>
              <a:rPr lang="en-GB" sz="1400" dirty="0" err="1">
                <a:solidFill>
                  <a:srgbClr val="660E7A"/>
                </a:solidFill>
                <a:latin typeface="Courier New" panose="02070309020205020404" pitchFamily="49" charset="0"/>
                <a:cs typeface="Courier New" panose="02070309020205020404" pitchFamily="49" charset="0"/>
              </a:rPr>
              <a:t>innerText</a:t>
            </a:r>
            <a:r>
              <a:rPr lang="en-GB" sz="1400" dirty="0">
                <a:solidFill>
                  <a:srgbClr val="660E7A"/>
                </a:solidFill>
                <a:latin typeface="Courier New" panose="02070309020205020404" pitchFamily="49" charset="0"/>
                <a:cs typeface="Courier New" panose="02070309020205020404" pitchFamily="49" charset="0"/>
              </a:rPr>
              <a:t> </a:t>
            </a:r>
            <a:r>
              <a:rPr lang="en-GB" sz="1400" dirty="0">
                <a:latin typeface="Courier New" panose="02070309020205020404" pitchFamily="49" charset="0"/>
                <a:cs typeface="Courier New" panose="02070309020205020404" pitchFamily="49" charset="0"/>
              </a:rPr>
              <a:t>= </a:t>
            </a:r>
            <a:r>
              <a:rPr lang="en-GB" sz="1400" dirty="0">
                <a:solidFill>
                  <a:srgbClr val="008000"/>
                </a:solidFill>
                <a:latin typeface="Courier New" panose="02070309020205020404" pitchFamily="49" charset="0"/>
                <a:cs typeface="Courier New" panose="02070309020205020404" pitchFamily="49" charset="0"/>
              </a:rPr>
              <a:t>'fetching...'</a:t>
            </a:r>
            <a:r>
              <a:rPr lang="en-GB" sz="1400" dirty="0">
                <a:latin typeface="Courier New" panose="02070309020205020404" pitchFamily="49" charset="0"/>
                <a:cs typeface="Courier New" panose="02070309020205020404" pitchFamily="49" charset="0"/>
              </a:rPr>
              <a:t>;</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r>
            <a:br>
              <a:rPr lang="en-GB" sz="1400" dirty="0">
                <a:latin typeface="Courier New" panose="02070309020205020404" pitchFamily="49" charset="0"/>
                <a:cs typeface="Courier New" panose="02070309020205020404" pitchFamily="49" charset="0"/>
              </a:rPr>
            </a:br>
            <a:r>
              <a:rPr lang="en-GB" sz="1400" dirty="0" smtClean="0">
                <a:latin typeface="Courier New" panose="02070309020205020404" pitchFamily="49" charset="0"/>
                <a:cs typeface="Courier New" panose="02070309020205020404" pitchFamily="49" charset="0"/>
              </a:rPr>
              <a:t>      </a:t>
            </a:r>
            <a:r>
              <a:rPr lang="en-GB" sz="1400" dirty="0">
                <a:latin typeface="Courier New" panose="02070309020205020404" pitchFamily="49" charset="0"/>
                <a:cs typeface="Courier New" panose="02070309020205020404" pitchFamily="49" charset="0"/>
              </a:rPr>
              <a:t>fetch(</a:t>
            </a:r>
            <a:r>
              <a:rPr lang="en-GB" sz="1400" dirty="0">
                <a:solidFill>
                  <a:srgbClr val="008000"/>
                </a:solidFill>
                <a:latin typeface="Courier New" panose="02070309020205020404" pitchFamily="49" charset="0"/>
                <a:cs typeface="Courier New" panose="02070309020205020404" pitchFamily="49" charset="0"/>
              </a:rPr>
              <a:t>'send-</a:t>
            </a:r>
            <a:r>
              <a:rPr lang="en-GB" sz="1400" dirty="0" err="1">
                <a:solidFill>
                  <a:srgbClr val="008000"/>
                </a:solidFill>
                <a:latin typeface="Courier New" panose="02070309020205020404" pitchFamily="49" charset="0"/>
                <a:cs typeface="Courier New" panose="02070309020205020404" pitchFamily="49" charset="0"/>
              </a:rPr>
              <a:t>ajax</a:t>
            </a:r>
            <a:r>
              <a:rPr lang="en-GB" sz="1400" dirty="0">
                <a:solidFill>
                  <a:srgbClr val="008000"/>
                </a:solidFill>
                <a:latin typeface="Courier New" panose="02070309020205020404" pitchFamily="49" charset="0"/>
                <a:cs typeface="Courier New" panose="02070309020205020404" pitchFamily="49" charset="0"/>
              </a:rPr>
              <a:t>-</a:t>
            </a:r>
            <a:r>
              <a:rPr lang="en-GB" sz="1400" dirty="0" err="1">
                <a:solidFill>
                  <a:srgbClr val="008000"/>
                </a:solidFill>
                <a:latin typeface="Courier New" panose="02070309020205020404" pitchFamily="49" charset="0"/>
                <a:cs typeface="Courier New" panose="02070309020205020404" pitchFamily="49" charset="0"/>
              </a:rPr>
              <a:t>data.php</a:t>
            </a:r>
            <a:r>
              <a:rPr lang="en-GB" sz="1400" dirty="0">
                <a:solidFill>
                  <a:srgbClr val="008000"/>
                </a:solidFill>
                <a:latin typeface="Courier New" panose="02070309020205020404" pitchFamily="49" charset="0"/>
                <a:cs typeface="Courier New" panose="02070309020205020404" pitchFamily="49" charset="0"/>
              </a:rPr>
              <a:t>'</a:t>
            </a:r>
            <a:r>
              <a:rPr lang="en-GB" sz="1400" dirty="0">
                <a:latin typeface="Courier New" panose="02070309020205020404" pitchFamily="49" charset="0"/>
                <a:cs typeface="Courier New" panose="02070309020205020404" pitchFamily="49" charset="0"/>
              </a:rPr>
              <a:t>).then(</a:t>
            </a:r>
            <a:r>
              <a:rPr lang="en-GB" sz="1400" dirty="0">
                <a:solidFill>
                  <a:srgbClr val="000080"/>
                </a:solidFill>
                <a:latin typeface="Courier New" panose="02070309020205020404" pitchFamily="49" charset="0"/>
                <a:cs typeface="Courier New" panose="02070309020205020404" pitchFamily="49" charset="0"/>
              </a:rPr>
              <a:t>function </a:t>
            </a:r>
            <a:r>
              <a:rPr lang="en-GB" sz="1400" dirty="0">
                <a:latin typeface="Courier New" panose="02070309020205020404" pitchFamily="49" charset="0"/>
                <a:cs typeface="Courier New" panose="02070309020205020404" pitchFamily="49" charset="0"/>
              </a:rPr>
              <a:t>(response) {</a:t>
            </a:r>
            <a:br>
              <a:rPr lang="en-GB" sz="1400" dirty="0">
                <a:latin typeface="Courier New" panose="02070309020205020404" pitchFamily="49" charset="0"/>
                <a:cs typeface="Courier New" panose="02070309020205020404" pitchFamily="49" charset="0"/>
              </a:rPr>
            </a:br>
            <a:r>
              <a:rPr lang="en-GB" sz="1400" dirty="0" smtClean="0">
                <a:latin typeface="Courier New" panose="02070309020205020404" pitchFamily="49" charset="0"/>
                <a:cs typeface="Courier New" panose="02070309020205020404" pitchFamily="49" charset="0"/>
              </a:rPr>
              <a:t>       </a:t>
            </a:r>
            <a:r>
              <a:rPr lang="en-GB" sz="1400" dirty="0">
                <a:solidFill>
                  <a:srgbClr val="000080"/>
                </a:solidFill>
                <a:latin typeface="Courier New" panose="02070309020205020404" pitchFamily="49" charset="0"/>
                <a:cs typeface="Courier New" panose="02070309020205020404" pitchFamily="49" charset="0"/>
              </a:rPr>
              <a:t>return </a:t>
            </a:r>
            <a:r>
              <a:rPr lang="en-GB" sz="1400" dirty="0" err="1">
                <a:latin typeface="Courier New" panose="02070309020205020404" pitchFamily="49" charset="0"/>
                <a:cs typeface="Courier New" panose="02070309020205020404" pitchFamily="49" charset="0"/>
              </a:rPr>
              <a:t>response.</a:t>
            </a:r>
            <a:r>
              <a:rPr lang="en-GB" sz="1400" dirty="0" err="1">
                <a:solidFill>
                  <a:srgbClr val="660E7A"/>
                </a:solidFill>
                <a:latin typeface="Courier New" panose="02070309020205020404" pitchFamily="49" charset="0"/>
                <a:cs typeface="Courier New" panose="02070309020205020404" pitchFamily="49" charset="0"/>
              </a:rPr>
              <a:t>text</a:t>
            </a:r>
            <a:r>
              <a:rPr lang="en-GB" sz="1400" dirty="0" smtClean="0">
                <a:latin typeface="Courier New" panose="02070309020205020404" pitchFamily="49" charset="0"/>
                <a:cs typeface="Courier New" panose="02070309020205020404" pitchFamily="49" charset="0"/>
              </a:rPr>
              <a:t>(); }).</a:t>
            </a:r>
            <a:r>
              <a:rPr lang="en-GB" sz="1400" dirty="0">
                <a:latin typeface="Courier New" panose="02070309020205020404" pitchFamily="49" charset="0"/>
                <a:cs typeface="Courier New" panose="02070309020205020404" pitchFamily="49" charset="0"/>
              </a:rPr>
              <a:t>then(</a:t>
            </a:r>
            <a:r>
              <a:rPr lang="en-GB" sz="1400" dirty="0">
                <a:solidFill>
                  <a:srgbClr val="000080"/>
                </a:solidFill>
                <a:latin typeface="Courier New" panose="02070309020205020404" pitchFamily="49" charset="0"/>
                <a:cs typeface="Courier New" panose="02070309020205020404" pitchFamily="49" charset="0"/>
              </a:rPr>
              <a:t>function </a:t>
            </a:r>
            <a:r>
              <a:rPr lang="en-GB" sz="1400" dirty="0">
                <a:latin typeface="Courier New" panose="02070309020205020404" pitchFamily="49" charset="0"/>
                <a:cs typeface="Courier New" panose="02070309020205020404" pitchFamily="49" charset="0"/>
              </a:rPr>
              <a:t>(data) {</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t>
            </a:r>
            <a:r>
              <a:rPr lang="en-GB" sz="1400" dirty="0" err="1">
                <a:solidFill>
                  <a:srgbClr val="660E7A"/>
                </a:solidFill>
                <a:latin typeface="Courier New" panose="02070309020205020404" pitchFamily="49" charset="0"/>
                <a:cs typeface="Courier New" panose="02070309020205020404" pitchFamily="49" charset="0"/>
              </a:rPr>
              <a:t>document</a:t>
            </a:r>
            <a:r>
              <a:rPr lang="en-GB" sz="1400" dirty="0" err="1">
                <a:latin typeface="Courier New" panose="02070309020205020404" pitchFamily="49" charset="0"/>
                <a:cs typeface="Courier New" panose="02070309020205020404" pitchFamily="49" charset="0"/>
              </a:rPr>
              <a:t>.</a:t>
            </a:r>
            <a:r>
              <a:rPr lang="en-GB" sz="1400" dirty="0" err="1">
                <a:solidFill>
                  <a:srgbClr val="7A7A43"/>
                </a:solidFill>
                <a:latin typeface="Courier New" panose="02070309020205020404" pitchFamily="49" charset="0"/>
                <a:cs typeface="Courier New" panose="02070309020205020404" pitchFamily="49" charset="0"/>
              </a:rPr>
              <a:t>getElementById</a:t>
            </a:r>
            <a:r>
              <a:rPr lang="en-GB" sz="1400" dirty="0">
                <a:latin typeface="Courier New" panose="02070309020205020404" pitchFamily="49" charset="0"/>
                <a:cs typeface="Courier New" panose="02070309020205020404" pitchFamily="49" charset="0"/>
              </a:rPr>
              <a:t>(</a:t>
            </a:r>
            <a:r>
              <a:rPr lang="en-GB" sz="1400" dirty="0">
                <a:solidFill>
                  <a:srgbClr val="008000"/>
                </a:solidFill>
                <a:latin typeface="Courier New" panose="02070309020205020404" pitchFamily="49" charset="0"/>
                <a:cs typeface="Courier New" panose="02070309020205020404" pitchFamily="49" charset="0"/>
              </a:rPr>
              <a:t>'output'</a:t>
            </a:r>
            <a:r>
              <a:rPr lang="en-GB" sz="1400" dirty="0">
                <a:latin typeface="Courier New" panose="02070309020205020404" pitchFamily="49" charset="0"/>
                <a:cs typeface="Courier New" panose="02070309020205020404" pitchFamily="49" charset="0"/>
              </a:rPr>
              <a:t>).</a:t>
            </a:r>
            <a:r>
              <a:rPr lang="en-GB" sz="1400" dirty="0" err="1">
                <a:solidFill>
                  <a:srgbClr val="660E7A"/>
                </a:solidFill>
                <a:latin typeface="Courier New" panose="02070309020205020404" pitchFamily="49" charset="0"/>
                <a:cs typeface="Courier New" panose="02070309020205020404" pitchFamily="49" charset="0"/>
              </a:rPr>
              <a:t>innerText</a:t>
            </a:r>
            <a:r>
              <a:rPr lang="en-GB" sz="1400" dirty="0">
                <a:solidFill>
                  <a:srgbClr val="660E7A"/>
                </a:solidFill>
                <a:latin typeface="Courier New" panose="02070309020205020404" pitchFamily="49" charset="0"/>
                <a:cs typeface="Courier New" panose="02070309020205020404" pitchFamily="49" charset="0"/>
              </a:rPr>
              <a:t> </a:t>
            </a:r>
            <a:r>
              <a:rPr lang="en-GB" sz="1400" dirty="0">
                <a:latin typeface="Courier New" panose="02070309020205020404" pitchFamily="49" charset="0"/>
                <a:cs typeface="Courier New" panose="02070309020205020404" pitchFamily="49" charset="0"/>
              </a:rPr>
              <a:t>= data;</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}).catch(</a:t>
            </a:r>
            <a:r>
              <a:rPr lang="en-GB" sz="1400" dirty="0">
                <a:solidFill>
                  <a:srgbClr val="000080"/>
                </a:solidFill>
                <a:latin typeface="Courier New" panose="02070309020205020404" pitchFamily="49" charset="0"/>
                <a:cs typeface="Courier New" panose="02070309020205020404" pitchFamily="49" charset="0"/>
              </a:rPr>
              <a:t>function </a:t>
            </a:r>
            <a:r>
              <a:rPr lang="en-GB" sz="1400" dirty="0">
                <a:latin typeface="Courier New" panose="02070309020205020404" pitchFamily="49" charset="0"/>
                <a:cs typeface="Courier New" panose="02070309020205020404" pitchFamily="49" charset="0"/>
              </a:rPr>
              <a:t>(error) {</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t>
            </a:r>
            <a:r>
              <a:rPr lang="en-GB" sz="1400" dirty="0" err="1">
                <a:solidFill>
                  <a:srgbClr val="660E7A"/>
                </a:solidFill>
                <a:latin typeface="Courier New" panose="02070309020205020404" pitchFamily="49" charset="0"/>
                <a:cs typeface="Courier New" panose="02070309020205020404" pitchFamily="49" charset="0"/>
              </a:rPr>
              <a:t>document</a:t>
            </a:r>
            <a:r>
              <a:rPr lang="en-GB" sz="1400" dirty="0" err="1">
                <a:latin typeface="Courier New" panose="02070309020205020404" pitchFamily="49" charset="0"/>
                <a:cs typeface="Courier New" panose="02070309020205020404" pitchFamily="49" charset="0"/>
              </a:rPr>
              <a:t>.</a:t>
            </a:r>
            <a:r>
              <a:rPr lang="en-GB" sz="1400" dirty="0" err="1">
                <a:solidFill>
                  <a:srgbClr val="7A7A43"/>
                </a:solidFill>
                <a:latin typeface="Courier New" panose="02070309020205020404" pitchFamily="49" charset="0"/>
                <a:cs typeface="Courier New" panose="02070309020205020404" pitchFamily="49" charset="0"/>
              </a:rPr>
              <a:t>getElementById</a:t>
            </a:r>
            <a:r>
              <a:rPr lang="en-GB" sz="1400" dirty="0">
                <a:latin typeface="Courier New" panose="02070309020205020404" pitchFamily="49" charset="0"/>
                <a:cs typeface="Courier New" panose="02070309020205020404" pitchFamily="49" charset="0"/>
              </a:rPr>
              <a:t>(</a:t>
            </a:r>
            <a:r>
              <a:rPr lang="en-GB" sz="1400" dirty="0">
                <a:solidFill>
                  <a:srgbClr val="008000"/>
                </a:solidFill>
                <a:latin typeface="Courier New" panose="02070309020205020404" pitchFamily="49" charset="0"/>
                <a:cs typeface="Courier New" panose="02070309020205020404" pitchFamily="49" charset="0"/>
              </a:rPr>
              <a:t>'output'</a:t>
            </a:r>
            <a:r>
              <a:rPr lang="en-GB" sz="1400" dirty="0">
                <a:latin typeface="Courier New" panose="02070309020205020404" pitchFamily="49" charset="0"/>
                <a:cs typeface="Courier New" panose="02070309020205020404" pitchFamily="49" charset="0"/>
              </a:rPr>
              <a:t>).</a:t>
            </a:r>
            <a:r>
              <a:rPr lang="en-GB" sz="1400" dirty="0" err="1">
                <a:solidFill>
                  <a:srgbClr val="660E7A"/>
                </a:solidFill>
                <a:latin typeface="Courier New" panose="02070309020205020404" pitchFamily="49" charset="0"/>
                <a:cs typeface="Courier New" panose="02070309020205020404" pitchFamily="49" charset="0"/>
              </a:rPr>
              <a:t>innerText</a:t>
            </a:r>
            <a:r>
              <a:rPr lang="en-GB" sz="1400" dirty="0">
                <a:solidFill>
                  <a:srgbClr val="660E7A"/>
                </a:solidFill>
                <a:latin typeface="Courier New" panose="02070309020205020404" pitchFamily="49" charset="0"/>
                <a:cs typeface="Courier New" panose="02070309020205020404" pitchFamily="49" charset="0"/>
              </a:rPr>
              <a:t> </a:t>
            </a:r>
            <a:r>
              <a:rPr lang="en-GB" sz="1400" dirty="0">
                <a:latin typeface="Courier New" panose="02070309020205020404" pitchFamily="49" charset="0"/>
                <a:cs typeface="Courier New" panose="02070309020205020404" pitchFamily="49" charset="0"/>
              </a:rPr>
              <a:t>=</a:t>
            </a:r>
            <a:r>
              <a:rPr lang="en-GB" sz="1400" dirty="0">
                <a:solidFill>
                  <a:srgbClr val="008000"/>
                </a:solidFill>
                <a:latin typeface="Courier New" panose="02070309020205020404" pitchFamily="49" charset="0"/>
                <a:cs typeface="Courier New" panose="02070309020205020404" pitchFamily="49" charset="0"/>
              </a:rPr>
              <a:t>'Error: ' </a:t>
            </a:r>
            <a:r>
              <a:rPr lang="en-GB" sz="1400" dirty="0">
                <a:latin typeface="Courier New" panose="02070309020205020404" pitchFamily="49" charset="0"/>
                <a:cs typeface="Courier New" panose="02070309020205020404" pitchFamily="49" charset="0"/>
              </a:rPr>
              <a:t>+ error;</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t>
            </a:r>
            <a:br>
              <a:rPr lang="en-GB" sz="1400" dirty="0">
                <a:latin typeface="Courier New" panose="02070309020205020404" pitchFamily="49" charset="0"/>
                <a:cs typeface="Courier New" panose="02070309020205020404" pitchFamily="49" charset="0"/>
              </a:rPr>
            </a:br>
            <a:r>
              <a:rPr lang="en-GB" sz="1400" dirty="0" smtClean="0">
                <a:latin typeface="Courier New" panose="02070309020205020404" pitchFamily="49" charset="0"/>
                <a:cs typeface="Courier New" panose="02070309020205020404" pitchFamily="49" charset="0"/>
              </a:rPr>
              <a:t>&lt;/</a:t>
            </a:r>
            <a:r>
              <a:rPr lang="en-GB" sz="1400" dirty="0">
                <a:solidFill>
                  <a:srgbClr val="000080"/>
                </a:solidFill>
                <a:latin typeface="Courier New" panose="02070309020205020404" pitchFamily="49" charset="0"/>
                <a:cs typeface="Courier New" panose="02070309020205020404" pitchFamily="49" charset="0"/>
              </a:rPr>
              <a:t>script</a:t>
            </a:r>
            <a:r>
              <a:rPr lang="en-GB" sz="1400" dirty="0">
                <a:latin typeface="Courier New" panose="02070309020205020404" pitchFamily="49" charset="0"/>
                <a:cs typeface="Courier New" panose="02070309020205020404" pitchFamily="49" charset="0"/>
              </a:rPr>
              <a:t>&gt;</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r>
            <a:br>
              <a:rPr lang="en-GB" sz="1400" dirty="0">
                <a:latin typeface="Courier New" panose="02070309020205020404" pitchFamily="49" charset="0"/>
                <a:cs typeface="Courier New" panose="02070309020205020404" pitchFamily="49" charset="0"/>
              </a:rPr>
            </a:br>
            <a:r>
              <a:rPr lang="en-GB" sz="1400" dirty="0" smtClean="0">
                <a:latin typeface="Courier New" panose="02070309020205020404" pitchFamily="49" charset="0"/>
                <a:cs typeface="Courier New" panose="02070309020205020404" pitchFamily="49" charset="0"/>
              </a:rPr>
              <a:t>&lt;</a:t>
            </a:r>
            <a:r>
              <a:rPr lang="en-GB" sz="1400" dirty="0">
                <a:solidFill>
                  <a:srgbClr val="000080"/>
                </a:solidFill>
                <a:latin typeface="Courier New" panose="02070309020205020404" pitchFamily="49" charset="0"/>
                <a:cs typeface="Courier New" panose="02070309020205020404" pitchFamily="49" charset="0"/>
              </a:rPr>
              <a:t>button </a:t>
            </a:r>
            <a:r>
              <a:rPr lang="en-GB" sz="1400" dirty="0">
                <a:solidFill>
                  <a:srgbClr val="0000FF"/>
                </a:solidFill>
                <a:latin typeface="Courier New" panose="02070309020205020404" pitchFamily="49" charset="0"/>
                <a:cs typeface="Courier New" panose="02070309020205020404" pitchFamily="49" charset="0"/>
              </a:rPr>
              <a:t>id=</a:t>
            </a:r>
            <a:r>
              <a:rPr lang="en-GB" sz="1400" dirty="0">
                <a:solidFill>
                  <a:srgbClr val="008000"/>
                </a:solidFill>
                <a:latin typeface="Courier New" panose="02070309020205020404" pitchFamily="49" charset="0"/>
                <a:cs typeface="Courier New" panose="02070309020205020404" pitchFamily="49" charset="0"/>
              </a:rPr>
              <a:t>"</a:t>
            </a:r>
            <a:r>
              <a:rPr lang="en-GB" sz="1400" dirty="0" err="1">
                <a:solidFill>
                  <a:srgbClr val="008000"/>
                </a:solidFill>
                <a:latin typeface="Courier New" panose="02070309020205020404" pitchFamily="49" charset="0"/>
                <a:cs typeface="Courier New" panose="02070309020205020404" pitchFamily="49" charset="0"/>
              </a:rPr>
              <a:t>goButton</a:t>
            </a:r>
            <a:r>
              <a:rPr lang="en-GB" sz="1400" dirty="0">
                <a:solidFill>
                  <a:srgbClr val="008000"/>
                </a:solidFill>
                <a:latin typeface="Courier New" panose="02070309020205020404" pitchFamily="49" charset="0"/>
                <a:cs typeface="Courier New" panose="02070309020205020404" pitchFamily="49" charset="0"/>
              </a:rPr>
              <a:t>"</a:t>
            </a:r>
            <a:r>
              <a:rPr lang="en-GB" sz="1400" dirty="0">
                <a:latin typeface="Courier New" panose="02070309020205020404" pitchFamily="49" charset="0"/>
                <a:cs typeface="Courier New" panose="02070309020205020404" pitchFamily="49" charset="0"/>
              </a:rPr>
              <a:t>&gt;Press me&lt;/</a:t>
            </a:r>
            <a:r>
              <a:rPr lang="en-GB" sz="1400" dirty="0">
                <a:solidFill>
                  <a:srgbClr val="000080"/>
                </a:solidFill>
                <a:latin typeface="Courier New" panose="02070309020205020404" pitchFamily="49" charset="0"/>
                <a:cs typeface="Courier New" panose="02070309020205020404" pitchFamily="49" charset="0"/>
              </a:rPr>
              <a:t>button</a:t>
            </a:r>
            <a:r>
              <a:rPr lang="en-GB" sz="1400" dirty="0">
                <a:latin typeface="Courier New" panose="02070309020205020404" pitchFamily="49" charset="0"/>
                <a:cs typeface="Courier New" panose="02070309020205020404" pitchFamily="49" charset="0"/>
              </a:rPr>
              <a:t>&gt;</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&lt;</a:t>
            </a:r>
            <a:r>
              <a:rPr lang="en-GB" sz="1400" dirty="0">
                <a:solidFill>
                  <a:srgbClr val="000080"/>
                </a:solidFill>
                <a:latin typeface="Courier New" panose="02070309020205020404" pitchFamily="49" charset="0"/>
                <a:cs typeface="Courier New" panose="02070309020205020404" pitchFamily="49" charset="0"/>
              </a:rPr>
              <a:t>p </a:t>
            </a:r>
            <a:r>
              <a:rPr lang="en-GB" sz="1400" dirty="0">
                <a:solidFill>
                  <a:srgbClr val="0000FF"/>
                </a:solidFill>
                <a:latin typeface="Courier New" panose="02070309020205020404" pitchFamily="49" charset="0"/>
                <a:cs typeface="Courier New" panose="02070309020205020404" pitchFamily="49" charset="0"/>
              </a:rPr>
              <a:t>style=</a:t>
            </a:r>
            <a:r>
              <a:rPr lang="en-GB" sz="1400" dirty="0">
                <a:solidFill>
                  <a:srgbClr val="008000"/>
                </a:solidFill>
                <a:latin typeface="Courier New" panose="02070309020205020404" pitchFamily="49" charset="0"/>
                <a:cs typeface="Courier New" panose="02070309020205020404" pitchFamily="49" charset="0"/>
              </a:rPr>
              <a:t>"</a:t>
            </a:r>
            <a:r>
              <a:rPr lang="en-GB" sz="1400" dirty="0">
                <a:solidFill>
                  <a:srgbClr val="0000FF"/>
                </a:solidFill>
                <a:latin typeface="Courier New" panose="02070309020205020404" pitchFamily="49" charset="0"/>
                <a:cs typeface="Courier New" panose="02070309020205020404" pitchFamily="49" charset="0"/>
              </a:rPr>
              <a:t>border </a:t>
            </a:r>
            <a:r>
              <a:rPr lang="en-GB" sz="1400" dirty="0">
                <a:latin typeface="Courier New" panose="02070309020205020404" pitchFamily="49" charset="0"/>
                <a:cs typeface="Courier New" panose="02070309020205020404" pitchFamily="49" charset="0"/>
              </a:rPr>
              <a:t>: </a:t>
            </a:r>
            <a:r>
              <a:rPr lang="en-GB" sz="1400" dirty="0">
                <a:solidFill>
                  <a:srgbClr val="0000FF"/>
                </a:solidFill>
                <a:latin typeface="Courier New" panose="02070309020205020404" pitchFamily="49" charset="0"/>
                <a:cs typeface="Courier New" panose="02070309020205020404" pitchFamily="49" charset="0"/>
              </a:rPr>
              <a:t>1</a:t>
            </a:r>
            <a:r>
              <a:rPr lang="en-GB" sz="1400" dirty="0">
                <a:solidFill>
                  <a:srgbClr val="008000"/>
                </a:solidFill>
                <a:latin typeface="Courier New" panose="02070309020205020404" pitchFamily="49" charset="0"/>
                <a:cs typeface="Courier New" panose="02070309020205020404" pitchFamily="49" charset="0"/>
              </a:rPr>
              <a:t>px solid blue</a:t>
            </a:r>
            <a:r>
              <a:rPr lang="en-GB" sz="1400" dirty="0">
                <a:latin typeface="Courier New" panose="02070309020205020404" pitchFamily="49" charset="0"/>
                <a:cs typeface="Courier New" panose="02070309020205020404" pitchFamily="49" charset="0"/>
              </a:rPr>
              <a:t>; </a:t>
            </a:r>
            <a:r>
              <a:rPr lang="en-GB" sz="1400" dirty="0">
                <a:solidFill>
                  <a:srgbClr val="008000"/>
                </a:solidFill>
                <a:latin typeface="Courier New" panose="02070309020205020404" pitchFamily="49" charset="0"/>
                <a:cs typeface="Courier New" panose="02070309020205020404" pitchFamily="49" charset="0"/>
              </a:rPr>
              <a:t>" </a:t>
            </a:r>
            <a:r>
              <a:rPr lang="en-GB" sz="1400" dirty="0">
                <a:solidFill>
                  <a:srgbClr val="0000FF"/>
                </a:solidFill>
                <a:latin typeface="Courier New" panose="02070309020205020404" pitchFamily="49" charset="0"/>
                <a:cs typeface="Courier New" panose="02070309020205020404" pitchFamily="49" charset="0"/>
              </a:rPr>
              <a:t>id=</a:t>
            </a:r>
            <a:r>
              <a:rPr lang="en-GB" sz="1400" dirty="0">
                <a:solidFill>
                  <a:srgbClr val="008000"/>
                </a:solidFill>
                <a:latin typeface="Courier New" panose="02070309020205020404" pitchFamily="49" charset="0"/>
                <a:cs typeface="Courier New" panose="02070309020205020404" pitchFamily="49" charset="0"/>
              </a:rPr>
              <a:t>"output"</a:t>
            </a:r>
            <a:r>
              <a:rPr lang="en-GB" sz="1400" dirty="0">
                <a:latin typeface="Courier New" panose="02070309020205020404" pitchFamily="49" charset="0"/>
                <a:cs typeface="Courier New" panose="02070309020205020404" pitchFamily="49" charset="0"/>
              </a:rPr>
              <a:t>&gt;Output&lt;/</a:t>
            </a:r>
            <a:r>
              <a:rPr lang="en-GB" sz="1400" dirty="0">
                <a:solidFill>
                  <a:srgbClr val="000080"/>
                </a:solidFill>
                <a:latin typeface="Courier New" panose="02070309020205020404" pitchFamily="49" charset="0"/>
                <a:cs typeface="Courier New" panose="02070309020205020404" pitchFamily="49" charset="0"/>
              </a:rPr>
              <a:t>p</a:t>
            </a:r>
            <a:r>
              <a:rPr lang="en-GB" sz="1400" dirty="0">
                <a:latin typeface="Courier New" panose="02070309020205020404" pitchFamily="49" charset="0"/>
                <a:cs typeface="Courier New" panose="02070309020205020404" pitchFamily="49" charset="0"/>
              </a:rPr>
              <a:t>&gt;</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&lt;</a:t>
            </a:r>
            <a:r>
              <a:rPr lang="en-GB" sz="1400" dirty="0">
                <a:solidFill>
                  <a:srgbClr val="000080"/>
                </a:solidFill>
                <a:latin typeface="Courier New" panose="02070309020205020404" pitchFamily="49" charset="0"/>
                <a:cs typeface="Courier New" panose="02070309020205020404" pitchFamily="49" charset="0"/>
              </a:rPr>
              <a:t>script</a:t>
            </a:r>
            <a:r>
              <a:rPr lang="en-GB" sz="1400" dirty="0">
                <a:latin typeface="Courier New" panose="02070309020205020404" pitchFamily="49" charset="0"/>
                <a:cs typeface="Courier New" panose="02070309020205020404" pitchFamily="49" charset="0"/>
              </a:rPr>
              <a:t>&gt;</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    </a:t>
            </a:r>
            <a:r>
              <a:rPr lang="en-GB" sz="1400" dirty="0" err="1">
                <a:solidFill>
                  <a:srgbClr val="660E7A"/>
                </a:solidFill>
                <a:latin typeface="Courier New" panose="02070309020205020404" pitchFamily="49" charset="0"/>
                <a:cs typeface="Courier New" panose="02070309020205020404" pitchFamily="49" charset="0"/>
              </a:rPr>
              <a:t>document</a:t>
            </a:r>
            <a:r>
              <a:rPr lang="en-GB" sz="1400" dirty="0" err="1">
                <a:latin typeface="Courier New" panose="02070309020205020404" pitchFamily="49" charset="0"/>
                <a:cs typeface="Courier New" panose="02070309020205020404" pitchFamily="49" charset="0"/>
              </a:rPr>
              <a:t>.</a:t>
            </a:r>
            <a:r>
              <a:rPr lang="en-GB" sz="1400" dirty="0" err="1">
                <a:solidFill>
                  <a:srgbClr val="7A7A43"/>
                </a:solidFill>
                <a:latin typeface="Courier New" panose="02070309020205020404" pitchFamily="49" charset="0"/>
                <a:cs typeface="Courier New" panose="02070309020205020404" pitchFamily="49" charset="0"/>
              </a:rPr>
              <a:t>getElementById</a:t>
            </a:r>
            <a:r>
              <a:rPr lang="en-GB" sz="1400" dirty="0">
                <a:latin typeface="Courier New" panose="02070309020205020404" pitchFamily="49" charset="0"/>
                <a:cs typeface="Courier New" panose="02070309020205020404" pitchFamily="49" charset="0"/>
              </a:rPr>
              <a:t>(</a:t>
            </a:r>
            <a:r>
              <a:rPr lang="en-GB" sz="1400" dirty="0">
                <a:solidFill>
                  <a:srgbClr val="008000"/>
                </a:solidFill>
                <a:latin typeface="Courier New" panose="02070309020205020404" pitchFamily="49" charset="0"/>
                <a:cs typeface="Courier New" panose="02070309020205020404" pitchFamily="49" charset="0"/>
              </a:rPr>
              <a:t>'</a:t>
            </a:r>
            <a:r>
              <a:rPr lang="en-GB" sz="1400" dirty="0" err="1">
                <a:solidFill>
                  <a:srgbClr val="008000"/>
                </a:solidFill>
                <a:latin typeface="Courier New" panose="02070309020205020404" pitchFamily="49" charset="0"/>
                <a:cs typeface="Courier New" panose="02070309020205020404" pitchFamily="49" charset="0"/>
              </a:rPr>
              <a:t>goButton</a:t>
            </a:r>
            <a:r>
              <a:rPr lang="en-GB" sz="1400" dirty="0">
                <a:solidFill>
                  <a:srgbClr val="008000"/>
                </a:solidFill>
                <a:latin typeface="Courier New" panose="02070309020205020404" pitchFamily="49" charset="0"/>
                <a:cs typeface="Courier New" panose="02070309020205020404" pitchFamily="49" charset="0"/>
              </a:rPr>
              <a:t>'</a:t>
            </a:r>
            <a:r>
              <a:rPr lang="en-GB" sz="1400" dirty="0">
                <a:latin typeface="Courier New" panose="02070309020205020404" pitchFamily="49" charset="0"/>
                <a:cs typeface="Courier New" panose="02070309020205020404" pitchFamily="49" charset="0"/>
              </a:rPr>
              <a:t>).</a:t>
            </a:r>
            <a:r>
              <a:rPr lang="en-GB" sz="1400" dirty="0" err="1">
                <a:solidFill>
                  <a:srgbClr val="7A7A43"/>
                </a:solidFill>
                <a:latin typeface="Courier New" panose="02070309020205020404" pitchFamily="49" charset="0"/>
                <a:cs typeface="Courier New" panose="02070309020205020404" pitchFamily="49" charset="0"/>
              </a:rPr>
              <a:t>addEventListener</a:t>
            </a:r>
            <a:r>
              <a:rPr lang="en-GB" sz="1400" dirty="0">
                <a:latin typeface="Courier New" panose="02070309020205020404" pitchFamily="49" charset="0"/>
                <a:cs typeface="Courier New" panose="02070309020205020404" pitchFamily="49" charset="0"/>
              </a:rPr>
              <a:t>(</a:t>
            </a:r>
            <a:r>
              <a:rPr lang="en-GB" sz="1400" dirty="0">
                <a:solidFill>
                  <a:srgbClr val="008000"/>
                </a:solidFill>
                <a:latin typeface="Courier New" panose="02070309020205020404" pitchFamily="49" charset="0"/>
                <a:cs typeface="Courier New" panose="02070309020205020404" pitchFamily="49" charset="0"/>
              </a:rPr>
              <a:t>'click'</a:t>
            </a:r>
            <a:r>
              <a:rPr lang="en-GB" sz="1400" dirty="0">
                <a:latin typeface="Courier New" panose="02070309020205020404" pitchFamily="49" charset="0"/>
                <a:cs typeface="Courier New" panose="02070309020205020404" pitchFamily="49" charset="0"/>
              </a:rPr>
              <a:t>, </a:t>
            </a:r>
            <a:r>
              <a:rPr lang="en-GB" sz="1400" i="1" dirty="0" err="1">
                <a:latin typeface="Courier New" panose="02070309020205020404" pitchFamily="49" charset="0"/>
                <a:cs typeface="Courier New" panose="02070309020205020404" pitchFamily="49" charset="0"/>
              </a:rPr>
              <a:t>onclickHandler</a:t>
            </a:r>
            <a:r>
              <a:rPr lang="en-GB" sz="1400" dirty="0">
                <a:latin typeface="Courier New" panose="02070309020205020404" pitchFamily="49" charset="0"/>
                <a:cs typeface="Courier New" panose="02070309020205020404" pitchFamily="49" charset="0"/>
              </a:rPr>
              <a:t>, </a:t>
            </a:r>
            <a:r>
              <a:rPr lang="en-GB" sz="1400" dirty="0">
                <a:solidFill>
                  <a:srgbClr val="000080"/>
                </a:solidFill>
                <a:latin typeface="Courier New" panose="02070309020205020404" pitchFamily="49" charset="0"/>
                <a:cs typeface="Courier New" panose="02070309020205020404" pitchFamily="49" charset="0"/>
              </a:rPr>
              <a:t>false</a:t>
            </a:r>
            <a:r>
              <a:rPr lang="en-GB" sz="1400" dirty="0">
                <a:latin typeface="Courier New" panose="02070309020205020404" pitchFamily="49" charset="0"/>
                <a:cs typeface="Courier New" panose="02070309020205020404" pitchFamily="49" charset="0"/>
              </a:rPr>
              <a:t>);</a:t>
            </a:r>
            <a:br>
              <a:rPr lang="en-GB" sz="1400" dirty="0">
                <a:latin typeface="Courier New" panose="02070309020205020404" pitchFamily="49" charset="0"/>
                <a:cs typeface="Courier New" panose="02070309020205020404" pitchFamily="49" charset="0"/>
              </a:rPr>
            </a:br>
            <a:r>
              <a:rPr lang="en-GB" sz="1400" dirty="0">
                <a:latin typeface="Courier New" panose="02070309020205020404" pitchFamily="49" charset="0"/>
                <a:cs typeface="Courier New" panose="02070309020205020404" pitchFamily="49" charset="0"/>
              </a:rPr>
              <a:t>&lt;/</a:t>
            </a:r>
            <a:r>
              <a:rPr lang="en-GB" sz="1400" dirty="0">
                <a:solidFill>
                  <a:srgbClr val="000080"/>
                </a:solidFill>
                <a:latin typeface="Courier New" panose="02070309020205020404" pitchFamily="49" charset="0"/>
                <a:cs typeface="Courier New" panose="02070309020205020404" pitchFamily="49" charset="0"/>
              </a:rPr>
              <a:t>script</a:t>
            </a:r>
            <a:r>
              <a:rPr lang="en-GB" sz="1400" dirty="0" smtClean="0">
                <a:latin typeface="Courier New" panose="02070309020205020404" pitchFamily="49" charset="0"/>
                <a:cs typeface="Courier New" panose="02070309020205020404" pitchFamily="49" charset="0"/>
              </a:rPr>
              <a:t>&gt;</a:t>
            </a:r>
            <a:endParaRPr lang="en-US" altLang="en-US" sz="1400" b="0" dirty="0" smtClean="0">
              <a:solidFill>
                <a:srgbClr val="000000"/>
              </a:solidFill>
              <a:latin typeface="Courier New" panose="02070309020205020404" pitchFamily="49" charset="0"/>
              <a:cs typeface="Courier New" panose="02070309020205020404" pitchFamily="49" charset="0"/>
            </a:endParaRPr>
          </a:p>
        </p:txBody>
      </p:sp>
      <p:sp>
        <p:nvSpPr>
          <p:cNvPr id="6"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15.4 – </a:t>
            </a:r>
            <a:r>
              <a:rPr lang="en-US" altLang="en-US" sz="3600" i="1" dirty="0" smtClean="0">
                <a:solidFill>
                  <a:srgbClr val="000000"/>
                </a:solidFill>
                <a:latin typeface="Arial" pitchFamily="34" charset="0"/>
                <a:cs typeface="Arial" pitchFamily="34" charset="0"/>
              </a:rPr>
              <a:t>fetch() : 2</a:t>
            </a:r>
            <a:endParaRPr lang="en-GB" sz="3600" b="0" i="1"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3442" t="17489" r="66933" b="74748"/>
          <a:stretch/>
        </p:blipFill>
        <p:spPr bwMode="auto">
          <a:xfrm>
            <a:off x="6308383" y="3618870"/>
            <a:ext cx="2384245" cy="1081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510419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193</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15.5 – live search</a:t>
            </a:r>
            <a:endParaRPr lang="en-GB" sz="3600" b="0" dirty="0"/>
          </a:p>
        </p:txBody>
      </p:sp>
      <p:sp>
        <p:nvSpPr>
          <p:cNvPr id="4" name="Rectangle 2"/>
          <p:cNvSpPr txBox="1">
            <a:spLocks noChangeArrowheads="1"/>
          </p:cNvSpPr>
          <p:nvPr/>
        </p:nvSpPr>
        <p:spPr>
          <a:xfrm>
            <a:off x="467544" y="1125539"/>
            <a:ext cx="8425631" cy="1439365"/>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lgn="just">
              <a:spcBef>
                <a:spcPts val="400"/>
              </a:spcBef>
              <a:buClr>
                <a:schemeClr val="accent1"/>
              </a:buClr>
              <a:buFont typeface="Arial" panose="020B0604020202020204" pitchFamily="34" charset="0"/>
              <a:buChar char="•"/>
              <a:defRPr/>
            </a:pPr>
            <a:r>
              <a:rPr lang="en-GB" sz="2000" b="0" dirty="0" smtClean="0">
                <a:latin typeface="Arial" charset="0"/>
                <a:cs typeface="Arial" charset="0"/>
                <a:sym typeface="Arial" charset="0"/>
              </a:rPr>
              <a:t>Now we have seen the basics of loading data as required within a client web application we can put it to use. An example we have all seen below where Google’s search engine returns results suggestions as the user types</a:t>
            </a:r>
          </a:p>
          <a:p>
            <a:pPr marL="342900" indent="-342900" algn="just">
              <a:spcBef>
                <a:spcPts val="400"/>
              </a:spcBef>
              <a:buClr>
                <a:schemeClr val="accent1"/>
              </a:buClr>
              <a:buFont typeface="Arial" panose="020B0604020202020204" pitchFamily="34" charset="0"/>
              <a:buChar char="•"/>
              <a:defRPr/>
            </a:pPr>
            <a:endParaRPr lang="en-GB" sz="20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GB" sz="11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GB" sz="2000" b="0" dirty="0" smtClean="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GB" sz="2000" b="0" dirty="0">
              <a:latin typeface="Arial" charset="0"/>
              <a:cs typeface="Arial" charset="0"/>
              <a:sym typeface="Arial" charset="0"/>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302" t="27039" r="29884" b="24713"/>
          <a:stretch/>
        </p:blipFill>
        <p:spPr bwMode="auto">
          <a:xfrm>
            <a:off x="1835696" y="2708920"/>
            <a:ext cx="4920571" cy="3271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72940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194</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15.5 – live search</a:t>
            </a:r>
            <a:endParaRPr lang="en-GB" sz="3600" b="0" dirty="0"/>
          </a:p>
        </p:txBody>
      </p:sp>
      <p:sp>
        <p:nvSpPr>
          <p:cNvPr id="4" name="Rectangle 2"/>
          <p:cNvSpPr txBox="1">
            <a:spLocks noChangeArrowheads="1"/>
          </p:cNvSpPr>
          <p:nvPr/>
        </p:nvSpPr>
        <p:spPr>
          <a:xfrm>
            <a:off x="467544" y="1125539"/>
            <a:ext cx="8425631" cy="1871413"/>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lgn="just">
              <a:spcBef>
                <a:spcPts val="400"/>
              </a:spcBef>
              <a:buClr>
                <a:schemeClr val="accent1"/>
              </a:buClr>
              <a:buFont typeface="Arial" panose="020B0604020202020204" pitchFamily="34" charset="0"/>
              <a:buChar char="•"/>
              <a:defRPr/>
            </a:pPr>
            <a:r>
              <a:rPr lang="en-GB" sz="2000" b="0" dirty="0" smtClean="0">
                <a:latin typeface="Arial" charset="0"/>
                <a:cs typeface="Arial" charset="0"/>
                <a:sym typeface="Arial" charset="0"/>
              </a:rPr>
              <a:t>The principle is straightforward:</a:t>
            </a:r>
          </a:p>
          <a:p>
            <a:pPr marL="742950" lvl="1" indent="-342900" algn="just">
              <a:spcBef>
                <a:spcPts val="400"/>
              </a:spcBef>
              <a:buClr>
                <a:schemeClr val="accent1"/>
              </a:buClr>
              <a:buFont typeface="Arial" panose="020B0604020202020204" pitchFamily="34" charset="0"/>
              <a:buChar char="•"/>
              <a:defRPr/>
            </a:pPr>
            <a:r>
              <a:rPr lang="en-GB" sz="1600" b="0" dirty="0" smtClean="0">
                <a:latin typeface="Arial" charset="0"/>
                <a:cs typeface="Arial" charset="0"/>
                <a:sym typeface="Arial" charset="0"/>
              </a:rPr>
              <a:t>UI text control which triggers events when changed</a:t>
            </a:r>
          </a:p>
          <a:p>
            <a:pPr marL="742950" lvl="1" indent="-342900" algn="just">
              <a:spcBef>
                <a:spcPts val="400"/>
              </a:spcBef>
              <a:buClr>
                <a:schemeClr val="accent1"/>
              </a:buClr>
              <a:buFont typeface="Arial" panose="020B0604020202020204" pitchFamily="34" charset="0"/>
              <a:buChar char="•"/>
              <a:defRPr/>
            </a:pPr>
            <a:r>
              <a:rPr lang="en-GB" sz="1600" b="0" dirty="0" smtClean="0">
                <a:latin typeface="Arial" charset="0"/>
                <a:cs typeface="Arial" charset="0"/>
                <a:sym typeface="Arial" charset="0"/>
              </a:rPr>
              <a:t>Event handler sends an AJAX type call to a server application with a text parameter in the query string</a:t>
            </a:r>
          </a:p>
          <a:p>
            <a:pPr marL="742950" lvl="1" indent="-342900" algn="just">
              <a:spcBef>
                <a:spcPts val="400"/>
              </a:spcBef>
              <a:buClr>
                <a:schemeClr val="accent1"/>
              </a:buClr>
              <a:buFont typeface="Arial" panose="020B0604020202020204" pitchFamily="34" charset="0"/>
              <a:buChar char="•"/>
              <a:defRPr/>
            </a:pPr>
            <a:r>
              <a:rPr lang="en-GB" sz="1600" b="0" dirty="0" smtClean="0">
                <a:latin typeface="Arial" charset="0"/>
                <a:cs typeface="Arial" charset="0"/>
                <a:sym typeface="Arial" charset="0"/>
              </a:rPr>
              <a:t>Server application carries out a search and returns data</a:t>
            </a:r>
          </a:p>
          <a:p>
            <a:pPr marL="742950" lvl="1" indent="-342900" algn="just">
              <a:spcBef>
                <a:spcPts val="400"/>
              </a:spcBef>
              <a:buClr>
                <a:schemeClr val="accent1"/>
              </a:buClr>
              <a:buFont typeface="Arial" panose="020B0604020202020204" pitchFamily="34" charset="0"/>
              <a:buChar char="•"/>
              <a:defRPr/>
            </a:pPr>
            <a:r>
              <a:rPr lang="en-GB" sz="1600" b="0" dirty="0" smtClean="0">
                <a:latin typeface="Arial" charset="0"/>
                <a:cs typeface="Arial" charset="0"/>
                <a:sym typeface="Arial" charset="0"/>
              </a:rPr>
              <a:t>Returned data is displayed in the UI without the need for a page refresh</a:t>
            </a:r>
          </a:p>
          <a:p>
            <a:pPr marL="342900" indent="-342900" algn="just">
              <a:spcBef>
                <a:spcPts val="400"/>
              </a:spcBef>
              <a:buClr>
                <a:schemeClr val="accent1"/>
              </a:buClr>
              <a:buFont typeface="Arial" panose="020B0604020202020204" pitchFamily="34" charset="0"/>
              <a:buChar char="•"/>
              <a:defRPr/>
            </a:pPr>
            <a:endParaRPr lang="en-GB" sz="20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GB" sz="1100" b="0" dirty="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GB" sz="2000" b="0" dirty="0" smtClean="0">
              <a:latin typeface="Arial" charset="0"/>
              <a:cs typeface="Arial" charset="0"/>
              <a:sym typeface="Arial" charset="0"/>
            </a:endParaRPr>
          </a:p>
          <a:p>
            <a:pPr marL="342900" indent="-342900" algn="just">
              <a:spcBef>
                <a:spcPts val="400"/>
              </a:spcBef>
              <a:buClr>
                <a:schemeClr val="accent1"/>
              </a:buClr>
              <a:buFont typeface="Arial" panose="020B0604020202020204" pitchFamily="34" charset="0"/>
              <a:buChar char="•"/>
              <a:defRPr/>
            </a:pPr>
            <a:endParaRPr lang="en-GB" sz="2000" b="0" dirty="0">
              <a:latin typeface="Arial" charset="0"/>
              <a:cs typeface="Arial" charset="0"/>
              <a:sym typeface="Arial" charset="0"/>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302" t="27039" r="29884" b="24713"/>
          <a:stretch/>
        </p:blipFill>
        <p:spPr bwMode="auto">
          <a:xfrm>
            <a:off x="2129556" y="3140968"/>
            <a:ext cx="4920571" cy="3271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3575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195</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15.5 – live search</a:t>
            </a:r>
            <a:endParaRPr lang="en-GB" sz="3600" b="0" dirty="0"/>
          </a:p>
        </p:txBody>
      </p:sp>
      <p:sp>
        <p:nvSpPr>
          <p:cNvPr id="4" name="Rectangle 2"/>
          <p:cNvSpPr txBox="1">
            <a:spLocks noChangeArrowheads="1"/>
          </p:cNvSpPr>
          <p:nvPr/>
        </p:nvSpPr>
        <p:spPr>
          <a:xfrm>
            <a:off x="467544" y="1125539"/>
            <a:ext cx="8425631" cy="3959645"/>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spcBef>
                <a:spcPts val="400"/>
              </a:spcBef>
              <a:buClr>
                <a:schemeClr val="accent1"/>
              </a:buClr>
              <a:buAutoNum type="arabicParenR"/>
              <a:defRPr/>
            </a:pPr>
            <a:r>
              <a:rPr lang="en-GB" sz="2400" b="0" dirty="0" smtClean="0">
                <a:latin typeface="+mj-lt"/>
                <a:cs typeface="Courier New" panose="02070309020205020404" pitchFamily="49" charset="0"/>
                <a:sym typeface="Arial" charset="0"/>
              </a:rPr>
              <a:t>UI controls part</a:t>
            </a:r>
          </a:p>
          <a:p>
            <a:pPr marL="0" indent="0">
              <a:spcBef>
                <a:spcPts val="400"/>
              </a:spcBef>
              <a:buClr>
                <a:schemeClr val="accent1"/>
              </a:buClr>
              <a:defRPr/>
            </a:pPr>
            <a:endParaRPr lang="en-GB" sz="800" dirty="0" smtClean="0">
              <a:latin typeface="Courier New" panose="02070309020205020404" pitchFamily="49" charset="0"/>
              <a:cs typeface="Courier New" panose="02070309020205020404" pitchFamily="49" charset="0"/>
            </a:endParaRPr>
          </a:p>
          <a:p>
            <a:pPr marL="0" indent="0">
              <a:spcBef>
                <a:spcPts val="400"/>
              </a:spcBef>
              <a:buClr>
                <a:schemeClr val="accent1"/>
              </a:buClr>
              <a:defRPr/>
            </a:pPr>
            <a:r>
              <a:rPr lang="en-GB" sz="1600" dirty="0" smtClean="0">
                <a:latin typeface="Courier New" panose="02070309020205020404" pitchFamily="49" charset="0"/>
                <a:cs typeface="Courier New" panose="02070309020205020404" pitchFamily="49" charset="0"/>
              </a:rPr>
              <a:t>&lt;</a:t>
            </a:r>
            <a:r>
              <a:rPr lang="en-GB" sz="1600" dirty="0" smtClean="0">
                <a:solidFill>
                  <a:srgbClr val="000080"/>
                </a:solidFill>
                <a:latin typeface="Courier New" panose="02070309020205020404" pitchFamily="49" charset="0"/>
                <a:cs typeface="Courier New" panose="02070309020205020404" pitchFamily="49" charset="0"/>
              </a:rPr>
              <a:t>body</a:t>
            </a:r>
            <a:r>
              <a:rPr lang="en-GB" sz="1600" dirty="0">
                <a:latin typeface="Courier New" panose="02070309020205020404" pitchFamily="49" charset="0"/>
                <a:cs typeface="Courier New" panose="02070309020205020404" pitchFamily="49" charset="0"/>
              </a:rPr>
              <a:t>&gt;</a:t>
            </a:r>
            <a:br>
              <a:rPr lang="en-GB" sz="1600" dirty="0">
                <a:latin typeface="Courier New" panose="02070309020205020404" pitchFamily="49" charset="0"/>
                <a:cs typeface="Courier New" panose="02070309020205020404" pitchFamily="49" charset="0"/>
              </a:rPr>
            </a:br>
            <a:endParaRPr lang="en-GB" sz="1600" dirty="0" smtClean="0">
              <a:latin typeface="Courier New" panose="02070309020205020404" pitchFamily="49" charset="0"/>
              <a:cs typeface="Courier New" panose="02070309020205020404" pitchFamily="49" charset="0"/>
            </a:endParaRPr>
          </a:p>
          <a:p>
            <a:pPr marL="0" indent="0">
              <a:spcBef>
                <a:spcPts val="400"/>
              </a:spcBef>
              <a:buClr>
                <a:schemeClr val="accent1"/>
              </a:buClr>
              <a:defRPr/>
            </a:pPr>
            <a:r>
              <a:rPr lang="en-GB" sz="1600" dirty="0" smtClean="0">
                <a:latin typeface="Courier New" panose="02070309020205020404" pitchFamily="49" charset="0"/>
                <a:cs typeface="Courier New" panose="02070309020205020404" pitchFamily="49" charset="0"/>
              </a:rPr>
              <a:t>&lt;</a:t>
            </a:r>
            <a:r>
              <a:rPr lang="en-GB" sz="1600" dirty="0" smtClean="0">
                <a:solidFill>
                  <a:srgbClr val="000080"/>
                </a:solidFill>
                <a:latin typeface="Courier New" panose="02070309020205020404" pitchFamily="49" charset="0"/>
                <a:cs typeface="Courier New" panose="02070309020205020404" pitchFamily="49" charset="0"/>
              </a:rPr>
              <a:t>p</a:t>
            </a:r>
            <a:r>
              <a:rPr lang="en-GB" sz="1600" dirty="0" smtClean="0">
                <a:latin typeface="Courier New" panose="02070309020205020404" pitchFamily="49" charset="0"/>
                <a:cs typeface="Courier New" panose="02070309020205020404" pitchFamily="49" charset="0"/>
              </a:rPr>
              <a:t>&gt;Start </a:t>
            </a:r>
            <a:r>
              <a:rPr lang="en-GB" sz="1600" dirty="0">
                <a:latin typeface="Courier New" panose="02070309020205020404" pitchFamily="49" charset="0"/>
                <a:cs typeface="Courier New" panose="02070309020205020404" pitchFamily="49" charset="0"/>
              </a:rPr>
              <a:t>typing a name in the input field below</a:t>
            </a:r>
            <a:r>
              <a:rPr lang="en-GB" sz="1600" dirty="0" smtClean="0">
                <a:latin typeface="Courier New" panose="02070309020205020404" pitchFamily="49" charset="0"/>
                <a:cs typeface="Courier New" panose="02070309020205020404" pitchFamily="49" charset="0"/>
              </a:rPr>
              <a:t>:&lt;/</a:t>
            </a:r>
            <a:r>
              <a:rPr lang="en-GB" sz="1600" dirty="0">
                <a:solidFill>
                  <a:srgbClr val="000080"/>
                </a:solidFill>
                <a:latin typeface="Courier New" panose="02070309020205020404" pitchFamily="49" charset="0"/>
                <a:cs typeface="Courier New" panose="02070309020205020404" pitchFamily="49" charset="0"/>
              </a:rPr>
              <a:t>p</a:t>
            </a:r>
            <a:r>
              <a:rPr lang="en-GB" sz="1600" dirty="0">
                <a:latin typeface="Courier New" panose="02070309020205020404" pitchFamily="49" charset="0"/>
                <a:cs typeface="Courier New" panose="02070309020205020404" pitchFamily="49" charset="0"/>
              </a:rPr>
              <a:t>&gt;</a:t>
            </a:r>
            <a:br>
              <a:rPr lang="en-GB" sz="1600" dirty="0">
                <a:latin typeface="Courier New" panose="02070309020205020404" pitchFamily="49" charset="0"/>
                <a:cs typeface="Courier New" panose="02070309020205020404" pitchFamily="49" charset="0"/>
              </a:rPr>
            </a:br>
            <a:endParaRPr lang="en-GB" sz="1600" dirty="0" smtClean="0">
              <a:latin typeface="Courier New" panose="02070309020205020404" pitchFamily="49" charset="0"/>
              <a:cs typeface="Courier New" panose="02070309020205020404" pitchFamily="49" charset="0"/>
            </a:endParaRPr>
          </a:p>
          <a:p>
            <a:pPr marL="0" indent="0">
              <a:spcBef>
                <a:spcPts val="400"/>
              </a:spcBef>
              <a:buClr>
                <a:schemeClr val="accent1"/>
              </a:buClr>
              <a:defRPr/>
            </a:pPr>
            <a:r>
              <a:rPr lang="en-GB" sz="1600" dirty="0" smtClean="0">
                <a:latin typeface="Courier New" panose="02070309020205020404" pitchFamily="49" charset="0"/>
                <a:cs typeface="Courier New" panose="02070309020205020404" pitchFamily="49" charset="0"/>
              </a:rPr>
              <a:t>&lt;</a:t>
            </a:r>
            <a:r>
              <a:rPr lang="en-GB" sz="1600" dirty="0">
                <a:solidFill>
                  <a:srgbClr val="000080"/>
                </a:solidFill>
                <a:latin typeface="Courier New" panose="02070309020205020404" pitchFamily="49" charset="0"/>
                <a:cs typeface="Courier New" panose="02070309020205020404" pitchFamily="49" charset="0"/>
              </a:rPr>
              <a:t>form</a:t>
            </a:r>
            <a:r>
              <a:rPr lang="en-GB" sz="1600" dirty="0">
                <a:latin typeface="Courier New" panose="02070309020205020404" pitchFamily="49" charset="0"/>
                <a:cs typeface="Courier New" panose="02070309020205020404" pitchFamily="49" charset="0"/>
              </a:rPr>
              <a:t>&gt; </a:t>
            </a:r>
            <a:br>
              <a:rPr lang="en-GB" sz="1600" dirty="0">
                <a:latin typeface="Courier New" panose="02070309020205020404" pitchFamily="49" charset="0"/>
                <a:cs typeface="Courier New" panose="02070309020205020404" pitchFamily="49" charset="0"/>
              </a:rPr>
            </a:br>
            <a:r>
              <a:rPr lang="en-GB" sz="1600" dirty="0">
                <a:latin typeface="Courier New" panose="02070309020205020404" pitchFamily="49" charset="0"/>
                <a:cs typeface="Courier New" panose="02070309020205020404" pitchFamily="49" charset="0"/>
              </a:rPr>
              <a:t>First name: &lt;</a:t>
            </a:r>
            <a:r>
              <a:rPr lang="en-GB" sz="1600" dirty="0">
                <a:solidFill>
                  <a:srgbClr val="000080"/>
                </a:solidFill>
                <a:latin typeface="Courier New" panose="02070309020205020404" pitchFamily="49" charset="0"/>
                <a:cs typeface="Courier New" panose="02070309020205020404" pitchFamily="49" charset="0"/>
              </a:rPr>
              <a:t>input </a:t>
            </a:r>
            <a:r>
              <a:rPr lang="en-GB" sz="1600" dirty="0">
                <a:solidFill>
                  <a:srgbClr val="0000FF"/>
                </a:solidFill>
                <a:latin typeface="Courier New" panose="02070309020205020404" pitchFamily="49" charset="0"/>
                <a:cs typeface="Courier New" panose="02070309020205020404" pitchFamily="49" charset="0"/>
              </a:rPr>
              <a:t>type=</a:t>
            </a:r>
            <a:r>
              <a:rPr lang="en-GB" sz="1600" dirty="0">
                <a:solidFill>
                  <a:srgbClr val="008000"/>
                </a:solidFill>
                <a:latin typeface="Courier New" panose="02070309020205020404" pitchFamily="49" charset="0"/>
                <a:cs typeface="Courier New" panose="02070309020205020404" pitchFamily="49" charset="0"/>
              </a:rPr>
              <a:t>"text" </a:t>
            </a:r>
            <a:r>
              <a:rPr lang="en-GB" sz="1600" dirty="0" err="1">
                <a:solidFill>
                  <a:srgbClr val="0000FF"/>
                </a:solidFill>
                <a:latin typeface="Courier New" panose="02070309020205020404" pitchFamily="49" charset="0"/>
                <a:cs typeface="Courier New" panose="02070309020205020404" pitchFamily="49" charset="0"/>
              </a:rPr>
              <a:t>onkeyup</a:t>
            </a:r>
            <a:r>
              <a:rPr lang="en-GB" sz="1600" dirty="0">
                <a:solidFill>
                  <a:srgbClr val="0000FF"/>
                </a:solidFill>
                <a:latin typeface="Courier New" panose="02070309020205020404" pitchFamily="49" charset="0"/>
                <a:cs typeface="Courier New" panose="02070309020205020404" pitchFamily="49" charset="0"/>
              </a:rPr>
              <a:t>=</a:t>
            </a:r>
            <a:r>
              <a:rPr lang="en-GB" sz="1600" dirty="0">
                <a:solidFill>
                  <a:srgbClr val="008000"/>
                </a:solidFill>
                <a:latin typeface="Courier New" panose="02070309020205020404" pitchFamily="49" charset="0"/>
                <a:cs typeface="Courier New" panose="02070309020205020404" pitchFamily="49" charset="0"/>
              </a:rPr>
              <a:t>"</a:t>
            </a:r>
            <a:r>
              <a:rPr lang="en-GB" sz="1600" i="1" dirty="0" err="1">
                <a:latin typeface="Courier New" panose="02070309020205020404" pitchFamily="49" charset="0"/>
                <a:cs typeface="Courier New" panose="02070309020205020404" pitchFamily="49" charset="0"/>
              </a:rPr>
              <a:t>showHint</a:t>
            </a:r>
            <a:r>
              <a:rPr lang="en-GB" sz="1600" dirty="0">
                <a:latin typeface="Courier New" panose="02070309020205020404" pitchFamily="49" charset="0"/>
                <a:cs typeface="Courier New" panose="02070309020205020404" pitchFamily="49" charset="0"/>
              </a:rPr>
              <a:t>(</a:t>
            </a:r>
            <a:r>
              <a:rPr lang="en-GB" sz="1600" dirty="0" err="1">
                <a:solidFill>
                  <a:srgbClr val="000080"/>
                </a:solidFill>
                <a:latin typeface="Courier New" panose="02070309020205020404" pitchFamily="49" charset="0"/>
                <a:cs typeface="Courier New" panose="02070309020205020404" pitchFamily="49" charset="0"/>
              </a:rPr>
              <a:t>this</a:t>
            </a:r>
            <a:r>
              <a:rPr lang="en-GB" sz="1600" dirty="0" err="1">
                <a:latin typeface="Courier New" panose="02070309020205020404" pitchFamily="49" charset="0"/>
                <a:cs typeface="Courier New" panose="02070309020205020404" pitchFamily="49" charset="0"/>
              </a:rPr>
              <a:t>.</a:t>
            </a:r>
            <a:r>
              <a:rPr lang="en-GB" sz="1600" dirty="0" err="1">
                <a:solidFill>
                  <a:srgbClr val="660E7A"/>
                </a:solidFill>
                <a:latin typeface="Courier New" panose="02070309020205020404" pitchFamily="49" charset="0"/>
                <a:cs typeface="Courier New" panose="02070309020205020404" pitchFamily="49" charset="0"/>
              </a:rPr>
              <a:t>value</a:t>
            </a:r>
            <a:r>
              <a:rPr lang="en-GB" sz="1600" dirty="0">
                <a:latin typeface="Courier New" panose="02070309020205020404" pitchFamily="49" charset="0"/>
                <a:cs typeface="Courier New" panose="02070309020205020404" pitchFamily="49" charset="0"/>
              </a:rPr>
              <a:t>)</a:t>
            </a:r>
            <a:r>
              <a:rPr lang="en-GB" sz="1600" dirty="0">
                <a:solidFill>
                  <a:srgbClr val="00800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&gt;</a:t>
            </a:r>
            <a:br>
              <a:rPr lang="en-GB" sz="1600" dirty="0">
                <a:latin typeface="Courier New" panose="02070309020205020404" pitchFamily="49" charset="0"/>
                <a:cs typeface="Courier New" panose="02070309020205020404" pitchFamily="49" charset="0"/>
              </a:rPr>
            </a:br>
            <a:r>
              <a:rPr lang="en-GB" sz="1600" dirty="0">
                <a:latin typeface="Courier New" panose="02070309020205020404" pitchFamily="49" charset="0"/>
                <a:cs typeface="Courier New" panose="02070309020205020404" pitchFamily="49" charset="0"/>
              </a:rPr>
              <a:t>&lt;/</a:t>
            </a:r>
            <a:r>
              <a:rPr lang="en-GB" sz="1600" dirty="0">
                <a:solidFill>
                  <a:srgbClr val="000080"/>
                </a:solidFill>
                <a:latin typeface="Courier New" panose="02070309020205020404" pitchFamily="49" charset="0"/>
                <a:cs typeface="Courier New" panose="02070309020205020404" pitchFamily="49" charset="0"/>
              </a:rPr>
              <a:t>form</a:t>
            </a:r>
            <a:r>
              <a:rPr lang="en-GB" sz="1600" dirty="0">
                <a:latin typeface="Courier New" panose="02070309020205020404" pitchFamily="49" charset="0"/>
                <a:cs typeface="Courier New" panose="02070309020205020404" pitchFamily="49" charset="0"/>
              </a:rPr>
              <a:t>&gt;</a:t>
            </a:r>
            <a:br>
              <a:rPr lang="en-GB" sz="1600" dirty="0">
                <a:latin typeface="Courier New" panose="02070309020205020404" pitchFamily="49" charset="0"/>
                <a:cs typeface="Courier New" panose="02070309020205020404" pitchFamily="49" charset="0"/>
              </a:rPr>
            </a:br>
            <a:endParaRPr lang="en-GB" sz="1600" dirty="0" smtClean="0">
              <a:latin typeface="Courier New" panose="02070309020205020404" pitchFamily="49" charset="0"/>
              <a:cs typeface="Courier New" panose="02070309020205020404" pitchFamily="49" charset="0"/>
            </a:endParaRPr>
          </a:p>
          <a:p>
            <a:pPr marL="0" indent="0">
              <a:spcBef>
                <a:spcPts val="400"/>
              </a:spcBef>
              <a:buClr>
                <a:schemeClr val="accent1"/>
              </a:buClr>
              <a:defRPr/>
            </a:pPr>
            <a:r>
              <a:rPr lang="en-GB" sz="1600" dirty="0" smtClean="0">
                <a:latin typeface="Courier New" panose="02070309020205020404" pitchFamily="49" charset="0"/>
                <a:cs typeface="Courier New" panose="02070309020205020404" pitchFamily="49" charset="0"/>
              </a:rPr>
              <a:t>&lt;</a:t>
            </a:r>
            <a:r>
              <a:rPr lang="en-GB" sz="1600" dirty="0">
                <a:solidFill>
                  <a:srgbClr val="000080"/>
                </a:solidFill>
                <a:latin typeface="Courier New" panose="02070309020205020404" pitchFamily="49" charset="0"/>
                <a:cs typeface="Courier New" panose="02070309020205020404" pitchFamily="49" charset="0"/>
              </a:rPr>
              <a:t>p</a:t>
            </a:r>
            <a:r>
              <a:rPr lang="en-GB" sz="1600" dirty="0">
                <a:latin typeface="Courier New" panose="02070309020205020404" pitchFamily="49" charset="0"/>
                <a:cs typeface="Courier New" panose="02070309020205020404" pitchFamily="49" charset="0"/>
              </a:rPr>
              <a:t>&gt;Suggestions: &lt;</a:t>
            </a:r>
            <a:r>
              <a:rPr lang="en-GB" sz="1600" dirty="0">
                <a:solidFill>
                  <a:srgbClr val="000080"/>
                </a:solidFill>
                <a:latin typeface="Courier New" panose="02070309020205020404" pitchFamily="49" charset="0"/>
                <a:cs typeface="Courier New" panose="02070309020205020404" pitchFamily="49" charset="0"/>
              </a:rPr>
              <a:t>span </a:t>
            </a:r>
            <a:r>
              <a:rPr lang="en-GB" sz="1600" dirty="0">
                <a:solidFill>
                  <a:srgbClr val="0000FF"/>
                </a:solidFill>
                <a:latin typeface="Courier New" panose="02070309020205020404" pitchFamily="49" charset="0"/>
                <a:cs typeface="Courier New" panose="02070309020205020404" pitchFamily="49" charset="0"/>
              </a:rPr>
              <a:t>id=</a:t>
            </a:r>
            <a:r>
              <a:rPr lang="en-GB" sz="1600" dirty="0">
                <a:solidFill>
                  <a:srgbClr val="008000"/>
                </a:solidFill>
                <a:latin typeface="Courier New" panose="02070309020205020404" pitchFamily="49" charset="0"/>
                <a:cs typeface="Courier New" panose="02070309020205020404" pitchFamily="49" charset="0"/>
              </a:rPr>
              <a:t>"</a:t>
            </a:r>
            <a:r>
              <a:rPr lang="en-GB" sz="1600" dirty="0" err="1">
                <a:solidFill>
                  <a:srgbClr val="008000"/>
                </a:solidFill>
                <a:latin typeface="Courier New" panose="02070309020205020404" pitchFamily="49" charset="0"/>
                <a:cs typeface="Courier New" panose="02070309020205020404" pitchFamily="49" charset="0"/>
              </a:rPr>
              <a:t>txtHint</a:t>
            </a:r>
            <a:r>
              <a:rPr lang="en-GB" sz="1600" dirty="0">
                <a:solidFill>
                  <a:srgbClr val="00800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&gt;&lt;/</a:t>
            </a:r>
            <a:r>
              <a:rPr lang="en-GB" sz="1600" dirty="0">
                <a:solidFill>
                  <a:srgbClr val="000080"/>
                </a:solidFill>
                <a:latin typeface="Courier New" panose="02070309020205020404" pitchFamily="49" charset="0"/>
                <a:cs typeface="Courier New" panose="02070309020205020404" pitchFamily="49" charset="0"/>
              </a:rPr>
              <a:t>span</a:t>
            </a:r>
            <a:r>
              <a:rPr lang="en-GB" sz="1600" dirty="0">
                <a:latin typeface="Courier New" panose="02070309020205020404" pitchFamily="49" charset="0"/>
                <a:cs typeface="Courier New" panose="02070309020205020404" pitchFamily="49" charset="0"/>
              </a:rPr>
              <a:t>&gt;&lt;/</a:t>
            </a:r>
            <a:r>
              <a:rPr lang="en-GB" sz="1600" dirty="0">
                <a:solidFill>
                  <a:srgbClr val="000080"/>
                </a:solidFill>
                <a:latin typeface="Courier New" panose="02070309020205020404" pitchFamily="49" charset="0"/>
                <a:cs typeface="Courier New" panose="02070309020205020404" pitchFamily="49" charset="0"/>
              </a:rPr>
              <a:t>p</a:t>
            </a:r>
            <a:r>
              <a:rPr lang="en-GB" sz="1600" dirty="0">
                <a:latin typeface="Courier New" panose="02070309020205020404" pitchFamily="49" charset="0"/>
                <a:cs typeface="Courier New" panose="02070309020205020404" pitchFamily="49" charset="0"/>
              </a:rPr>
              <a:t>&gt;</a:t>
            </a:r>
            <a:br>
              <a:rPr lang="en-GB" sz="1600" dirty="0">
                <a:latin typeface="Courier New" panose="02070309020205020404" pitchFamily="49" charset="0"/>
                <a:cs typeface="Courier New" panose="02070309020205020404" pitchFamily="49" charset="0"/>
              </a:rPr>
            </a:br>
            <a:endParaRPr lang="en-GB" sz="1600" dirty="0" smtClean="0">
              <a:latin typeface="Courier New" panose="02070309020205020404" pitchFamily="49" charset="0"/>
              <a:cs typeface="Courier New" panose="02070309020205020404" pitchFamily="49" charset="0"/>
            </a:endParaRPr>
          </a:p>
          <a:p>
            <a:pPr marL="0" indent="0">
              <a:spcBef>
                <a:spcPts val="400"/>
              </a:spcBef>
              <a:buClr>
                <a:schemeClr val="accent1"/>
              </a:buClr>
              <a:defRPr/>
            </a:pPr>
            <a:r>
              <a:rPr lang="en-GB" sz="1600" dirty="0" smtClean="0">
                <a:latin typeface="Courier New" panose="02070309020205020404" pitchFamily="49" charset="0"/>
                <a:cs typeface="Courier New" panose="02070309020205020404" pitchFamily="49" charset="0"/>
              </a:rPr>
              <a:t>&lt;/</a:t>
            </a:r>
            <a:r>
              <a:rPr lang="en-GB" sz="1600" dirty="0">
                <a:solidFill>
                  <a:srgbClr val="000080"/>
                </a:solidFill>
                <a:latin typeface="Courier New" panose="02070309020205020404" pitchFamily="49" charset="0"/>
                <a:cs typeface="Courier New" panose="02070309020205020404" pitchFamily="49" charset="0"/>
              </a:rPr>
              <a:t>body</a:t>
            </a:r>
            <a:r>
              <a:rPr lang="en-GB" sz="1600" dirty="0">
                <a:latin typeface="Courier New" panose="02070309020205020404" pitchFamily="49" charset="0"/>
                <a:cs typeface="Courier New" panose="02070309020205020404" pitchFamily="49" charset="0"/>
              </a:rPr>
              <a:t>&gt;</a:t>
            </a:r>
            <a:r>
              <a:rPr lang="en-GB" sz="1800" dirty="0">
                <a:latin typeface="Courier New" panose="02070309020205020404" pitchFamily="49" charset="0"/>
                <a:cs typeface="Courier New" panose="02070309020205020404" pitchFamily="49" charset="0"/>
              </a:rPr>
              <a:t/>
            </a:r>
            <a:br>
              <a:rPr lang="en-GB" sz="1800" dirty="0">
                <a:latin typeface="Courier New" panose="02070309020205020404" pitchFamily="49" charset="0"/>
                <a:cs typeface="Courier New" panose="02070309020205020404" pitchFamily="49" charset="0"/>
              </a:rPr>
            </a:br>
            <a:endParaRPr lang="en-GB" sz="800" b="0" dirty="0">
              <a:latin typeface="Courier New" panose="02070309020205020404" pitchFamily="49" charset="0"/>
              <a:cs typeface="Courier New" panose="02070309020205020404" pitchFamily="49" charset="0"/>
              <a:sym typeface="Arial" charset="0"/>
            </a:endParaRPr>
          </a:p>
          <a:p>
            <a:pPr marL="342900" indent="-342900">
              <a:spcBef>
                <a:spcPts val="400"/>
              </a:spcBef>
              <a:buClr>
                <a:schemeClr val="accent1"/>
              </a:buClr>
              <a:buFont typeface="Arial" panose="020B0604020202020204" pitchFamily="34" charset="0"/>
              <a:buChar char="•"/>
              <a:defRPr/>
            </a:pPr>
            <a:endParaRPr lang="en-GB" sz="800" b="0" dirty="0" smtClean="0">
              <a:latin typeface="Courier New" panose="02070309020205020404" pitchFamily="49" charset="0"/>
              <a:cs typeface="Courier New" panose="02070309020205020404" pitchFamily="49" charset="0"/>
              <a:sym typeface="Arial" charset="0"/>
            </a:endParaRPr>
          </a:p>
          <a:p>
            <a:pPr marL="342900" indent="-342900">
              <a:spcBef>
                <a:spcPts val="400"/>
              </a:spcBef>
              <a:buClr>
                <a:schemeClr val="accent1"/>
              </a:buClr>
              <a:buFont typeface="Arial" panose="020B0604020202020204" pitchFamily="34" charset="0"/>
              <a:buChar char="•"/>
              <a:defRPr/>
            </a:pPr>
            <a:endParaRPr lang="en-GB" sz="800" b="0" dirty="0">
              <a:latin typeface="Courier New" panose="02070309020205020404" pitchFamily="49" charset="0"/>
              <a:cs typeface="Courier New" panose="02070309020205020404" pitchFamily="49" charset="0"/>
              <a:sym typeface="Arial" charset="0"/>
            </a:endParaRP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9873" r="79039" b="76312"/>
          <a:stretch/>
        </p:blipFill>
        <p:spPr bwMode="auto">
          <a:xfrm>
            <a:off x="2771800" y="4725144"/>
            <a:ext cx="4273082"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0843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196</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15.5 – live search</a:t>
            </a:r>
            <a:endParaRPr lang="en-GB" sz="3600" b="0" dirty="0"/>
          </a:p>
        </p:txBody>
      </p:sp>
      <p:sp>
        <p:nvSpPr>
          <p:cNvPr id="4" name="Rectangle 2"/>
          <p:cNvSpPr txBox="1">
            <a:spLocks noChangeArrowheads="1"/>
          </p:cNvSpPr>
          <p:nvPr/>
        </p:nvSpPr>
        <p:spPr>
          <a:xfrm>
            <a:off x="467544" y="980729"/>
            <a:ext cx="8425631" cy="5688632"/>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400"/>
              </a:spcBef>
              <a:buClr>
                <a:schemeClr val="accent1"/>
              </a:buClr>
              <a:defRPr/>
            </a:pPr>
            <a:r>
              <a:rPr lang="en-GB" sz="2400" b="0" dirty="0" smtClean="0">
                <a:solidFill>
                  <a:srgbClr val="C00000"/>
                </a:solidFill>
                <a:latin typeface="+mj-lt"/>
                <a:cs typeface="Courier New" panose="02070309020205020404" pitchFamily="49" charset="0"/>
                <a:sym typeface="Arial" charset="0"/>
              </a:rPr>
              <a:t>2)</a:t>
            </a:r>
            <a:r>
              <a:rPr lang="en-GB" sz="2400" b="0" dirty="0" smtClean="0">
                <a:latin typeface="+mj-lt"/>
                <a:cs typeface="Courier New" panose="02070309020205020404" pitchFamily="49" charset="0"/>
                <a:sym typeface="Arial" charset="0"/>
              </a:rPr>
              <a:t>	UI AJAX event handler part</a:t>
            </a:r>
          </a:p>
          <a:p>
            <a:pPr marL="457200" indent="-457200">
              <a:spcBef>
                <a:spcPts val="400"/>
              </a:spcBef>
              <a:buClr>
                <a:schemeClr val="accent1"/>
              </a:buClr>
              <a:buAutoNum type="arabicParenR"/>
              <a:defRPr/>
            </a:pPr>
            <a:endParaRPr lang="en-GB" sz="900" b="0" dirty="0">
              <a:latin typeface="Courier New" panose="02070309020205020404" pitchFamily="49" charset="0"/>
              <a:cs typeface="Courier New" panose="02070309020205020404" pitchFamily="49" charset="0"/>
              <a:sym typeface="Arial" charset="0"/>
            </a:endParaRPr>
          </a:p>
          <a:p>
            <a:pPr marL="0" indent="0">
              <a:spcBef>
                <a:spcPts val="400"/>
              </a:spcBef>
              <a:buClr>
                <a:schemeClr val="accent1"/>
              </a:buClr>
              <a:defRPr/>
            </a:pPr>
            <a:r>
              <a:rPr lang="en-GB" sz="1600" dirty="0" smtClean="0">
                <a:latin typeface="Courier New" panose="02070309020205020404" pitchFamily="49" charset="0"/>
                <a:cs typeface="Courier New" panose="02070309020205020404" pitchFamily="49" charset="0"/>
              </a:rPr>
              <a:t>&lt;</a:t>
            </a:r>
            <a:r>
              <a:rPr lang="en-GB" sz="1600" dirty="0">
                <a:solidFill>
                  <a:srgbClr val="000080"/>
                </a:solidFill>
                <a:latin typeface="Courier New" panose="02070309020205020404" pitchFamily="49" charset="0"/>
                <a:cs typeface="Courier New" panose="02070309020205020404" pitchFamily="49" charset="0"/>
              </a:rPr>
              <a:t>script</a:t>
            </a:r>
            <a:r>
              <a:rPr lang="en-GB" sz="1600" dirty="0">
                <a:latin typeface="Courier New" panose="02070309020205020404" pitchFamily="49" charset="0"/>
                <a:cs typeface="Courier New" panose="02070309020205020404" pitchFamily="49" charset="0"/>
              </a:rPr>
              <a:t>&gt;</a:t>
            </a:r>
            <a:br>
              <a:rPr lang="en-GB" sz="1600" dirty="0">
                <a:latin typeface="Courier New" panose="02070309020205020404" pitchFamily="49" charset="0"/>
                <a:cs typeface="Courier New" panose="02070309020205020404" pitchFamily="49" charset="0"/>
              </a:rPr>
            </a:br>
            <a:r>
              <a:rPr lang="en-GB" sz="1600" dirty="0">
                <a:solidFill>
                  <a:srgbClr val="000080"/>
                </a:solidFill>
                <a:latin typeface="Courier New" panose="02070309020205020404" pitchFamily="49" charset="0"/>
                <a:cs typeface="Courier New" panose="02070309020205020404" pitchFamily="49" charset="0"/>
              </a:rPr>
              <a:t>function </a:t>
            </a:r>
            <a:r>
              <a:rPr lang="en-GB" sz="1600" i="1" dirty="0" err="1">
                <a:latin typeface="Courier New" panose="02070309020205020404" pitchFamily="49" charset="0"/>
                <a:cs typeface="Courier New" panose="02070309020205020404" pitchFamily="49" charset="0"/>
              </a:rPr>
              <a:t>showHint</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str</a:t>
            </a:r>
            <a:r>
              <a:rPr lang="en-GB" sz="1600" dirty="0">
                <a:latin typeface="Courier New" panose="02070309020205020404" pitchFamily="49" charset="0"/>
                <a:cs typeface="Courier New" panose="02070309020205020404" pitchFamily="49" charset="0"/>
              </a:rPr>
              <a:t>) {</a:t>
            </a:r>
            <a:br>
              <a:rPr lang="en-GB" sz="1600" dirty="0">
                <a:latin typeface="Courier New" panose="02070309020205020404" pitchFamily="49" charset="0"/>
                <a:cs typeface="Courier New" panose="02070309020205020404" pitchFamily="49" charset="0"/>
              </a:rPr>
            </a:br>
            <a:r>
              <a:rPr lang="en-GB" sz="1600" dirty="0">
                <a:latin typeface="Courier New" panose="02070309020205020404" pitchFamily="49" charset="0"/>
                <a:cs typeface="Courier New" panose="02070309020205020404" pitchFamily="49" charset="0"/>
              </a:rPr>
              <a:t>  </a:t>
            </a:r>
            <a:r>
              <a:rPr lang="en-GB" sz="1600" dirty="0" smtClean="0">
                <a:solidFill>
                  <a:srgbClr val="000080"/>
                </a:solidFill>
                <a:latin typeface="Courier New" panose="02070309020205020404" pitchFamily="49" charset="0"/>
                <a:cs typeface="Courier New" panose="02070309020205020404" pitchFamily="49" charset="0"/>
              </a:rPr>
              <a:t>if </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str.length</a:t>
            </a:r>
            <a:r>
              <a:rPr lang="en-GB" sz="1600" dirty="0">
                <a:latin typeface="Courier New" panose="02070309020205020404" pitchFamily="49" charset="0"/>
                <a:cs typeface="Courier New" panose="02070309020205020404" pitchFamily="49" charset="0"/>
              </a:rPr>
              <a:t> == </a:t>
            </a:r>
            <a:r>
              <a:rPr lang="en-GB" sz="1600" dirty="0">
                <a:solidFill>
                  <a:srgbClr val="0000FF"/>
                </a:solidFill>
                <a:latin typeface="Courier New" panose="02070309020205020404" pitchFamily="49" charset="0"/>
                <a:cs typeface="Courier New" panose="02070309020205020404" pitchFamily="49" charset="0"/>
              </a:rPr>
              <a:t>0</a:t>
            </a:r>
            <a:r>
              <a:rPr lang="en-GB" sz="1600" dirty="0">
                <a:latin typeface="Courier New" panose="02070309020205020404" pitchFamily="49" charset="0"/>
                <a:cs typeface="Courier New" panose="02070309020205020404" pitchFamily="49" charset="0"/>
              </a:rPr>
              <a:t>) { </a:t>
            </a:r>
            <a:br>
              <a:rPr lang="en-GB" sz="1600" dirty="0">
                <a:latin typeface="Courier New" panose="02070309020205020404" pitchFamily="49" charset="0"/>
                <a:cs typeface="Courier New" panose="02070309020205020404" pitchFamily="49" charset="0"/>
              </a:rPr>
            </a:b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a:t>
            </a:r>
            <a:r>
              <a:rPr lang="en-GB" sz="1600" dirty="0" err="1">
                <a:solidFill>
                  <a:srgbClr val="660E7A"/>
                </a:solidFill>
                <a:latin typeface="Courier New" panose="02070309020205020404" pitchFamily="49" charset="0"/>
                <a:cs typeface="Courier New" panose="02070309020205020404" pitchFamily="49" charset="0"/>
              </a:rPr>
              <a:t>document</a:t>
            </a:r>
            <a:r>
              <a:rPr lang="en-GB" sz="1600" dirty="0" err="1">
                <a:latin typeface="Courier New" panose="02070309020205020404" pitchFamily="49" charset="0"/>
                <a:cs typeface="Courier New" panose="02070309020205020404" pitchFamily="49" charset="0"/>
              </a:rPr>
              <a:t>.</a:t>
            </a:r>
            <a:r>
              <a:rPr lang="en-GB" sz="1600" dirty="0" err="1">
                <a:solidFill>
                  <a:srgbClr val="7A7A43"/>
                </a:solidFill>
                <a:latin typeface="Courier New" panose="02070309020205020404" pitchFamily="49" charset="0"/>
                <a:cs typeface="Courier New" panose="02070309020205020404" pitchFamily="49" charset="0"/>
              </a:rPr>
              <a:t>getElementById</a:t>
            </a:r>
            <a:r>
              <a:rPr lang="en-GB" sz="1600" dirty="0">
                <a:latin typeface="Courier New" panose="02070309020205020404" pitchFamily="49" charset="0"/>
                <a:cs typeface="Courier New" panose="02070309020205020404" pitchFamily="49" charset="0"/>
              </a:rPr>
              <a:t>(</a:t>
            </a:r>
            <a:r>
              <a:rPr lang="en-GB" sz="1600" dirty="0">
                <a:solidFill>
                  <a:srgbClr val="008000"/>
                </a:solidFill>
                <a:latin typeface="Courier New" panose="02070309020205020404" pitchFamily="49" charset="0"/>
                <a:cs typeface="Courier New" panose="02070309020205020404" pitchFamily="49" charset="0"/>
              </a:rPr>
              <a:t>"</a:t>
            </a:r>
            <a:r>
              <a:rPr lang="en-GB" sz="1600" dirty="0" err="1">
                <a:solidFill>
                  <a:srgbClr val="008000"/>
                </a:solidFill>
                <a:latin typeface="Courier New" panose="02070309020205020404" pitchFamily="49" charset="0"/>
                <a:cs typeface="Courier New" panose="02070309020205020404" pitchFamily="49" charset="0"/>
              </a:rPr>
              <a:t>txtHint</a:t>
            </a:r>
            <a:r>
              <a:rPr lang="en-GB" sz="1600" dirty="0">
                <a:solidFill>
                  <a:srgbClr val="00800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a:t>
            </a:r>
            <a:r>
              <a:rPr lang="en-GB" sz="1600" dirty="0" err="1">
                <a:solidFill>
                  <a:srgbClr val="660E7A"/>
                </a:solidFill>
                <a:latin typeface="Courier New" panose="02070309020205020404" pitchFamily="49" charset="0"/>
                <a:cs typeface="Courier New" panose="02070309020205020404" pitchFamily="49" charset="0"/>
              </a:rPr>
              <a:t>innerHTML</a:t>
            </a:r>
            <a:r>
              <a:rPr lang="en-GB" sz="1600" dirty="0">
                <a:solidFill>
                  <a:srgbClr val="660E7A"/>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a:t>
            </a:r>
            <a:r>
              <a:rPr lang="en-GB" sz="1600" dirty="0">
                <a:solidFill>
                  <a:srgbClr val="000080"/>
                </a:solidFill>
                <a:latin typeface="Courier New" panose="02070309020205020404" pitchFamily="49" charset="0"/>
                <a:cs typeface="Courier New" panose="02070309020205020404" pitchFamily="49" charset="0"/>
              </a:rPr>
              <a:t>return</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0080"/>
                </a:solidFill>
                <a:latin typeface="Courier New" panose="02070309020205020404" pitchFamily="49" charset="0"/>
                <a:cs typeface="Courier New" panose="02070309020205020404" pitchFamily="49" charset="0"/>
              </a:rPr>
              <a:t>else </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a:t>
            </a:r>
            <a:r>
              <a:rPr lang="en-GB" sz="1600" dirty="0" err="1">
                <a:solidFill>
                  <a:srgbClr val="000080"/>
                </a:solidFill>
                <a:latin typeface="Courier New" panose="02070309020205020404" pitchFamily="49" charset="0"/>
                <a:cs typeface="Courier New" panose="02070309020205020404" pitchFamily="49" charset="0"/>
              </a:rPr>
              <a:t>var</a:t>
            </a:r>
            <a:r>
              <a:rPr lang="en-GB" sz="1600" dirty="0">
                <a:solidFill>
                  <a:srgbClr val="000080"/>
                </a:solidFill>
                <a:latin typeface="Courier New" panose="02070309020205020404" pitchFamily="49" charset="0"/>
                <a:cs typeface="Courier New" panose="02070309020205020404" pitchFamily="49" charset="0"/>
              </a:rPr>
              <a:t> </a:t>
            </a:r>
            <a:r>
              <a:rPr lang="en-GB" sz="1600" dirty="0" err="1">
                <a:solidFill>
                  <a:srgbClr val="458383"/>
                </a:solidFill>
                <a:latin typeface="Courier New" panose="02070309020205020404" pitchFamily="49" charset="0"/>
                <a:cs typeface="Courier New" panose="02070309020205020404" pitchFamily="49" charset="0"/>
              </a:rPr>
              <a:t>xmlhttp</a:t>
            </a:r>
            <a:r>
              <a:rPr lang="en-GB" sz="1600" dirty="0">
                <a:solidFill>
                  <a:srgbClr val="458383"/>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0080"/>
                </a:solidFill>
                <a:latin typeface="Courier New" panose="02070309020205020404" pitchFamily="49" charset="0"/>
                <a:cs typeface="Courier New" panose="02070309020205020404" pitchFamily="49" charset="0"/>
              </a:rPr>
              <a:t>new </a:t>
            </a:r>
            <a:r>
              <a:rPr lang="en-GB" sz="1600" dirty="0" err="1">
                <a:latin typeface="Courier New" panose="02070309020205020404" pitchFamily="49" charset="0"/>
                <a:cs typeface="Courier New" panose="02070309020205020404" pitchFamily="49" charset="0"/>
              </a:rPr>
              <a:t>XMLHttpRequest</a:t>
            </a:r>
            <a:r>
              <a:rPr lang="en-GB" sz="1600" dirty="0" smtClean="0">
                <a:latin typeface="Courier New" panose="02070309020205020404" pitchFamily="49" charset="0"/>
                <a:cs typeface="Courier New" panose="02070309020205020404" pitchFamily="49" charset="0"/>
              </a:rPr>
              <a:t>();</a:t>
            </a:r>
          </a:p>
          <a:p>
            <a:pPr marL="0" indent="0">
              <a:spcBef>
                <a:spcPts val="400"/>
              </a:spcBef>
              <a:buClr>
                <a:schemeClr val="accent1"/>
              </a:buClr>
              <a:defRPr/>
            </a:pPr>
            <a:r>
              <a:rPr lang="en-GB" sz="1600" dirty="0">
                <a:latin typeface="Courier New" panose="02070309020205020404" pitchFamily="49" charset="0"/>
                <a:cs typeface="Courier New" panose="02070309020205020404" pitchFamily="49" charset="0"/>
              </a:rPr>
              <a:t/>
            </a:r>
            <a:br>
              <a:rPr lang="en-GB" sz="1600" dirty="0">
                <a:latin typeface="Courier New" panose="02070309020205020404" pitchFamily="49" charset="0"/>
                <a:cs typeface="Courier New" panose="02070309020205020404" pitchFamily="49" charset="0"/>
              </a:rPr>
            </a:br>
            <a:r>
              <a:rPr lang="en-GB" sz="1600" dirty="0">
                <a:latin typeface="Courier New" panose="02070309020205020404" pitchFamily="49" charset="0"/>
                <a:cs typeface="Courier New" panose="02070309020205020404" pitchFamily="49" charset="0"/>
              </a:rPr>
              <a:t> </a:t>
            </a:r>
            <a:r>
              <a:rPr lang="en-GB" sz="1600" dirty="0" smtClean="0">
                <a:latin typeface="Courier New" panose="02070309020205020404" pitchFamily="49" charset="0"/>
                <a:cs typeface="Courier New" panose="02070309020205020404" pitchFamily="49" charset="0"/>
              </a:rPr>
              <a:t>   </a:t>
            </a:r>
            <a:r>
              <a:rPr lang="en-GB" sz="1600" dirty="0" err="1">
                <a:solidFill>
                  <a:srgbClr val="458383"/>
                </a:solidFill>
                <a:latin typeface="Courier New" panose="02070309020205020404" pitchFamily="49" charset="0"/>
                <a:cs typeface="Courier New" panose="02070309020205020404" pitchFamily="49" charset="0"/>
              </a:rPr>
              <a:t>xmlhttp</a:t>
            </a:r>
            <a:r>
              <a:rPr lang="en-GB" sz="1600" dirty="0" err="1">
                <a:latin typeface="Courier New" panose="02070309020205020404" pitchFamily="49" charset="0"/>
                <a:cs typeface="Courier New" panose="02070309020205020404" pitchFamily="49" charset="0"/>
              </a:rPr>
              <a:t>.</a:t>
            </a:r>
            <a:r>
              <a:rPr lang="en-GB" sz="1600" dirty="0" err="1">
                <a:solidFill>
                  <a:srgbClr val="660E7A"/>
                </a:solidFill>
                <a:latin typeface="Courier New" panose="02070309020205020404" pitchFamily="49" charset="0"/>
                <a:cs typeface="Courier New" panose="02070309020205020404" pitchFamily="49" charset="0"/>
              </a:rPr>
              <a:t>onreadystatechange</a:t>
            </a:r>
            <a:r>
              <a:rPr lang="en-GB" sz="1600" dirty="0">
                <a:solidFill>
                  <a:srgbClr val="660E7A"/>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0080"/>
                </a:solidFill>
                <a:latin typeface="Courier New" panose="02070309020205020404" pitchFamily="49" charset="0"/>
                <a:cs typeface="Courier New" panose="02070309020205020404" pitchFamily="49" charset="0"/>
              </a:rPr>
              <a:t>function</a:t>
            </a:r>
            <a:r>
              <a:rPr lang="en-GB" sz="1600" dirty="0">
                <a:latin typeface="Courier New" panose="02070309020205020404" pitchFamily="49" charset="0"/>
                <a:cs typeface="Courier New" panose="02070309020205020404" pitchFamily="49" charset="0"/>
              </a:rPr>
              <a:t>() {</a:t>
            </a:r>
            <a:br>
              <a:rPr lang="en-GB" sz="1600" dirty="0">
                <a:latin typeface="Courier New" panose="02070309020205020404" pitchFamily="49" charset="0"/>
                <a:cs typeface="Courier New" panose="02070309020205020404" pitchFamily="49" charset="0"/>
              </a:rPr>
            </a:br>
            <a:r>
              <a:rPr lang="en-GB" sz="1600" dirty="0" smtClean="0">
                <a:latin typeface="Courier New" panose="02070309020205020404" pitchFamily="49" charset="0"/>
                <a:cs typeface="Courier New" panose="02070309020205020404" pitchFamily="49" charset="0"/>
              </a:rPr>
              <a:t>      </a:t>
            </a:r>
            <a:r>
              <a:rPr lang="en-GB" sz="1600" dirty="0">
                <a:solidFill>
                  <a:srgbClr val="000080"/>
                </a:solidFill>
                <a:latin typeface="Courier New" panose="02070309020205020404" pitchFamily="49" charset="0"/>
                <a:cs typeface="Courier New" panose="02070309020205020404" pitchFamily="49" charset="0"/>
              </a:rPr>
              <a:t>if </a:t>
            </a:r>
            <a:r>
              <a:rPr lang="en-GB" sz="1600" dirty="0">
                <a:latin typeface="Courier New" panose="02070309020205020404" pitchFamily="49" charset="0"/>
                <a:cs typeface="Courier New" panose="02070309020205020404" pitchFamily="49" charset="0"/>
              </a:rPr>
              <a:t>(</a:t>
            </a:r>
            <a:r>
              <a:rPr lang="en-GB" sz="1600" dirty="0" err="1">
                <a:solidFill>
                  <a:srgbClr val="000080"/>
                </a:solidFill>
                <a:latin typeface="Courier New" panose="02070309020205020404" pitchFamily="49" charset="0"/>
                <a:cs typeface="Courier New" panose="02070309020205020404" pitchFamily="49" charset="0"/>
              </a:rPr>
              <a:t>this</a:t>
            </a:r>
            <a:r>
              <a:rPr lang="en-GB" sz="1600" dirty="0" err="1">
                <a:latin typeface="Courier New" panose="02070309020205020404" pitchFamily="49" charset="0"/>
                <a:cs typeface="Courier New" panose="02070309020205020404" pitchFamily="49" charset="0"/>
              </a:rPr>
              <a:t>.</a:t>
            </a:r>
            <a:r>
              <a:rPr lang="en-GB" sz="1600" dirty="0" err="1">
                <a:solidFill>
                  <a:srgbClr val="660E7A"/>
                </a:solidFill>
                <a:latin typeface="Courier New" panose="02070309020205020404" pitchFamily="49" charset="0"/>
                <a:cs typeface="Courier New" panose="02070309020205020404" pitchFamily="49" charset="0"/>
              </a:rPr>
              <a:t>readyState</a:t>
            </a:r>
            <a:r>
              <a:rPr lang="en-GB" sz="1600" dirty="0">
                <a:solidFill>
                  <a:srgbClr val="660E7A"/>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00FF"/>
                </a:solidFill>
                <a:latin typeface="Courier New" panose="02070309020205020404" pitchFamily="49" charset="0"/>
                <a:cs typeface="Courier New" panose="02070309020205020404" pitchFamily="49" charset="0"/>
              </a:rPr>
              <a:t>4 </a:t>
            </a:r>
            <a:r>
              <a:rPr lang="en-GB" sz="1600" dirty="0">
                <a:latin typeface="Courier New" panose="02070309020205020404" pitchFamily="49" charset="0"/>
                <a:cs typeface="Courier New" panose="02070309020205020404" pitchFamily="49" charset="0"/>
              </a:rPr>
              <a:t>&amp;&amp; </a:t>
            </a:r>
            <a:r>
              <a:rPr lang="en-GB" sz="1600" dirty="0" err="1">
                <a:solidFill>
                  <a:srgbClr val="000080"/>
                </a:solidFill>
                <a:latin typeface="Courier New" panose="02070309020205020404" pitchFamily="49" charset="0"/>
                <a:cs typeface="Courier New" panose="02070309020205020404" pitchFamily="49" charset="0"/>
              </a:rPr>
              <a:t>this</a:t>
            </a:r>
            <a:r>
              <a:rPr lang="en-GB" sz="1600" dirty="0" err="1">
                <a:latin typeface="Courier New" panose="02070309020205020404" pitchFamily="49" charset="0"/>
                <a:cs typeface="Courier New" panose="02070309020205020404" pitchFamily="49" charset="0"/>
              </a:rPr>
              <a:t>.</a:t>
            </a:r>
            <a:r>
              <a:rPr lang="en-GB" sz="1600" dirty="0" err="1">
                <a:solidFill>
                  <a:srgbClr val="660E7A"/>
                </a:solidFill>
                <a:latin typeface="Courier New" panose="02070309020205020404" pitchFamily="49" charset="0"/>
                <a:cs typeface="Courier New" panose="02070309020205020404" pitchFamily="49" charset="0"/>
              </a:rPr>
              <a:t>status</a:t>
            </a:r>
            <a:r>
              <a:rPr lang="en-GB" sz="1600" dirty="0">
                <a:solidFill>
                  <a:srgbClr val="660E7A"/>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00FF"/>
                </a:solidFill>
                <a:latin typeface="Courier New" panose="02070309020205020404" pitchFamily="49" charset="0"/>
                <a:cs typeface="Courier New" panose="02070309020205020404" pitchFamily="49" charset="0"/>
              </a:rPr>
              <a:t>200</a:t>
            </a:r>
            <a:r>
              <a:rPr lang="en-GB" sz="1600" dirty="0">
                <a:latin typeface="Courier New" panose="02070309020205020404" pitchFamily="49" charset="0"/>
                <a:cs typeface="Courier New" panose="02070309020205020404" pitchFamily="49" charset="0"/>
              </a:rPr>
              <a:t>) {</a:t>
            </a:r>
            <a:br>
              <a:rPr lang="en-GB" sz="1600" dirty="0">
                <a:latin typeface="Courier New" panose="02070309020205020404" pitchFamily="49" charset="0"/>
                <a:cs typeface="Courier New" panose="02070309020205020404" pitchFamily="49" charset="0"/>
              </a:rPr>
            </a:br>
            <a:r>
              <a:rPr lang="en-GB" sz="1600" dirty="0" smtClean="0">
                <a:latin typeface="Courier New" panose="02070309020205020404" pitchFamily="49" charset="0"/>
                <a:cs typeface="Courier New" panose="02070309020205020404" pitchFamily="49" charset="0"/>
              </a:rPr>
              <a:t>        </a:t>
            </a:r>
            <a:r>
              <a:rPr lang="en-GB" sz="1600" dirty="0" err="1" smtClean="0">
                <a:solidFill>
                  <a:srgbClr val="000080"/>
                </a:solidFill>
                <a:latin typeface="Courier New" panose="02070309020205020404" pitchFamily="49" charset="0"/>
                <a:cs typeface="Courier New" panose="02070309020205020404" pitchFamily="49" charset="0"/>
              </a:rPr>
              <a:t>var</a:t>
            </a:r>
            <a:r>
              <a:rPr lang="en-GB" sz="1600" dirty="0" smtClean="0">
                <a:latin typeface="Courier New" panose="02070309020205020404" pitchFamily="49" charset="0"/>
                <a:cs typeface="Courier New" panose="02070309020205020404" pitchFamily="49" charset="0"/>
              </a:rPr>
              <a:t> </a:t>
            </a:r>
            <a:r>
              <a:rPr lang="en-GB" sz="1600" dirty="0" err="1">
                <a:solidFill>
                  <a:srgbClr val="458383"/>
                </a:solidFill>
                <a:latin typeface="Courier New" panose="02070309020205020404" pitchFamily="49" charset="0"/>
                <a:cs typeface="Courier New" panose="02070309020205020404" pitchFamily="49" charset="0"/>
              </a:rPr>
              <a:t>uic</a:t>
            </a:r>
            <a:r>
              <a:rPr lang="en-GB" sz="1600" dirty="0" smtClean="0">
                <a:latin typeface="Courier New" panose="02070309020205020404" pitchFamily="49" charset="0"/>
                <a:cs typeface="Courier New" panose="02070309020205020404" pitchFamily="49" charset="0"/>
              </a:rPr>
              <a:t> = </a:t>
            </a:r>
            <a:r>
              <a:rPr lang="en-GB" sz="1600" dirty="0" err="1">
                <a:solidFill>
                  <a:srgbClr val="660E7A"/>
                </a:solidFill>
                <a:latin typeface="Courier New" panose="02070309020205020404" pitchFamily="49" charset="0"/>
                <a:cs typeface="Courier New" panose="02070309020205020404" pitchFamily="49" charset="0"/>
              </a:rPr>
              <a:t>document</a:t>
            </a:r>
            <a:r>
              <a:rPr lang="en-GB" sz="1600" dirty="0" err="1">
                <a:latin typeface="Courier New" panose="02070309020205020404" pitchFamily="49" charset="0"/>
                <a:cs typeface="Courier New" panose="02070309020205020404" pitchFamily="49" charset="0"/>
              </a:rPr>
              <a:t>.</a:t>
            </a:r>
            <a:r>
              <a:rPr lang="en-GB" sz="1600" dirty="0" err="1">
                <a:solidFill>
                  <a:srgbClr val="7A7A43"/>
                </a:solidFill>
                <a:latin typeface="Courier New" panose="02070309020205020404" pitchFamily="49" charset="0"/>
                <a:cs typeface="Courier New" panose="02070309020205020404" pitchFamily="49" charset="0"/>
              </a:rPr>
              <a:t>getElementById</a:t>
            </a:r>
            <a:r>
              <a:rPr lang="en-GB" sz="1600" dirty="0">
                <a:latin typeface="Courier New" panose="02070309020205020404" pitchFamily="49" charset="0"/>
                <a:cs typeface="Courier New" panose="02070309020205020404" pitchFamily="49" charset="0"/>
              </a:rPr>
              <a:t>(</a:t>
            </a:r>
            <a:r>
              <a:rPr lang="en-GB" sz="1600" dirty="0">
                <a:solidFill>
                  <a:srgbClr val="008000"/>
                </a:solidFill>
                <a:latin typeface="Courier New" panose="02070309020205020404" pitchFamily="49" charset="0"/>
                <a:cs typeface="Courier New" panose="02070309020205020404" pitchFamily="49" charset="0"/>
              </a:rPr>
              <a:t>"</a:t>
            </a:r>
            <a:r>
              <a:rPr lang="en-GB" sz="1600" dirty="0" err="1">
                <a:solidFill>
                  <a:srgbClr val="008000"/>
                </a:solidFill>
                <a:latin typeface="Courier New" panose="02070309020205020404" pitchFamily="49" charset="0"/>
                <a:cs typeface="Courier New" panose="02070309020205020404" pitchFamily="49" charset="0"/>
              </a:rPr>
              <a:t>txtHint</a:t>
            </a:r>
            <a:r>
              <a:rPr lang="en-GB" sz="1600" dirty="0" smtClean="0">
                <a:solidFill>
                  <a:srgbClr val="008000"/>
                </a:solidFill>
                <a:latin typeface="Courier New" panose="02070309020205020404" pitchFamily="49" charset="0"/>
                <a:cs typeface="Courier New" panose="02070309020205020404" pitchFamily="49" charset="0"/>
              </a:rPr>
              <a:t>"</a:t>
            </a:r>
            <a:r>
              <a:rPr lang="en-GB" sz="1600" dirty="0" smtClean="0">
                <a:latin typeface="Courier New" panose="02070309020205020404" pitchFamily="49" charset="0"/>
                <a:cs typeface="Courier New" panose="02070309020205020404" pitchFamily="49" charset="0"/>
              </a:rPr>
              <a:t>)  </a:t>
            </a:r>
          </a:p>
          <a:p>
            <a:pPr marL="0" indent="0">
              <a:spcBef>
                <a:spcPts val="400"/>
              </a:spcBef>
              <a:buClr>
                <a:schemeClr val="accent1"/>
              </a:buClr>
              <a:defRPr/>
            </a:pPr>
            <a:r>
              <a:rPr lang="en-GB" sz="1600" dirty="0">
                <a:solidFill>
                  <a:srgbClr val="660E7A"/>
                </a:solidFill>
                <a:latin typeface="Courier New" panose="02070309020205020404" pitchFamily="49" charset="0"/>
                <a:cs typeface="Courier New" panose="02070309020205020404" pitchFamily="49" charset="0"/>
              </a:rPr>
              <a:t> </a:t>
            </a:r>
            <a:r>
              <a:rPr lang="en-GB" sz="1600" dirty="0" smtClean="0">
                <a:solidFill>
                  <a:srgbClr val="660E7A"/>
                </a:solidFill>
                <a:latin typeface="Courier New" panose="02070309020205020404" pitchFamily="49" charset="0"/>
                <a:cs typeface="Courier New" panose="02070309020205020404" pitchFamily="49" charset="0"/>
              </a:rPr>
              <a:t>       </a:t>
            </a:r>
            <a:r>
              <a:rPr lang="en-GB" sz="1600" dirty="0" err="1">
                <a:solidFill>
                  <a:srgbClr val="458383"/>
                </a:solidFill>
                <a:latin typeface="Courier New" panose="02070309020205020404" pitchFamily="49" charset="0"/>
                <a:cs typeface="Courier New" panose="02070309020205020404" pitchFamily="49" charset="0"/>
              </a:rPr>
              <a:t>uic</a:t>
            </a:r>
            <a:r>
              <a:rPr lang="en-GB" sz="1600" dirty="0" err="1" smtClean="0">
                <a:solidFill>
                  <a:srgbClr val="660E7A"/>
                </a:solidFill>
                <a:latin typeface="Courier New" panose="02070309020205020404" pitchFamily="49" charset="0"/>
                <a:cs typeface="Courier New" panose="02070309020205020404" pitchFamily="49" charset="0"/>
              </a:rPr>
              <a:t>.innerHTML</a:t>
            </a:r>
            <a:r>
              <a:rPr lang="en-GB" sz="1600" dirty="0" smtClean="0">
                <a:solidFill>
                  <a:srgbClr val="660E7A"/>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err="1">
                <a:solidFill>
                  <a:srgbClr val="000080"/>
                </a:solidFill>
                <a:latin typeface="Courier New" panose="02070309020205020404" pitchFamily="49" charset="0"/>
                <a:cs typeface="Courier New" panose="02070309020205020404" pitchFamily="49" charset="0"/>
              </a:rPr>
              <a:t>this</a:t>
            </a:r>
            <a:r>
              <a:rPr lang="en-GB" sz="1600" dirty="0" err="1">
                <a:latin typeface="Courier New" panose="02070309020205020404" pitchFamily="49" charset="0"/>
                <a:cs typeface="Courier New" panose="02070309020205020404" pitchFamily="49" charset="0"/>
              </a:rPr>
              <a:t>.</a:t>
            </a:r>
            <a:r>
              <a:rPr lang="en-GB" sz="1600" dirty="0" err="1">
                <a:solidFill>
                  <a:srgbClr val="660E7A"/>
                </a:solidFill>
                <a:latin typeface="Courier New" panose="02070309020205020404" pitchFamily="49" charset="0"/>
                <a:cs typeface="Courier New" panose="02070309020205020404" pitchFamily="49" charset="0"/>
              </a:rPr>
              <a:t>responseText</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smtClean="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smtClean="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smtClean="0">
                <a:latin typeface="Courier New" panose="02070309020205020404" pitchFamily="49" charset="0"/>
                <a:cs typeface="Courier New" panose="02070309020205020404" pitchFamily="49" charset="0"/>
              </a:rPr>
              <a:t>    </a:t>
            </a:r>
            <a:r>
              <a:rPr lang="en-GB" sz="1600" dirty="0" err="1" smtClean="0">
                <a:solidFill>
                  <a:srgbClr val="458383"/>
                </a:solidFill>
                <a:latin typeface="Courier New" panose="02070309020205020404" pitchFamily="49" charset="0"/>
                <a:cs typeface="Courier New" panose="02070309020205020404" pitchFamily="49" charset="0"/>
              </a:rPr>
              <a:t>xmlhttp</a:t>
            </a:r>
            <a:r>
              <a:rPr lang="en-GB" sz="1600" dirty="0" err="1" smtClean="0">
                <a:latin typeface="Courier New" panose="02070309020205020404" pitchFamily="49" charset="0"/>
                <a:cs typeface="Courier New" panose="02070309020205020404" pitchFamily="49" charset="0"/>
              </a:rPr>
              <a:t>.</a:t>
            </a:r>
            <a:r>
              <a:rPr lang="en-GB" sz="1600" dirty="0" err="1" smtClean="0">
                <a:solidFill>
                  <a:srgbClr val="7A7A43"/>
                </a:solidFill>
                <a:latin typeface="Courier New" panose="02070309020205020404" pitchFamily="49" charset="0"/>
                <a:cs typeface="Courier New" panose="02070309020205020404" pitchFamily="49" charset="0"/>
              </a:rPr>
              <a:t>open</a:t>
            </a:r>
            <a:r>
              <a:rPr lang="en-GB" sz="1600" dirty="0">
                <a:latin typeface="Courier New" panose="02070309020205020404" pitchFamily="49" charset="0"/>
                <a:cs typeface="Courier New" panose="02070309020205020404" pitchFamily="49" charset="0"/>
              </a:rPr>
              <a:t>(</a:t>
            </a:r>
            <a:r>
              <a:rPr lang="en-GB" sz="1600" dirty="0">
                <a:solidFill>
                  <a:srgbClr val="008000"/>
                </a:solidFill>
                <a:latin typeface="Courier New" panose="02070309020205020404" pitchFamily="49" charset="0"/>
                <a:cs typeface="Courier New" panose="02070309020205020404" pitchFamily="49" charset="0"/>
              </a:rPr>
              <a:t>"GET"</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a:t>
            </a:r>
            <a:r>
              <a:rPr lang="en-GB" sz="1600" dirty="0" err="1">
                <a:solidFill>
                  <a:srgbClr val="008000"/>
                </a:solidFill>
                <a:latin typeface="Courier New" panose="02070309020205020404" pitchFamily="49" charset="0"/>
                <a:cs typeface="Courier New" panose="02070309020205020404" pitchFamily="49" charset="0"/>
              </a:rPr>
              <a:t>gethint.php?q</a:t>
            </a:r>
            <a:r>
              <a:rPr lang="en-GB" sz="1600" dirty="0">
                <a:solidFill>
                  <a:srgbClr val="008000"/>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str</a:t>
            </a:r>
            <a:r>
              <a:rPr lang="en-GB" sz="1600" dirty="0">
                <a:latin typeface="Courier New" panose="02070309020205020404" pitchFamily="49" charset="0"/>
                <a:cs typeface="Courier New" panose="02070309020205020404" pitchFamily="49" charset="0"/>
              </a:rPr>
              <a:t>, </a:t>
            </a:r>
            <a:r>
              <a:rPr lang="en-GB" sz="1600" dirty="0">
                <a:solidFill>
                  <a:srgbClr val="000080"/>
                </a:solidFill>
                <a:latin typeface="Courier New" panose="02070309020205020404" pitchFamily="49" charset="0"/>
                <a:cs typeface="Courier New" panose="02070309020205020404" pitchFamily="49" charset="0"/>
              </a:rPr>
              <a:t>true</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smtClean="0">
                <a:latin typeface="Courier New" panose="02070309020205020404" pitchFamily="49" charset="0"/>
                <a:cs typeface="Courier New" panose="02070309020205020404" pitchFamily="49" charset="0"/>
              </a:rPr>
              <a:t>    </a:t>
            </a:r>
            <a:r>
              <a:rPr lang="en-GB" sz="1600" dirty="0" err="1" smtClean="0">
                <a:solidFill>
                  <a:srgbClr val="458383"/>
                </a:solidFill>
                <a:latin typeface="Courier New" panose="02070309020205020404" pitchFamily="49" charset="0"/>
                <a:cs typeface="Courier New" panose="02070309020205020404" pitchFamily="49" charset="0"/>
              </a:rPr>
              <a:t>xmlhttp</a:t>
            </a:r>
            <a:r>
              <a:rPr lang="en-GB" sz="1600" dirty="0" err="1" smtClean="0">
                <a:latin typeface="Courier New" panose="02070309020205020404" pitchFamily="49" charset="0"/>
                <a:cs typeface="Courier New" panose="02070309020205020404" pitchFamily="49" charset="0"/>
              </a:rPr>
              <a:t>.</a:t>
            </a:r>
            <a:r>
              <a:rPr lang="en-GB" sz="1600" dirty="0" err="1" smtClean="0">
                <a:solidFill>
                  <a:srgbClr val="7A7A43"/>
                </a:solidFill>
                <a:latin typeface="Courier New" panose="02070309020205020404" pitchFamily="49" charset="0"/>
                <a:cs typeface="Courier New" panose="02070309020205020404" pitchFamily="49" charset="0"/>
              </a:rPr>
              <a:t>send</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smtClean="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r>
            <a:br>
              <a:rPr lang="en-GB" sz="1600" dirty="0">
                <a:latin typeface="Courier New" panose="02070309020205020404" pitchFamily="49" charset="0"/>
                <a:cs typeface="Courier New" panose="02070309020205020404" pitchFamily="49" charset="0"/>
              </a:rPr>
            </a:br>
            <a:r>
              <a:rPr lang="en-GB" sz="1600" dirty="0" smtClean="0">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r>
            <a:br>
              <a:rPr lang="en-GB" sz="1600" dirty="0">
                <a:latin typeface="Courier New" panose="02070309020205020404" pitchFamily="49" charset="0"/>
                <a:cs typeface="Courier New" panose="02070309020205020404" pitchFamily="49" charset="0"/>
              </a:rPr>
            </a:br>
            <a:r>
              <a:rPr lang="en-GB" sz="1600" dirty="0">
                <a:latin typeface="Courier New" panose="02070309020205020404" pitchFamily="49" charset="0"/>
                <a:cs typeface="Courier New" panose="02070309020205020404" pitchFamily="49" charset="0"/>
              </a:rPr>
              <a:t>&lt;/</a:t>
            </a:r>
            <a:r>
              <a:rPr lang="en-GB" sz="1600" dirty="0">
                <a:solidFill>
                  <a:srgbClr val="000080"/>
                </a:solidFill>
                <a:latin typeface="Courier New" panose="02070309020205020404" pitchFamily="49" charset="0"/>
                <a:cs typeface="Courier New" panose="02070309020205020404" pitchFamily="49" charset="0"/>
              </a:rPr>
              <a:t>script</a:t>
            </a:r>
            <a:r>
              <a:rPr lang="en-GB" sz="1600" dirty="0">
                <a:latin typeface="Courier New" panose="02070309020205020404" pitchFamily="49" charset="0"/>
                <a:cs typeface="Courier New" panose="02070309020205020404" pitchFamily="49" charset="0"/>
              </a:rPr>
              <a:t>&gt;</a:t>
            </a:r>
            <a:r>
              <a:rPr lang="en-GB" sz="800" dirty="0">
                <a:latin typeface="Courier New" panose="02070309020205020404" pitchFamily="49" charset="0"/>
                <a:cs typeface="Courier New" panose="02070309020205020404" pitchFamily="49" charset="0"/>
              </a:rPr>
              <a:t/>
            </a:r>
            <a:br>
              <a:rPr lang="en-GB" sz="800" dirty="0">
                <a:latin typeface="Courier New" panose="02070309020205020404" pitchFamily="49" charset="0"/>
                <a:cs typeface="Courier New" panose="02070309020205020404" pitchFamily="49" charset="0"/>
              </a:rPr>
            </a:br>
            <a:endParaRPr lang="en-GB" sz="800" b="0" dirty="0">
              <a:latin typeface="Courier New" panose="02070309020205020404" pitchFamily="49" charset="0"/>
              <a:cs typeface="Courier New" panose="02070309020205020404" pitchFamily="49" charset="0"/>
              <a:sym typeface="Arial" charset="0"/>
            </a:endParaRPr>
          </a:p>
          <a:p>
            <a:pPr marL="342900" indent="-342900">
              <a:spcBef>
                <a:spcPts val="400"/>
              </a:spcBef>
              <a:buClr>
                <a:schemeClr val="accent1"/>
              </a:buClr>
              <a:buFont typeface="Arial" panose="020B0604020202020204" pitchFamily="34" charset="0"/>
              <a:buChar char="•"/>
              <a:defRPr/>
            </a:pPr>
            <a:endParaRPr lang="en-GB" sz="800" b="0" dirty="0" smtClean="0">
              <a:latin typeface="Courier New" panose="02070309020205020404" pitchFamily="49" charset="0"/>
              <a:cs typeface="Courier New" panose="02070309020205020404" pitchFamily="49" charset="0"/>
              <a:sym typeface="Arial" charset="0"/>
            </a:endParaRPr>
          </a:p>
          <a:p>
            <a:pPr marL="342900" indent="-342900">
              <a:spcBef>
                <a:spcPts val="400"/>
              </a:spcBef>
              <a:buClr>
                <a:schemeClr val="accent1"/>
              </a:buClr>
              <a:buFont typeface="Arial" panose="020B0604020202020204" pitchFamily="34" charset="0"/>
              <a:buChar char="•"/>
              <a:defRPr/>
            </a:pPr>
            <a:endParaRPr lang="en-GB" sz="800" b="0" dirty="0">
              <a:latin typeface="Courier New" panose="02070309020205020404" pitchFamily="49" charset="0"/>
              <a:cs typeface="Courier New" panose="02070309020205020404" pitchFamily="49" charset="0"/>
              <a:sym typeface="Arial" charset="0"/>
            </a:endParaRPr>
          </a:p>
        </p:txBody>
      </p:sp>
    </p:spTree>
    <p:extLst>
      <p:ext uri="{BB962C8B-B14F-4D97-AF65-F5344CB8AC3E}">
        <p14:creationId xmlns:p14="http://schemas.microsoft.com/office/powerpoint/2010/main" val="969049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197</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15.5 – live search</a:t>
            </a:r>
            <a:endParaRPr lang="en-GB" sz="3600" b="0" dirty="0"/>
          </a:p>
        </p:txBody>
      </p:sp>
      <p:sp>
        <p:nvSpPr>
          <p:cNvPr id="4" name="Rectangle 2"/>
          <p:cNvSpPr txBox="1">
            <a:spLocks noChangeArrowheads="1"/>
          </p:cNvSpPr>
          <p:nvPr/>
        </p:nvSpPr>
        <p:spPr>
          <a:xfrm>
            <a:off x="467544" y="980729"/>
            <a:ext cx="8425631" cy="5688632"/>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spcBef>
                <a:spcPts val="400"/>
              </a:spcBef>
              <a:buClr>
                <a:schemeClr val="accent1"/>
              </a:buClr>
              <a:buAutoNum type="arabicParenR" startAt="3"/>
              <a:defRPr/>
            </a:pPr>
            <a:r>
              <a:rPr lang="en-GB" sz="2400" b="0" dirty="0" smtClean="0">
                <a:latin typeface="+mj-lt"/>
                <a:cs typeface="Courier New" panose="02070309020205020404" pitchFamily="49" charset="0"/>
                <a:sym typeface="Arial" charset="0"/>
              </a:rPr>
              <a:t>Server script to carry out the search and return results</a:t>
            </a:r>
          </a:p>
          <a:p>
            <a:pPr marL="0" indent="0">
              <a:spcBef>
                <a:spcPts val="400"/>
              </a:spcBef>
              <a:buClr>
                <a:schemeClr val="accent1"/>
              </a:buClr>
              <a:defRPr/>
            </a:pPr>
            <a:endParaRPr lang="en-GB" sz="2400" b="0" dirty="0">
              <a:latin typeface="+mj-lt"/>
              <a:cs typeface="Courier New" panose="02070309020205020404" pitchFamily="49" charset="0"/>
              <a:sym typeface="Arial" charset="0"/>
            </a:endParaRPr>
          </a:p>
          <a:p>
            <a:pPr marL="0" indent="0">
              <a:spcBef>
                <a:spcPts val="400"/>
              </a:spcBef>
              <a:buClr>
                <a:schemeClr val="accent1"/>
              </a:buClr>
              <a:defRPr/>
            </a:pPr>
            <a:r>
              <a:rPr lang="en-GB" sz="1600" dirty="0" smtClean="0">
                <a:solidFill>
                  <a:srgbClr val="000080"/>
                </a:solidFill>
                <a:latin typeface="Courier New" panose="02070309020205020404" pitchFamily="49" charset="0"/>
                <a:cs typeface="Courier New" panose="02070309020205020404" pitchFamily="49" charset="0"/>
              </a:rPr>
              <a:t>&lt;?</a:t>
            </a:r>
            <a:r>
              <a:rPr lang="en-GB" sz="1600" dirty="0" err="1" smtClean="0">
                <a:solidFill>
                  <a:srgbClr val="000080"/>
                </a:solidFill>
                <a:latin typeface="Courier New" panose="02070309020205020404" pitchFamily="49" charset="0"/>
                <a:cs typeface="Courier New" panose="02070309020205020404" pitchFamily="49" charset="0"/>
              </a:rPr>
              <a:t>php</a:t>
            </a:r>
            <a:r>
              <a:rPr lang="en-GB" sz="1600" dirty="0" smtClean="0">
                <a:solidFill>
                  <a:srgbClr val="000080"/>
                </a:solidFill>
                <a:latin typeface="Courier New" panose="02070309020205020404" pitchFamily="49" charset="0"/>
                <a:cs typeface="Courier New" panose="02070309020205020404" pitchFamily="49" charset="0"/>
              </a:rPr>
              <a:t/>
            </a:r>
            <a:br>
              <a:rPr lang="en-GB" sz="1600" dirty="0" smtClean="0">
                <a:solidFill>
                  <a:srgbClr val="000080"/>
                </a:solidFill>
                <a:latin typeface="Courier New" panose="02070309020205020404" pitchFamily="49" charset="0"/>
                <a:cs typeface="Courier New" panose="02070309020205020404" pitchFamily="49" charset="0"/>
              </a:rPr>
            </a:br>
            <a:r>
              <a:rPr lang="en-GB" sz="1600" i="1" dirty="0" smtClean="0">
                <a:solidFill>
                  <a:srgbClr val="808080"/>
                </a:solidFill>
                <a:latin typeface="Courier New" panose="02070309020205020404" pitchFamily="49" charset="0"/>
                <a:cs typeface="Courier New" panose="02070309020205020404" pitchFamily="49" charset="0"/>
              </a:rPr>
              <a:t>// Array with names</a:t>
            </a:r>
            <a:br>
              <a:rPr lang="en-GB" sz="1600" i="1" dirty="0" smtClean="0">
                <a:solidFill>
                  <a:srgbClr val="808080"/>
                </a:solidFill>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"Anna"</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"Brittany"</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"Cinderella"</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"Diana"</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"Eva"</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"Fiona"</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a:t>
            </a:r>
            <a:r>
              <a:rPr lang="en-GB" sz="1600" dirty="0" err="1" smtClean="0">
                <a:solidFill>
                  <a:srgbClr val="008000"/>
                </a:solidFill>
                <a:latin typeface="Courier New" panose="02070309020205020404" pitchFamily="49" charset="0"/>
                <a:cs typeface="Courier New" panose="02070309020205020404" pitchFamily="49" charset="0"/>
              </a:rPr>
              <a:t>Gunda</a:t>
            </a:r>
            <a:r>
              <a:rPr lang="en-GB" sz="1600" dirty="0" smtClean="0">
                <a:solidFill>
                  <a:srgbClr val="008000"/>
                </a:solidFill>
                <a:latin typeface="Courier New" panose="02070309020205020404" pitchFamily="49" charset="0"/>
                <a:cs typeface="Courier New" panose="02070309020205020404" pitchFamily="49" charset="0"/>
              </a:rPr>
              <a:t>"</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a:t>
            </a:r>
            <a:r>
              <a:rPr lang="en-GB" sz="1600" dirty="0" err="1" smtClean="0">
                <a:solidFill>
                  <a:srgbClr val="008000"/>
                </a:solidFill>
                <a:latin typeface="Courier New" panose="02070309020205020404" pitchFamily="49" charset="0"/>
                <a:cs typeface="Courier New" panose="02070309020205020404" pitchFamily="49" charset="0"/>
              </a:rPr>
              <a:t>Hege</a:t>
            </a:r>
            <a:r>
              <a:rPr lang="en-GB" sz="1600" dirty="0" smtClean="0">
                <a:solidFill>
                  <a:srgbClr val="008000"/>
                </a:solidFill>
                <a:latin typeface="Courier New" panose="02070309020205020404" pitchFamily="49" charset="0"/>
                <a:cs typeface="Courier New" panose="02070309020205020404" pitchFamily="49" charset="0"/>
              </a:rPr>
              <a:t>"</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"Inga"</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"Johanna"</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"Kitty"</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"Linda"</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r>
              <a:rPr lang="en-GB" sz="1600" dirty="0" smtClean="0">
                <a:solidFill>
                  <a:srgbClr val="660000"/>
                </a:solidFill>
                <a:latin typeface="Courier New" panose="02070309020205020404" pitchFamily="49" charset="0"/>
                <a:cs typeface="Courier New" panose="02070309020205020404" pitchFamily="49" charset="0"/>
              </a:rPr>
              <a:t>$a</a:t>
            </a:r>
            <a:r>
              <a:rPr lang="en-GB" sz="1600" dirty="0" smtClean="0">
                <a:latin typeface="Courier New" panose="02070309020205020404" pitchFamily="49" charset="0"/>
                <a:cs typeface="Courier New" panose="02070309020205020404" pitchFamily="49" charset="0"/>
              </a:rPr>
              <a:t>[] = </a:t>
            </a:r>
            <a:r>
              <a:rPr lang="en-GB" sz="1600" dirty="0" smtClean="0">
                <a:solidFill>
                  <a:srgbClr val="008000"/>
                </a:solidFill>
                <a:latin typeface="Courier New" panose="02070309020205020404" pitchFamily="49" charset="0"/>
                <a:cs typeface="Courier New" panose="02070309020205020404" pitchFamily="49" charset="0"/>
              </a:rPr>
              <a:t>"Nina"</a:t>
            </a:r>
            <a:r>
              <a:rPr lang="en-GB" sz="1600" dirty="0" smtClean="0">
                <a:latin typeface="Courier New" panose="02070309020205020404" pitchFamily="49" charset="0"/>
                <a:cs typeface="Courier New" panose="02070309020205020404" pitchFamily="49" charset="0"/>
              </a:rPr>
              <a:t>;</a:t>
            </a:r>
            <a:br>
              <a:rPr lang="en-GB" sz="1600" dirty="0" smtClean="0">
                <a:latin typeface="Courier New" panose="02070309020205020404" pitchFamily="49" charset="0"/>
                <a:cs typeface="Courier New" panose="02070309020205020404" pitchFamily="49" charset="0"/>
              </a:rPr>
            </a:br>
            <a:endParaRPr lang="en-GB" sz="900" b="0" dirty="0">
              <a:latin typeface="Courier New" panose="02070309020205020404" pitchFamily="49" charset="0"/>
              <a:cs typeface="Courier New" panose="02070309020205020404" pitchFamily="49" charset="0"/>
              <a:sym typeface="Arial" charset="0"/>
            </a:endParaRPr>
          </a:p>
          <a:p>
            <a:pPr marL="0" indent="0">
              <a:spcBef>
                <a:spcPts val="400"/>
              </a:spcBef>
              <a:buClr>
                <a:schemeClr val="accent1"/>
              </a:buClr>
              <a:defRPr/>
            </a:pPr>
            <a:r>
              <a:rPr lang="en-GB" sz="800" dirty="0">
                <a:latin typeface="Courier New" panose="02070309020205020404" pitchFamily="49" charset="0"/>
                <a:cs typeface="Courier New" panose="02070309020205020404" pitchFamily="49" charset="0"/>
              </a:rPr>
              <a:t/>
            </a:r>
            <a:br>
              <a:rPr lang="en-GB" sz="800" dirty="0">
                <a:latin typeface="Courier New" panose="02070309020205020404" pitchFamily="49" charset="0"/>
                <a:cs typeface="Courier New" panose="02070309020205020404" pitchFamily="49" charset="0"/>
              </a:rPr>
            </a:br>
            <a:endParaRPr lang="en-GB" sz="800" b="0" dirty="0">
              <a:latin typeface="Courier New" panose="02070309020205020404" pitchFamily="49" charset="0"/>
              <a:cs typeface="Courier New" panose="02070309020205020404" pitchFamily="49" charset="0"/>
              <a:sym typeface="Arial" charset="0"/>
            </a:endParaRPr>
          </a:p>
          <a:p>
            <a:pPr marL="342900" indent="-342900">
              <a:spcBef>
                <a:spcPts val="400"/>
              </a:spcBef>
              <a:buClr>
                <a:schemeClr val="accent1"/>
              </a:buClr>
              <a:buFont typeface="Arial" panose="020B0604020202020204" pitchFamily="34" charset="0"/>
              <a:buChar char="•"/>
              <a:defRPr/>
            </a:pPr>
            <a:endParaRPr lang="en-GB" sz="800" b="0" dirty="0" smtClean="0">
              <a:latin typeface="Courier New" panose="02070309020205020404" pitchFamily="49" charset="0"/>
              <a:cs typeface="Courier New" panose="02070309020205020404" pitchFamily="49" charset="0"/>
              <a:sym typeface="Arial" charset="0"/>
            </a:endParaRPr>
          </a:p>
          <a:p>
            <a:pPr marL="342900" indent="-342900">
              <a:spcBef>
                <a:spcPts val="400"/>
              </a:spcBef>
              <a:buClr>
                <a:schemeClr val="accent1"/>
              </a:buClr>
              <a:buFont typeface="Arial" panose="020B0604020202020204" pitchFamily="34" charset="0"/>
              <a:buChar char="•"/>
              <a:defRPr/>
            </a:pPr>
            <a:endParaRPr lang="en-GB" sz="800" b="0" dirty="0">
              <a:latin typeface="Courier New" panose="02070309020205020404" pitchFamily="49" charset="0"/>
              <a:cs typeface="Courier New" panose="02070309020205020404" pitchFamily="49" charset="0"/>
              <a:sym typeface="Arial" charset="0"/>
            </a:endParaRPr>
          </a:p>
        </p:txBody>
      </p:sp>
      <p:sp>
        <p:nvSpPr>
          <p:cNvPr id="5" name="Rectangle 4"/>
          <p:cNvSpPr/>
          <p:nvPr/>
        </p:nvSpPr>
        <p:spPr>
          <a:xfrm>
            <a:off x="4120628" y="1916832"/>
            <a:ext cx="4572000" cy="4575612"/>
          </a:xfrm>
          <a:prstGeom prst="rect">
            <a:avLst/>
          </a:prstGeom>
        </p:spPr>
        <p:txBody>
          <a:bodyPr>
            <a:spAutoFit/>
          </a:bodyPr>
          <a:lstStyle/>
          <a:p>
            <a:pPr lvl="0">
              <a:spcBef>
                <a:spcPts val="400"/>
              </a:spcBef>
              <a:buClr>
                <a:srgbClr val="C60C30"/>
              </a:buClr>
              <a:defRPr/>
            </a:pP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 </a:t>
            </a:r>
            <a:r>
              <a:rPr lang="en-GB" sz="1600" dirty="0">
                <a:solidFill>
                  <a:srgbClr val="008000"/>
                </a:solidFill>
                <a:latin typeface="Courier New" panose="02070309020205020404" pitchFamily="49" charset="0"/>
                <a:cs typeface="Courier New" panose="02070309020205020404" pitchFamily="49" charset="0"/>
              </a:rPr>
              <a:t>"Ophelia"</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"Petunia"</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"Amanda"</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"Raquel"</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"Cindy"</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"Doris"</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"Eve"</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a:t>
            </a:r>
            <a:r>
              <a:rPr lang="en-GB" sz="1600" dirty="0" err="1">
                <a:solidFill>
                  <a:srgbClr val="008000"/>
                </a:solidFill>
                <a:latin typeface="Courier New" panose="02070309020205020404" pitchFamily="49" charset="0"/>
                <a:cs typeface="Courier New" panose="02070309020205020404" pitchFamily="49" charset="0"/>
              </a:rPr>
              <a:t>Evita</a:t>
            </a:r>
            <a:r>
              <a:rPr lang="en-GB" sz="1600" dirty="0">
                <a:solidFill>
                  <a:srgbClr val="00800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a:t>
            </a:r>
            <a:r>
              <a:rPr lang="en-GB" sz="1600" dirty="0" err="1">
                <a:solidFill>
                  <a:srgbClr val="008000"/>
                </a:solidFill>
                <a:latin typeface="Courier New" panose="02070309020205020404" pitchFamily="49" charset="0"/>
                <a:cs typeface="Courier New" panose="02070309020205020404" pitchFamily="49" charset="0"/>
              </a:rPr>
              <a:t>Sunniva</a:t>
            </a:r>
            <a:r>
              <a:rPr lang="en-GB" sz="1600" dirty="0">
                <a:solidFill>
                  <a:srgbClr val="00800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a:t>
            </a:r>
            <a:r>
              <a:rPr lang="en-GB" sz="1600" dirty="0" err="1">
                <a:solidFill>
                  <a:srgbClr val="008000"/>
                </a:solidFill>
                <a:latin typeface="Courier New" panose="02070309020205020404" pitchFamily="49" charset="0"/>
                <a:cs typeface="Courier New" panose="02070309020205020404" pitchFamily="49" charset="0"/>
              </a:rPr>
              <a:t>Tove</a:t>
            </a:r>
            <a:r>
              <a:rPr lang="en-GB" sz="1600" dirty="0">
                <a:solidFill>
                  <a:srgbClr val="00800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a:t>
            </a:r>
            <a:r>
              <a:rPr lang="en-GB" sz="1600" dirty="0" err="1">
                <a:solidFill>
                  <a:srgbClr val="008000"/>
                </a:solidFill>
                <a:latin typeface="Courier New" panose="02070309020205020404" pitchFamily="49" charset="0"/>
                <a:cs typeface="Courier New" panose="02070309020205020404" pitchFamily="49" charset="0"/>
              </a:rPr>
              <a:t>Unni</a:t>
            </a:r>
            <a:r>
              <a:rPr lang="en-GB" sz="1600" dirty="0">
                <a:solidFill>
                  <a:srgbClr val="00800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"Violet"</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 </a:t>
            </a:r>
            <a:r>
              <a:rPr lang="en-GB" sz="1600" dirty="0">
                <a:solidFill>
                  <a:srgbClr val="008000"/>
                </a:solidFill>
                <a:latin typeface="Courier New" panose="02070309020205020404" pitchFamily="49" charset="0"/>
                <a:cs typeface="Courier New" panose="02070309020205020404" pitchFamily="49" charset="0"/>
              </a:rPr>
              <a:t>"Liza"</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"Elizabeth"</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"Ellen"</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a:t>
            </a:r>
            <a:r>
              <a:rPr lang="en-GB" sz="1600" dirty="0" err="1">
                <a:solidFill>
                  <a:srgbClr val="008000"/>
                </a:solidFill>
                <a:latin typeface="Courier New" panose="02070309020205020404" pitchFamily="49" charset="0"/>
                <a:cs typeface="Courier New" panose="02070309020205020404" pitchFamily="49" charset="0"/>
              </a:rPr>
              <a:t>Wenche</a:t>
            </a:r>
            <a:r>
              <a:rPr lang="en-GB" sz="1600" dirty="0">
                <a:solidFill>
                  <a:srgbClr val="008000"/>
                </a:solidFill>
                <a:latin typeface="Courier New" panose="02070309020205020404" pitchFamily="49" charset="0"/>
                <a:cs typeface="Courier New" panose="02070309020205020404" pitchFamily="49" charset="0"/>
              </a:rPr>
              <a:t>"</a:t>
            </a:r>
            <a:r>
              <a:rPr lang="en-GB" sz="1600" dirty="0">
                <a:latin typeface="Courier New" panose="02070309020205020404" pitchFamily="49" charset="0"/>
                <a:cs typeface="Courier New" panose="02070309020205020404" pitchFamily="49" charset="0"/>
              </a:rPr>
              <a:t>;</a:t>
            </a:r>
            <a:br>
              <a:rPr lang="en-GB" sz="1600" dirty="0">
                <a:latin typeface="Courier New" panose="02070309020205020404" pitchFamily="49" charset="0"/>
                <a:cs typeface="Courier New" panose="02070309020205020404" pitchFamily="49" charset="0"/>
              </a:rPr>
            </a:br>
            <a:r>
              <a:rPr lang="en-GB" sz="1600" dirty="0">
                <a:solidFill>
                  <a:srgbClr val="660000"/>
                </a:solidFill>
                <a:latin typeface="Courier New" panose="02070309020205020404" pitchFamily="49" charset="0"/>
                <a:cs typeface="Courier New" panose="02070309020205020404" pitchFamily="49" charset="0"/>
              </a:rPr>
              <a:t>$a</a:t>
            </a:r>
            <a:r>
              <a:rPr lang="en-GB" sz="1600" dirty="0">
                <a:solidFill>
                  <a:schemeClr val="tx1"/>
                </a:solidFill>
                <a:latin typeface="Courier New" panose="02070309020205020404" pitchFamily="49" charset="0"/>
                <a:cs typeface="Courier New" panose="02070309020205020404" pitchFamily="49" charset="0"/>
              </a:rPr>
              <a:t>[] =</a:t>
            </a:r>
            <a:r>
              <a:rPr lang="en-GB" sz="1600" dirty="0">
                <a:latin typeface="Courier New" panose="02070309020205020404" pitchFamily="49" charset="0"/>
                <a:cs typeface="Courier New" panose="02070309020205020404" pitchFamily="49" charset="0"/>
              </a:rPr>
              <a:t> </a:t>
            </a:r>
            <a:r>
              <a:rPr lang="en-GB" sz="1600" dirty="0">
                <a:solidFill>
                  <a:srgbClr val="008000"/>
                </a:solidFill>
                <a:latin typeface="Courier New" panose="02070309020205020404" pitchFamily="49" charset="0"/>
                <a:cs typeface="Courier New" panose="02070309020205020404" pitchFamily="49" charset="0"/>
              </a:rPr>
              <a:t>"</a:t>
            </a:r>
            <a:r>
              <a:rPr lang="en-GB" sz="1600" dirty="0" smtClean="0">
                <a:solidFill>
                  <a:srgbClr val="008000"/>
                </a:solidFill>
                <a:latin typeface="Courier New" panose="02070309020205020404" pitchFamily="49" charset="0"/>
                <a:cs typeface="Courier New" panose="02070309020205020404" pitchFamily="49" charset="0"/>
              </a:rPr>
              <a:t>Vicky“</a:t>
            </a:r>
          </a:p>
          <a:p>
            <a:pPr lvl="0">
              <a:spcBef>
                <a:spcPts val="400"/>
              </a:spcBef>
              <a:buClr>
                <a:srgbClr val="C60C30"/>
              </a:buClr>
              <a:defRPr/>
            </a:pPr>
            <a:r>
              <a:rPr lang="en-GB" sz="1600" dirty="0" smtClean="0">
                <a:solidFill>
                  <a:srgbClr val="008000"/>
                </a:solidFill>
                <a:latin typeface="Courier New" panose="02070309020205020404" pitchFamily="49" charset="0"/>
                <a:cs typeface="Courier New" panose="02070309020205020404" pitchFamily="49" charset="0"/>
              </a:rPr>
              <a:t>. . .</a:t>
            </a:r>
            <a:r>
              <a:rPr lang="en-GB" sz="1600" dirty="0" smtClean="0">
                <a:latin typeface="Courier New" panose="02070309020205020404" pitchFamily="49" charset="0"/>
                <a:cs typeface="Courier New" panose="02070309020205020404" pitchFamily="49" charset="0"/>
              </a:rPr>
              <a:t>;</a:t>
            </a:r>
            <a:endParaRPr lang="en-GB" sz="1600" b="0" dirty="0">
              <a:latin typeface="Courier New" panose="02070309020205020404" pitchFamily="49" charset="0"/>
              <a:cs typeface="Courier New" panose="02070309020205020404" pitchFamily="49" charset="0"/>
              <a:sym typeface="Arial" charset="0"/>
            </a:endParaRPr>
          </a:p>
        </p:txBody>
      </p:sp>
    </p:spTree>
    <p:extLst>
      <p:ext uri="{BB962C8B-B14F-4D97-AF65-F5344CB8AC3E}">
        <p14:creationId xmlns:p14="http://schemas.microsoft.com/office/powerpoint/2010/main" val="389302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198</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15.5 – live search</a:t>
            </a:r>
            <a:endParaRPr lang="en-GB" sz="3600" b="0" dirty="0"/>
          </a:p>
        </p:txBody>
      </p:sp>
      <p:sp>
        <p:nvSpPr>
          <p:cNvPr id="4" name="Rectangle 2"/>
          <p:cNvSpPr txBox="1">
            <a:spLocks noChangeArrowheads="1"/>
          </p:cNvSpPr>
          <p:nvPr/>
        </p:nvSpPr>
        <p:spPr>
          <a:xfrm>
            <a:off x="395536" y="846386"/>
            <a:ext cx="8568952" cy="5822975"/>
          </a:xfrm>
          <a:prstGeom prst="rect">
            <a:avLst/>
          </a:prstGeom>
        </p:spPr>
        <p:txBody>
          <a:bodyPr/>
          <a:lstStyle>
            <a:lvl1pPr marL="341313" indent="-341313" algn="l" defTabSz="455613" rtl="0" eaLnBrk="1" fontAlgn="base" hangingPunct="1">
              <a:spcBef>
                <a:spcPct val="20000"/>
              </a:spcBef>
              <a:spcAft>
                <a:spcPct val="0"/>
              </a:spcAft>
              <a:defRPr sz="3200" kern="1200">
                <a:solidFill>
                  <a:schemeClr val="tx1"/>
                </a:solidFill>
                <a:latin typeface="Arial"/>
                <a:ea typeface="ＭＳ Ｐゴシック" charset="-128"/>
                <a:cs typeface="Arial"/>
              </a:defRPr>
            </a:lvl1pPr>
            <a:lvl2pPr marL="741363" indent="-284163" algn="l" defTabSz="455613"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charset="-128"/>
                <a:cs typeface="Arial"/>
              </a:defRPr>
            </a:lvl2pPr>
            <a:lvl3pPr marL="1141413" indent="-227013" algn="l" defTabSz="455613" rtl="0" eaLnBrk="1" fontAlgn="base" hangingPunct="1">
              <a:spcBef>
                <a:spcPct val="20000"/>
              </a:spcBef>
              <a:spcAft>
                <a:spcPct val="0"/>
              </a:spcAft>
              <a:buFont typeface="Arial" pitchFamily="34" charset="0"/>
              <a:buChar char="•"/>
              <a:defRPr sz="2400" kern="1200">
                <a:solidFill>
                  <a:schemeClr val="tx1"/>
                </a:solidFill>
                <a:latin typeface="Arial"/>
                <a:ea typeface="ＭＳ Ｐゴシック" charset="-128"/>
                <a:cs typeface="Arial"/>
              </a:defRPr>
            </a:lvl3pPr>
            <a:lvl4pPr marL="15986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4pPr>
            <a:lvl5pPr marL="2055813" indent="-227013" algn="l" defTabSz="455613"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charset="-128"/>
                <a:cs typeface="Arial"/>
              </a:defRPr>
            </a:lvl5pPr>
            <a:lvl6pPr marL="2514340" indent="-228577" algn="l" defTabSz="457153" rtl="0" eaLnBrk="1" latinLnBrk="0" hangingPunct="1">
              <a:spcBef>
                <a:spcPct val="20000"/>
              </a:spcBef>
              <a:buFont typeface="Arial"/>
              <a:buChar char="•"/>
              <a:defRPr sz="2000" kern="1200">
                <a:solidFill>
                  <a:schemeClr val="tx1"/>
                </a:solidFill>
                <a:latin typeface="+mn-lt"/>
                <a:ea typeface="+mn-ea"/>
                <a:cs typeface="+mn-cs"/>
              </a:defRPr>
            </a:lvl6pPr>
            <a:lvl7pPr marL="2971492" indent="-228577" algn="l" defTabSz="457153" rtl="0" eaLnBrk="1" latinLnBrk="0" hangingPunct="1">
              <a:spcBef>
                <a:spcPct val="20000"/>
              </a:spcBef>
              <a:buFont typeface="Arial"/>
              <a:buChar char="•"/>
              <a:defRPr sz="2000" kern="1200">
                <a:solidFill>
                  <a:schemeClr val="tx1"/>
                </a:solidFill>
                <a:latin typeface="+mn-lt"/>
                <a:ea typeface="+mn-ea"/>
                <a:cs typeface="+mn-cs"/>
              </a:defRPr>
            </a:lvl7pPr>
            <a:lvl8pPr marL="3428645" indent="-228577" algn="l" defTabSz="457153" rtl="0" eaLnBrk="1" latinLnBrk="0" hangingPunct="1">
              <a:spcBef>
                <a:spcPct val="20000"/>
              </a:spcBef>
              <a:buFont typeface="Arial"/>
              <a:buChar char="•"/>
              <a:defRPr sz="2000" kern="1200">
                <a:solidFill>
                  <a:schemeClr val="tx1"/>
                </a:solidFill>
                <a:latin typeface="+mn-lt"/>
                <a:ea typeface="+mn-ea"/>
                <a:cs typeface="+mn-cs"/>
              </a:defRPr>
            </a:lvl8pPr>
            <a:lvl9pPr marL="3885797" indent="-228577" algn="l" defTabSz="457153"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400"/>
              </a:spcBef>
              <a:buClr>
                <a:schemeClr val="accent1"/>
              </a:buClr>
              <a:defRPr/>
            </a:pPr>
            <a:r>
              <a:rPr lang="en-GB" sz="2400" b="0" dirty="0" smtClean="0">
                <a:solidFill>
                  <a:srgbClr val="C00000"/>
                </a:solidFill>
                <a:latin typeface="+mj-lt"/>
                <a:cs typeface="Courier New" panose="02070309020205020404" pitchFamily="49" charset="0"/>
                <a:sym typeface="Arial" charset="0"/>
              </a:rPr>
              <a:t>4)</a:t>
            </a:r>
            <a:r>
              <a:rPr lang="en-GB" sz="2400" b="0" dirty="0" smtClean="0">
                <a:latin typeface="+mj-lt"/>
                <a:cs typeface="Courier New" panose="02070309020205020404" pitchFamily="49" charset="0"/>
                <a:sym typeface="Arial" charset="0"/>
              </a:rPr>
              <a:t>	Server script to carry out the search and return results</a:t>
            </a:r>
          </a:p>
          <a:p>
            <a:pPr marL="0" indent="0">
              <a:spcBef>
                <a:spcPts val="400"/>
              </a:spcBef>
              <a:buClr>
                <a:schemeClr val="accent1"/>
              </a:buClr>
              <a:defRPr/>
            </a:pPr>
            <a:endParaRPr lang="en-GB" sz="400" b="0" dirty="0">
              <a:latin typeface="Courier New" panose="02070309020205020404" pitchFamily="49" charset="0"/>
              <a:cs typeface="Courier New" panose="02070309020205020404" pitchFamily="49" charset="0"/>
              <a:sym typeface="Arial" charset="0"/>
            </a:endParaRPr>
          </a:p>
          <a:p>
            <a:pPr marL="0" indent="0">
              <a:spcBef>
                <a:spcPts val="400"/>
              </a:spcBef>
              <a:buClr>
                <a:schemeClr val="accent1"/>
              </a:buClr>
              <a:defRPr/>
            </a:pPr>
            <a:r>
              <a:rPr lang="en-GB" sz="1800" i="1" dirty="0">
                <a:solidFill>
                  <a:srgbClr val="808080"/>
                </a:solidFill>
                <a:latin typeface="Courier New" panose="02070309020205020404" pitchFamily="49" charset="0"/>
                <a:cs typeface="Courier New" panose="02070309020205020404" pitchFamily="49" charset="0"/>
              </a:rPr>
              <a:t>// get the q </a:t>
            </a:r>
            <a:r>
              <a:rPr lang="en-GB" sz="1800" i="1" dirty="0" smtClean="0">
                <a:solidFill>
                  <a:srgbClr val="808080"/>
                </a:solidFill>
                <a:latin typeface="Courier New" panose="02070309020205020404" pitchFamily="49" charset="0"/>
                <a:cs typeface="Courier New" panose="02070309020205020404" pitchFamily="49" charset="0"/>
              </a:rPr>
              <a:t>parameter, the text typed in, </a:t>
            </a:r>
            <a:r>
              <a:rPr lang="en-GB" sz="1800" i="1" dirty="0">
                <a:solidFill>
                  <a:srgbClr val="808080"/>
                </a:solidFill>
                <a:latin typeface="Courier New" panose="02070309020205020404" pitchFamily="49" charset="0"/>
                <a:cs typeface="Courier New" panose="02070309020205020404" pitchFamily="49" charset="0"/>
              </a:rPr>
              <a:t>from URL</a:t>
            </a:r>
            <a:br>
              <a:rPr lang="en-GB" sz="1800" i="1" dirty="0">
                <a:solidFill>
                  <a:srgbClr val="808080"/>
                </a:solidFill>
                <a:latin typeface="Courier New" panose="02070309020205020404" pitchFamily="49" charset="0"/>
                <a:cs typeface="Courier New" panose="02070309020205020404" pitchFamily="49" charset="0"/>
              </a:rPr>
            </a:br>
            <a:r>
              <a:rPr lang="en-GB" sz="1800" dirty="0">
                <a:solidFill>
                  <a:srgbClr val="660000"/>
                </a:solidFill>
                <a:latin typeface="Courier New" panose="02070309020205020404" pitchFamily="49" charset="0"/>
                <a:cs typeface="Courier New" panose="02070309020205020404" pitchFamily="49" charset="0"/>
              </a:rPr>
              <a:t>$q </a:t>
            </a:r>
            <a:r>
              <a:rPr lang="en-GB" sz="1800" dirty="0">
                <a:latin typeface="Courier New" panose="02070309020205020404" pitchFamily="49" charset="0"/>
                <a:cs typeface="Courier New" panose="02070309020205020404" pitchFamily="49" charset="0"/>
              </a:rPr>
              <a:t>= </a:t>
            </a:r>
            <a:r>
              <a:rPr lang="en-GB" sz="1800" dirty="0">
                <a:solidFill>
                  <a:srgbClr val="660000"/>
                </a:solidFill>
                <a:latin typeface="Courier New" panose="02070309020205020404" pitchFamily="49" charset="0"/>
                <a:cs typeface="Courier New" panose="02070309020205020404" pitchFamily="49" charset="0"/>
              </a:rPr>
              <a:t>$_REQUEST</a:t>
            </a:r>
            <a:r>
              <a:rPr lang="en-GB" sz="1800" dirty="0">
                <a:latin typeface="Courier New" panose="02070309020205020404" pitchFamily="49" charset="0"/>
                <a:cs typeface="Courier New" panose="02070309020205020404" pitchFamily="49" charset="0"/>
              </a:rPr>
              <a:t>[</a:t>
            </a:r>
            <a:r>
              <a:rPr lang="en-GB" sz="1800" dirty="0">
                <a:solidFill>
                  <a:srgbClr val="008000"/>
                </a:solidFill>
                <a:latin typeface="Courier New" panose="02070309020205020404" pitchFamily="49" charset="0"/>
                <a:cs typeface="Courier New" panose="02070309020205020404" pitchFamily="49" charset="0"/>
              </a:rPr>
              <a:t>"q"</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smtClean="0">
                <a:solidFill>
                  <a:srgbClr val="660000"/>
                </a:solidFill>
                <a:latin typeface="Courier New" panose="02070309020205020404" pitchFamily="49" charset="0"/>
                <a:cs typeface="Courier New" panose="02070309020205020404" pitchFamily="49" charset="0"/>
              </a:rPr>
              <a:t>$</a:t>
            </a:r>
            <a:r>
              <a:rPr lang="en-GB" sz="1800" dirty="0">
                <a:solidFill>
                  <a:srgbClr val="660000"/>
                </a:solidFill>
                <a:latin typeface="Courier New" panose="02070309020205020404" pitchFamily="49" charset="0"/>
                <a:cs typeface="Courier New" panose="02070309020205020404" pitchFamily="49" charset="0"/>
              </a:rPr>
              <a:t>hint </a:t>
            </a:r>
            <a:r>
              <a:rPr lang="en-GB" sz="1800" dirty="0">
                <a:latin typeface="Courier New" panose="02070309020205020404" pitchFamily="49" charset="0"/>
                <a:cs typeface="Courier New" panose="02070309020205020404" pitchFamily="49" charset="0"/>
              </a:rPr>
              <a:t>= </a:t>
            </a:r>
            <a:r>
              <a:rPr lang="en-GB" sz="1800" dirty="0">
                <a:solidFill>
                  <a:srgbClr val="008000"/>
                </a:solidFill>
                <a:latin typeface="Courier New" panose="02070309020205020404" pitchFamily="49" charset="0"/>
                <a:cs typeface="Courier New" panose="02070309020205020404" pitchFamily="49" charset="0"/>
              </a:rPr>
              <a:t>""</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i="1" dirty="0" smtClean="0">
                <a:solidFill>
                  <a:srgbClr val="808080"/>
                </a:solidFill>
                <a:latin typeface="Courier New" panose="02070309020205020404" pitchFamily="49" charset="0"/>
                <a:cs typeface="Courier New" panose="02070309020205020404" pitchFamily="49" charset="0"/>
              </a:rPr>
              <a:t>// </a:t>
            </a:r>
            <a:r>
              <a:rPr lang="en-GB" sz="1800" i="1" dirty="0">
                <a:solidFill>
                  <a:srgbClr val="808080"/>
                </a:solidFill>
                <a:latin typeface="Courier New" panose="02070309020205020404" pitchFamily="49" charset="0"/>
                <a:cs typeface="Courier New" panose="02070309020205020404" pitchFamily="49" charset="0"/>
              </a:rPr>
              <a:t>lookup all hints from array if $q is different from "" </a:t>
            </a:r>
            <a:br>
              <a:rPr lang="en-GB" sz="1800" i="1" dirty="0">
                <a:solidFill>
                  <a:srgbClr val="808080"/>
                </a:solidFill>
                <a:latin typeface="Courier New" panose="02070309020205020404" pitchFamily="49" charset="0"/>
                <a:cs typeface="Courier New" panose="02070309020205020404" pitchFamily="49" charset="0"/>
              </a:rPr>
            </a:br>
            <a:r>
              <a:rPr lang="en-GB" sz="1800" dirty="0">
                <a:solidFill>
                  <a:srgbClr val="000080"/>
                </a:solidFill>
                <a:latin typeface="Courier New" panose="02070309020205020404" pitchFamily="49" charset="0"/>
                <a:cs typeface="Courier New" panose="02070309020205020404" pitchFamily="49" charset="0"/>
              </a:rPr>
              <a:t>if </a:t>
            </a:r>
            <a:r>
              <a:rPr lang="en-GB" sz="1800" dirty="0">
                <a:latin typeface="Courier New" panose="02070309020205020404" pitchFamily="49" charset="0"/>
                <a:cs typeface="Courier New" panose="02070309020205020404" pitchFamily="49" charset="0"/>
              </a:rPr>
              <a:t>(</a:t>
            </a:r>
            <a:r>
              <a:rPr lang="en-GB" sz="1800" dirty="0">
                <a:solidFill>
                  <a:srgbClr val="660000"/>
                </a:solidFill>
                <a:latin typeface="Courier New" panose="02070309020205020404" pitchFamily="49" charset="0"/>
                <a:cs typeface="Courier New" panose="02070309020205020404" pitchFamily="49" charset="0"/>
              </a:rPr>
              <a:t>$q </a:t>
            </a:r>
            <a:r>
              <a:rPr lang="en-GB" sz="1800" dirty="0">
                <a:latin typeface="Courier New" panose="02070309020205020404" pitchFamily="49" charset="0"/>
                <a:cs typeface="Courier New" panose="02070309020205020404" pitchFamily="49" charset="0"/>
              </a:rPr>
              <a:t>!== </a:t>
            </a:r>
            <a:r>
              <a:rPr lang="en-GB" sz="1800" dirty="0">
                <a:solidFill>
                  <a:srgbClr val="008000"/>
                </a:solidFill>
                <a:latin typeface="Courier New" panose="02070309020205020404" pitchFamily="49" charset="0"/>
                <a:cs typeface="Courier New" panose="02070309020205020404" pitchFamily="49" charset="0"/>
              </a:rPr>
              <a:t>""</a:t>
            </a:r>
            <a:r>
              <a:rPr lang="en-GB" sz="1800" dirty="0">
                <a:latin typeface="Courier New" panose="02070309020205020404" pitchFamily="49" charset="0"/>
                <a:cs typeface="Courier New" panose="02070309020205020404" pitchFamily="49" charset="0"/>
              </a:rPr>
              <a:t>) {</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a:solidFill>
                  <a:srgbClr val="660000"/>
                </a:solidFill>
                <a:latin typeface="Courier New" panose="02070309020205020404" pitchFamily="49" charset="0"/>
                <a:cs typeface="Courier New" panose="02070309020205020404" pitchFamily="49" charset="0"/>
              </a:rPr>
              <a:t>$q </a:t>
            </a:r>
            <a:r>
              <a:rPr lang="en-GB" sz="1800" dirty="0">
                <a:latin typeface="Courier New" panose="02070309020205020404" pitchFamily="49" charset="0"/>
                <a:cs typeface="Courier New" panose="02070309020205020404" pitchFamily="49" charset="0"/>
              </a:rPr>
              <a:t>= </a:t>
            </a:r>
            <a:r>
              <a:rPr lang="en-GB" sz="1800" i="1" dirty="0" err="1">
                <a:latin typeface="Courier New" panose="02070309020205020404" pitchFamily="49" charset="0"/>
                <a:cs typeface="Courier New" panose="02070309020205020404" pitchFamily="49" charset="0"/>
              </a:rPr>
              <a:t>strtolower</a:t>
            </a:r>
            <a:r>
              <a:rPr lang="en-GB" sz="1800" dirty="0">
                <a:latin typeface="Courier New" panose="02070309020205020404" pitchFamily="49" charset="0"/>
                <a:cs typeface="Courier New" panose="02070309020205020404" pitchFamily="49" charset="0"/>
              </a:rPr>
              <a:t>(</a:t>
            </a:r>
            <a:r>
              <a:rPr lang="en-GB" sz="1800" dirty="0">
                <a:solidFill>
                  <a:srgbClr val="660000"/>
                </a:solidFill>
                <a:latin typeface="Courier New" panose="02070309020205020404" pitchFamily="49" charset="0"/>
                <a:cs typeface="Courier New" panose="02070309020205020404" pitchFamily="49" charset="0"/>
              </a:rPr>
              <a:t>$q</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a:solidFill>
                  <a:srgbClr val="660000"/>
                </a:solidFill>
                <a:latin typeface="Courier New" panose="02070309020205020404" pitchFamily="49" charset="0"/>
                <a:cs typeface="Courier New" panose="02070309020205020404" pitchFamily="49" charset="0"/>
              </a:rPr>
              <a:t>$</a:t>
            </a:r>
            <a:r>
              <a:rPr lang="en-GB" sz="1800" dirty="0" err="1">
                <a:solidFill>
                  <a:srgbClr val="660000"/>
                </a:solidFill>
                <a:latin typeface="Courier New" panose="02070309020205020404" pitchFamily="49" charset="0"/>
                <a:cs typeface="Courier New" panose="02070309020205020404" pitchFamily="49" charset="0"/>
              </a:rPr>
              <a:t>len</a:t>
            </a:r>
            <a:r>
              <a:rPr lang="en-GB" sz="1800" dirty="0">
                <a:latin typeface="Courier New" panose="02070309020205020404" pitchFamily="49" charset="0"/>
                <a:cs typeface="Courier New" panose="02070309020205020404" pitchFamily="49" charset="0"/>
              </a:rPr>
              <a:t>=</a:t>
            </a:r>
            <a:r>
              <a:rPr lang="en-GB" sz="1800" i="1" dirty="0" err="1">
                <a:latin typeface="Courier New" panose="02070309020205020404" pitchFamily="49" charset="0"/>
                <a:cs typeface="Courier New" panose="02070309020205020404" pitchFamily="49" charset="0"/>
              </a:rPr>
              <a:t>strlen</a:t>
            </a:r>
            <a:r>
              <a:rPr lang="en-GB" sz="1800" dirty="0">
                <a:latin typeface="Courier New" panose="02070309020205020404" pitchFamily="49" charset="0"/>
                <a:cs typeface="Courier New" panose="02070309020205020404" pitchFamily="49" charset="0"/>
              </a:rPr>
              <a:t>(</a:t>
            </a:r>
            <a:r>
              <a:rPr lang="en-GB" sz="1800" dirty="0">
                <a:solidFill>
                  <a:srgbClr val="660000"/>
                </a:solidFill>
                <a:latin typeface="Courier New" panose="02070309020205020404" pitchFamily="49" charset="0"/>
                <a:cs typeface="Courier New" panose="02070309020205020404" pitchFamily="49" charset="0"/>
              </a:rPr>
              <a:t>$q</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err="1">
                <a:solidFill>
                  <a:srgbClr val="000080"/>
                </a:solidFill>
                <a:latin typeface="Courier New" panose="02070309020205020404" pitchFamily="49" charset="0"/>
                <a:cs typeface="Courier New" panose="02070309020205020404" pitchFamily="49" charset="0"/>
              </a:rPr>
              <a:t>foreach</a:t>
            </a:r>
            <a:r>
              <a:rPr lang="en-GB" sz="1800" dirty="0">
                <a:latin typeface="Courier New" panose="02070309020205020404" pitchFamily="49" charset="0"/>
                <a:cs typeface="Courier New" panose="02070309020205020404" pitchFamily="49" charset="0"/>
              </a:rPr>
              <a:t>(</a:t>
            </a:r>
            <a:r>
              <a:rPr lang="en-GB" sz="1800" dirty="0">
                <a:solidFill>
                  <a:srgbClr val="660000"/>
                </a:solidFill>
                <a:latin typeface="Courier New" panose="02070309020205020404" pitchFamily="49" charset="0"/>
                <a:cs typeface="Courier New" panose="02070309020205020404" pitchFamily="49" charset="0"/>
              </a:rPr>
              <a:t>$a </a:t>
            </a:r>
            <a:r>
              <a:rPr lang="en-GB" sz="1800" dirty="0">
                <a:solidFill>
                  <a:srgbClr val="000080"/>
                </a:solidFill>
                <a:latin typeface="Courier New" panose="02070309020205020404" pitchFamily="49" charset="0"/>
                <a:cs typeface="Courier New" panose="02070309020205020404" pitchFamily="49" charset="0"/>
              </a:rPr>
              <a:t>as </a:t>
            </a:r>
            <a:r>
              <a:rPr lang="en-GB" sz="1800" dirty="0">
                <a:solidFill>
                  <a:srgbClr val="660000"/>
                </a:solidFill>
                <a:latin typeface="Courier New" panose="02070309020205020404" pitchFamily="49" charset="0"/>
                <a:cs typeface="Courier New" panose="02070309020205020404" pitchFamily="49" charset="0"/>
              </a:rPr>
              <a:t>$name</a:t>
            </a:r>
            <a:r>
              <a:rPr lang="en-GB" sz="1800" dirty="0">
                <a:latin typeface="Courier New" panose="02070309020205020404" pitchFamily="49" charset="0"/>
                <a:cs typeface="Courier New" panose="02070309020205020404" pitchFamily="49" charset="0"/>
              </a:rPr>
              <a:t>) {</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a:solidFill>
                  <a:srgbClr val="000080"/>
                </a:solidFill>
                <a:latin typeface="Courier New" panose="02070309020205020404" pitchFamily="49" charset="0"/>
                <a:cs typeface="Courier New" panose="02070309020205020404" pitchFamily="49" charset="0"/>
              </a:rPr>
              <a:t>if </a:t>
            </a:r>
            <a:r>
              <a:rPr lang="en-GB" sz="1800" dirty="0">
                <a:latin typeface="Courier New" panose="02070309020205020404" pitchFamily="49" charset="0"/>
                <a:cs typeface="Courier New" panose="02070309020205020404" pitchFamily="49" charset="0"/>
              </a:rPr>
              <a:t>(</a:t>
            </a:r>
            <a:r>
              <a:rPr lang="en-GB" sz="1800" i="1" dirty="0" err="1">
                <a:latin typeface="Courier New" panose="02070309020205020404" pitchFamily="49" charset="0"/>
                <a:cs typeface="Courier New" panose="02070309020205020404" pitchFamily="49" charset="0"/>
              </a:rPr>
              <a:t>stristr</a:t>
            </a:r>
            <a:r>
              <a:rPr lang="en-GB" sz="1800" dirty="0">
                <a:latin typeface="Courier New" panose="02070309020205020404" pitchFamily="49" charset="0"/>
                <a:cs typeface="Courier New" panose="02070309020205020404" pitchFamily="49" charset="0"/>
              </a:rPr>
              <a:t>(</a:t>
            </a:r>
            <a:r>
              <a:rPr lang="en-GB" sz="1800" dirty="0">
                <a:solidFill>
                  <a:srgbClr val="660000"/>
                </a:solidFill>
                <a:latin typeface="Courier New" panose="02070309020205020404" pitchFamily="49" charset="0"/>
                <a:cs typeface="Courier New" panose="02070309020205020404" pitchFamily="49" charset="0"/>
              </a:rPr>
              <a:t>$q</a:t>
            </a:r>
            <a:r>
              <a:rPr lang="en-GB" sz="1800" dirty="0">
                <a:latin typeface="Courier New" panose="02070309020205020404" pitchFamily="49" charset="0"/>
                <a:cs typeface="Courier New" panose="02070309020205020404" pitchFamily="49" charset="0"/>
              </a:rPr>
              <a:t>, </a:t>
            </a:r>
            <a:r>
              <a:rPr lang="en-GB" sz="1800" i="1" dirty="0" err="1">
                <a:latin typeface="Courier New" panose="02070309020205020404" pitchFamily="49" charset="0"/>
                <a:cs typeface="Courier New" panose="02070309020205020404" pitchFamily="49" charset="0"/>
              </a:rPr>
              <a:t>substr</a:t>
            </a:r>
            <a:r>
              <a:rPr lang="en-GB" sz="1800" dirty="0">
                <a:latin typeface="Courier New" panose="02070309020205020404" pitchFamily="49" charset="0"/>
                <a:cs typeface="Courier New" panose="02070309020205020404" pitchFamily="49" charset="0"/>
              </a:rPr>
              <a:t>(</a:t>
            </a:r>
            <a:r>
              <a:rPr lang="en-GB" sz="1800" dirty="0">
                <a:solidFill>
                  <a:srgbClr val="660000"/>
                </a:solidFill>
                <a:latin typeface="Courier New" panose="02070309020205020404" pitchFamily="49" charset="0"/>
                <a:cs typeface="Courier New" panose="02070309020205020404" pitchFamily="49" charset="0"/>
              </a:rPr>
              <a:t>$name</a:t>
            </a:r>
            <a:r>
              <a:rPr lang="en-GB" sz="1800" dirty="0">
                <a:latin typeface="Courier New" panose="02070309020205020404" pitchFamily="49" charset="0"/>
                <a:cs typeface="Courier New" panose="02070309020205020404" pitchFamily="49" charset="0"/>
              </a:rPr>
              <a:t>, </a:t>
            </a:r>
            <a:r>
              <a:rPr lang="en-GB" sz="1800" dirty="0">
                <a:solidFill>
                  <a:srgbClr val="0000FF"/>
                </a:solidFill>
                <a:latin typeface="Courier New" panose="02070309020205020404" pitchFamily="49" charset="0"/>
                <a:cs typeface="Courier New" panose="02070309020205020404" pitchFamily="49" charset="0"/>
              </a:rPr>
              <a:t>0</a:t>
            </a:r>
            <a:r>
              <a:rPr lang="en-GB" sz="1800" dirty="0">
                <a:latin typeface="Courier New" panose="02070309020205020404" pitchFamily="49" charset="0"/>
                <a:cs typeface="Courier New" panose="02070309020205020404" pitchFamily="49" charset="0"/>
              </a:rPr>
              <a:t>, </a:t>
            </a:r>
            <a:r>
              <a:rPr lang="en-GB" sz="1800" dirty="0">
                <a:solidFill>
                  <a:srgbClr val="660000"/>
                </a:solidFill>
                <a:latin typeface="Courier New" panose="02070309020205020404" pitchFamily="49" charset="0"/>
                <a:cs typeface="Courier New" panose="02070309020205020404" pitchFamily="49" charset="0"/>
              </a:rPr>
              <a:t>$</a:t>
            </a:r>
            <a:r>
              <a:rPr lang="en-GB" sz="1800" dirty="0" err="1">
                <a:solidFill>
                  <a:srgbClr val="660000"/>
                </a:solidFill>
                <a:latin typeface="Courier New" panose="02070309020205020404" pitchFamily="49" charset="0"/>
                <a:cs typeface="Courier New" panose="02070309020205020404" pitchFamily="49" charset="0"/>
              </a:rPr>
              <a:t>len</a:t>
            </a:r>
            <a:r>
              <a:rPr lang="en-GB" sz="1800" dirty="0">
                <a:latin typeface="Courier New" panose="02070309020205020404" pitchFamily="49" charset="0"/>
                <a:cs typeface="Courier New" panose="02070309020205020404" pitchFamily="49" charset="0"/>
              </a:rPr>
              <a:t>))) {</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a:solidFill>
                  <a:srgbClr val="000080"/>
                </a:solidFill>
                <a:latin typeface="Courier New" panose="02070309020205020404" pitchFamily="49" charset="0"/>
                <a:cs typeface="Courier New" panose="02070309020205020404" pitchFamily="49" charset="0"/>
              </a:rPr>
              <a:t>if </a:t>
            </a:r>
            <a:r>
              <a:rPr lang="en-GB" sz="1800" dirty="0">
                <a:latin typeface="Courier New" panose="02070309020205020404" pitchFamily="49" charset="0"/>
                <a:cs typeface="Courier New" panose="02070309020205020404" pitchFamily="49" charset="0"/>
              </a:rPr>
              <a:t>(</a:t>
            </a:r>
            <a:r>
              <a:rPr lang="en-GB" sz="1800" dirty="0">
                <a:solidFill>
                  <a:srgbClr val="660000"/>
                </a:solidFill>
                <a:latin typeface="Courier New" panose="02070309020205020404" pitchFamily="49" charset="0"/>
                <a:cs typeface="Courier New" panose="02070309020205020404" pitchFamily="49" charset="0"/>
              </a:rPr>
              <a:t>$hint </a:t>
            </a:r>
            <a:r>
              <a:rPr lang="en-GB" sz="1800" dirty="0">
                <a:latin typeface="Courier New" panose="02070309020205020404" pitchFamily="49" charset="0"/>
                <a:cs typeface="Courier New" panose="02070309020205020404" pitchFamily="49" charset="0"/>
              </a:rPr>
              <a:t>=== </a:t>
            </a:r>
            <a:r>
              <a:rPr lang="en-GB" sz="1800" dirty="0">
                <a:solidFill>
                  <a:srgbClr val="008000"/>
                </a:solidFill>
                <a:latin typeface="Courier New" panose="02070309020205020404" pitchFamily="49" charset="0"/>
                <a:cs typeface="Courier New" panose="02070309020205020404" pitchFamily="49" charset="0"/>
              </a:rPr>
              <a:t>""</a:t>
            </a:r>
            <a:r>
              <a:rPr lang="en-GB" sz="1800" dirty="0">
                <a:latin typeface="Courier New" panose="02070309020205020404" pitchFamily="49" charset="0"/>
                <a:cs typeface="Courier New" panose="02070309020205020404" pitchFamily="49" charset="0"/>
              </a:rPr>
              <a:t>) {</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a:solidFill>
                  <a:srgbClr val="660000"/>
                </a:solidFill>
                <a:latin typeface="Courier New" panose="02070309020205020404" pitchFamily="49" charset="0"/>
                <a:cs typeface="Courier New" panose="02070309020205020404" pitchFamily="49" charset="0"/>
              </a:rPr>
              <a:t>$hint </a:t>
            </a:r>
            <a:r>
              <a:rPr lang="en-GB" sz="1800" dirty="0">
                <a:latin typeface="Courier New" panose="02070309020205020404" pitchFamily="49" charset="0"/>
                <a:cs typeface="Courier New" panose="02070309020205020404" pitchFamily="49" charset="0"/>
              </a:rPr>
              <a:t>= </a:t>
            </a:r>
            <a:r>
              <a:rPr lang="en-GB" sz="1800" dirty="0">
                <a:solidFill>
                  <a:srgbClr val="660000"/>
                </a:solidFill>
                <a:latin typeface="Courier New" panose="02070309020205020404" pitchFamily="49" charset="0"/>
                <a:cs typeface="Courier New" panose="02070309020205020404" pitchFamily="49" charset="0"/>
              </a:rPr>
              <a:t>$name</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 </a:t>
            </a:r>
            <a:r>
              <a:rPr lang="en-GB" sz="1800" dirty="0">
                <a:solidFill>
                  <a:srgbClr val="000080"/>
                </a:solidFill>
                <a:latin typeface="Courier New" panose="02070309020205020404" pitchFamily="49" charset="0"/>
                <a:cs typeface="Courier New" panose="02070309020205020404" pitchFamily="49" charset="0"/>
              </a:rPr>
              <a:t>else </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r>
              <a:rPr lang="en-GB" sz="1800" dirty="0">
                <a:solidFill>
                  <a:srgbClr val="660000"/>
                </a:solidFill>
                <a:latin typeface="Courier New" panose="02070309020205020404" pitchFamily="49" charset="0"/>
                <a:cs typeface="Courier New" panose="02070309020205020404" pitchFamily="49" charset="0"/>
              </a:rPr>
              <a:t>$hint </a:t>
            </a:r>
            <a:r>
              <a:rPr lang="en-GB" sz="1800" dirty="0">
                <a:latin typeface="Courier New" panose="02070309020205020404" pitchFamily="49" charset="0"/>
                <a:cs typeface="Courier New" panose="02070309020205020404" pitchFamily="49" charset="0"/>
              </a:rPr>
              <a:t>.= </a:t>
            </a:r>
            <a:r>
              <a:rPr lang="en-GB" sz="1800" dirty="0">
                <a:solidFill>
                  <a:srgbClr val="008000"/>
                </a:solidFill>
                <a:latin typeface="Courier New" panose="02070309020205020404" pitchFamily="49" charset="0"/>
                <a:cs typeface="Courier New" panose="02070309020205020404" pitchFamily="49" charset="0"/>
              </a:rPr>
              <a:t>", </a:t>
            </a:r>
            <a:r>
              <a:rPr lang="en-GB" sz="1800" dirty="0">
                <a:solidFill>
                  <a:srgbClr val="660000"/>
                </a:solidFill>
                <a:latin typeface="Courier New" panose="02070309020205020404" pitchFamily="49" charset="0"/>
                <a:cs typeface="Courier New" panose="02070309020205020404" pitchFamily="49" charset="0"/>
              </a:rPr>
              <a:t>$name</a:t>
            </a:r>
            <a:r>
              <a:rPr lang="en-GB" sz="1800" dirty="0">
                <a:solidFill>
                  <a:srgbClr val="008000"/>
                </a:solidFill>
                <a:latin typeface="Courier New" panose="02070309020205020404" pitchFamily="49" charset="0"/>
                <a:cs typeface="Courier New" panose="02070309020205020404" pitchFamily="49" charset="0"/>
              </a:rPr>
              <a:t>"</a:t>
            </a: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    }</a:t>
            </a:r>
            <a:br>
              <a:rPr lang="en-GB" sz="1800" dirty="0">
                <a:latin typeface="Courier New" panose="02070309020205020404" pitchFamily="49" charset="0"/>
                <a:cs typeface="Courier New" panose="02070309020205020404" pitchFamily="49" charset="0"/>
              </a:rPr>
            </a:br>
            <a:r>
              <a:rPr lang="en-GB" sz="1800" dirty="0">
                <a:latin typeface="Courier New" panose="02070309020205020404" pitchFamily="49" charset="0"/>
                <a:cs typeface="Courier New" panose="02070309020205020404" pitchFamily="49" charset="0"/>
              </a:rPr>
              <a:t>}</a:t>
            </a:r>
            <a:br>
              <a:rPr lang="en-GB" sz="1800" dirty="0">
                <a:latin typeface="Courier New" panose="02070309020205020404" pitchFamily="49" charset="0"/>
                <a:cs typeface="Courier New" panose="02070309020205020404" pitchFamily="49" charset="0"/>
              </a:rPr>
            </a:br>
            <a:r>
              <a:rPr lang="en-GB" sz="1600" i="1" dirty="0" smtClean="0">
                <a:solidFill>
                  <a:srgbClr val="808080"/>
                </a:solidFill>
                <a:latin typeface="Courier New" panose="02070309020205020404" pitchFamily="49" charset="0"/>
                <a:cs typeface="Courier New" panose="02070309020205020404" pitchFamily="49" charset="0"/>
              </a:rPr>
              <a:t>// </a:t>
            </a:r>
            <a:r>
              <a:rPr lang="en-GB" sz="1600" i="1" dirty="0">
                <a:solidFill>
                  <a:srgbClr val="808080"/>
                </a:solidFill>
                <a:latin typeface="Courier New" panose="02070309020205020404" pitchFamily="49" charset="0"/>
                <a:cs typeface="Courier New" panose="02070309020205020404" pitchFamily="49" charset="0"/>
              </a:rPr>
              <a:t>Output "no suggestion" if no hint was </a:t>
            </a:r>
            <a:r>
              <a:rPr lang="en-GB" sz="1600" i="1" dirty="0" smtClean="0">
                <a:solidFill>
                  <a:srgbClr val="808080"/>
                </a:solidFill>
                <a:latin typeface="Courier New" panose="02070309020205020404" pitchFamily="49" charset="0"/>
                <a:cs typeface="Courier New" panose="02070309020205020404" pitchFamily="49" charset="0"/>
              </a:rPr>
              <a:t>found or output results  </a:t>
            </a:r>
            <a:r>
              <a:rPr lang="en-GB" sz="1800" i="1" dirty="0">
                <a:solidFill>
                  <a:srgbClr val="808080"/>
                </a:solidFill>
                <a:latin typeface="Courier New" panose="02070309020205020404" pitchFamily="49" charset="0"/>
                <a:cs typeface="Courier New" panose="02070309020205020404" pitchFamily="49" charset="0"/>
              </a:rPr>
              <a:t/>
            </a:r>
            <a:br>
              <a:rPr lang="en-GB" sz="1800" i="1" dirty="0">
                <a:solidFill>
                  <a:srgbClr val="808080"/>
                </a:solidFill>
                <a:latin typeface="Courier New" panose="02070309020205020404" pitchFamily="49" charset="0"/>
                <a:cs typeface="Courier New" panose="02070309020205020404" pitchFamily="49" charset="0"/>
              </a:rPr>
            </a:br>
            <a:r>
              <a:rPr lang="en-GB" sz="1800" dirty="0">
                <a:solidFill>
                  <a:srgbClr val="000080"/>
                </a:solidFill>
                <a:latin typeface="Courier New" panose="02070309020205020404" pitchFamily="49" charset="0"/>
                <a:cs typeface="Courier New" panose="02070309020205020404" pitchFamily="49" charset="0"/>
              </a:rPr>
              <a:t>echo </a:t>
            </a:r>
            <a:r>
              <a:rPr lang="en-GB" sz="1800" dirty="0">
                <a:solidFill>
                  <a:srgbClr val="660000"/>
                </a:solidFill>
                <a:latin typeface="Courier New" panose="02070309020205020404" pitchFamily="49" charset="0"/>
                <a:cs typeface="Courier New" panose="02070309020205020404" pitchFamily="49" charset="0"/>
              </a:rPr>
              <a:t>$hint </a:t>
            </a:r>
            <a:r>
              <a:rPr lang="en-GB" sz="1800" dirty="0">
                <a:latin typeface="Courier New" panose="02070309020205020404" pitchFamily="49" charset="0"/>
                <a:cs typeface="Courier New" panose="02070309020205020404" pitchFamily="49" charset="0"/>
              </a:rPr>
              <a:t>=== </a:t>
            </a:r>
            <a:r>
              <a:rPr lang="en-GB" sz="1800" dirty="0">
                <a:solidFill>
                  <a:srgbClr val="008000"/>
                </a:solidFill>
                <a:latin typeface="Courier New" panose="02070309020205020404" pitchFamily="49" charset="0"/>
                <a:cs typeface="Courier New" panose="02070309020205020404" pitchFamily="49" charset="0"/>
              </a:rPr>
              <a:t>"" </a:t>
            </a:r>
            <a:r>
              <a:rPr lang="en-GB" sz="1800" dirty="0">
                <a:latin typeface="Courier New" panose="02070309020205020404" pitchFamily="49" charset="0"/>
                <a:cs typeface="Courier New" panose="02070309020205020404" pitchFamily="49" charset="0"/>
              </a:rPr>
              <a:t>? </a:t>
            </a:r>
            <a:r>
              <a:rPr lang="en-GB" sz="1800" dirty="0">
                <a:solidFill>
                  <a:srgbClr val="008000"/>
                </a:solidFill>
                <a:latin typeface="Courier New" panose="02070309020205020404" pitchFamily="49" charset="0"/>
                <a:cs typeface="Courier New" panose="02070309020205020404" pitchFamily="49" charset="0"/>
              </a:rPr>
              <a:t>"no suggestion" </a:t>
            </a:r>
            <a:r>
              <a:rPr lang="en-GB" sz="1800" dirty="0">
                <a:latin typeface="Courier New" panose="02070309020205020404" pitchFamily="49" charset="0"/>
                <a:cs typeface="Courier New" panose="02070309020205020404" pitchFamily="49" charset="0"/>
              </a:rPr>
              <a:t>: </a:t>
            </a:r>
            <a:r>
              <a:rPr lang="en-GB" sz="1800" dirty="0">
                <a:solidFill>
                  <a:srgbClr val="660000"/>
                </a:solidFill>
                <a:latin typeface="Courier New" panose="02070309020205020404" pitchFamily="49" charset="0"/>
                <a:cs typeface="Courier New" panose="02070309020205020404" pitchFamily="49" charset="0"/>
              </a:rPr>
              <a:t>$hint</a:t>
            </a:r>
            <a:r>
              <a:rPr lang="en-GB" sz="1800" dirty="0">
                <a:latin typeface="Courier New" panose="02070309020205020404" pitchFamily="49" charset="0"/>
                <a:cs typeface="Courier New" panose="02070309020205020404" pitchFamily="49" charset="0"/>
              </a:rPr>
              <a:t>;</a:t>
            </a:r>
            <a:r>
              <a:rPr lang="en-GB" sz="1400" dirty="0"/>
              <a:t/>
            </a:r>
            <a:br>
              <a:rPr lang="en-GB" sz="1400" dirty="0"/>
            </a:br>
            <a:r>
              <a:rPr lang="en-GB" sz="1400" dirty="0">
                <a:latin typeface="Courier New" panose="02070309020205020404" pitchFamily="49" charset="0"/>
                <a:cs typeface="Courier New" panose="02070309020205020404" pitchFamily="49" charset="0"/>
              </a:rPr>
              <a:t/>
            </a:r>
            <a:br>
              <a:rPr lang="en-GB" sz="1400" dirty="0">
                <a:latin typeface="Courier New" panose="02070309020205020404" pitchFamily="49" charset="0"/>
                <a:cs typeface="Courier New" panose="02070309020205020404" pitchFamily="49" charset="0"/>
              </a:rPr>
            </a:br>
            <a:endParaRPr lang="en-GB" sz="1400" b="0" dirty="0">
              <a:latin typeface="Courier New" panose="02070309020205020404" pitchFamily="49" charset="0"/>
              <a:cs typeface="Courier New" panose="02070309020205020404" pitchFamily="49" charset="0"/>
              <a:sym typeface="Arial" charset="0"/>
            </a:endParaRPr>
          </a:p>
          <a:p>
            <a:pPr marL="342900" indent="-342900">
              <a:spcBef>
                <a:spcPts val="400"/>
              </a:spcBef>
              <a:buClr>
                <a:schemeClr val="accent1"/>
              </a:buClr>
              <a:buFont typeface="Arial" panose="020B0604020202020204" pitchFamily="34" charset="0"/>
              <a:buChar char="•"/>
              <a:defRPr/>
            </a:pPr>
            <a:endParaRPr lang="en-GB" sz="800" b="0" dirty="0" smtClean="0">
              <a:latin typeface="Courier New" panose="02070309020205020404" pitchFamily="49" charset="0"/>
              <a:cs typeface="Courier New" panose="02070309020205020404" pitchFamily="49" charset="0"/>
              <a:sym typeface="Arial" charset="0"/>
            </a:endParaRPr>
          </a:p>
          <a:p>
            <a:pPr marL="342900" indent="-342900">
              <a:spcBef>
                <a:spcPts val="400"/>
              </a:spcBef>
              <a:buClr>
                <a:schemeClr val="accent1"/>
              </a:buClr>
              <a:buFont typeface="Arial" panose="020B0604020202020204" pitchFamily="34" charset="0"/>
              <a:buChar char="•"/>
              <a:defRPr/>
            </a:pPr>
            <a:endParaRPr lang="en-GB" sz="800" b="0" dirty="0">
              <a:latin typeface="Courier New" panose="02070309020205020404" pitchFamily="49" charset="0"/>
              <a:cs typeface="Courier New" panose="02070309020205020404" pitchFamily="49" charset="0"/>
              <a:sym typeface="Arial" charset="0"/>
            </a:endParaRPr>
          </a:p>
        </p:txBody>
      </p:sp>
    </p:spTree>
    <p:extLst>
      <p:ext uri="{BB962C8B-B14F-4D97-AF65-F5344CB8AC3E}">
        <p14:creationId xmlns:p14="http://schemas.microsoft.com/office/powerpoint/2010/main" val="2017529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199</a:t>
            </a:fld>
            <a:endParaRPr lang="en-US">
              <a:latin typeface="+mn-lt"/>
              <a:cs typeface="+mn-cs"/>
            </a:endParaRPr>
          </a:p>
        </p:txBody>
      </p:sp>
      <p:sp>
        <p:nvSpPr>
          <p:cNvPr id="3"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15.5 – live search</a:t>
            </a:r>
            <a:endParaRPr lang="en-GB" sz="3600" b="0" dirty="0"/>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3015" r="48132" b="71220"/>
          <a:stretch/>
        </p:blipFill>
        <p:spPr bwMode="auto">
          <a:xfrm>
            <a:off x="899592" y="1920125"/>
            <a:ext cx="3310100" cy="1294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3044" r="48389" b="70647"/>
          <a:stretch/>
        </p:blipFill>
        <p:spPr bwMode="auto">
          <a:xfrm>
            <a:off x="4788024" y="1875456"/>
            <a:ext cx="3293688" cy="1339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755576" y="4437112"/>
            <a:ext cx="7937052" cy="1651734"/>
          </a:xfrm>
          <a:prstGeom prst="rect">
            <a:avLst/>
          </a:prstGeom>
        </p:spPr>
        <p:txBody>
          <a:bodyPr wrap="square">
            <a:spAutoFit/>
          </a:bodyPr>
          <a:lstStyle/>
          <a:p>
            <a:pPr marL="285750" lvl="0" indent="-285750">
              <a:spcBef>
                <a:spcPts val="400"/>
              </a:spcBef>
              <a:buClr>
                <a:srgbClr val="C60C30"/>
              </a:buClr>
              <a:buFont typeface="Arial" panose="020B0604020202020204" pitchFamily="34" charset="0"/>
              <a:buChar char="•"/>
              <a:defRPr/>
            </a:pPr>
            <a:r>
              <a:rPr lang="en-GB" sz="1600" b="0" dirty="0" smtClean="0">
                <a:solidFill>
                  <a:schemeClr val="tx1"/>
                </a:solidFill>
                <a:latin typeface="+mj-lt"/>
                <a:cs typeface="Courier New" panose="02070309020205020404" pitchFamily="49" charset="0"/>
              </a:rPr>
              <a:t>User starts typing, server application is called and returns data.</a:t>
            </a:r>
          </a:p>
          <a:p>
            <a:pPr marL="285750" lvl="0" indent="-285750">
              <a:spcBef>
                <a:spcPts val="400"/>
              </a:spcBef>
              <a:buClr>
                <a:srgbClr val="C60C30"/>
              </a:buClr>
              <a:buFont typeface="Arial" panose="020B0604020202020204" pitchFamily="34" charset="0"/>
              <a:buChar char="•"/>
              <a:defRPr/>
            </a:pPr>
            <a:endParaRPr lang="en-GB" sz="1600" b="0" dirty="0">
              <a:solidFill>
                <a:schemeClr val="tx1"/>
              </a:solidFill>
              <a:latin typeface="+mj-lt"/>
              <a:cs typeface="Courier New" panose="02070309020205020404" pitchFamily="49" charset="0"/>
            </a:endParaRPr>
          </a:p>
          <a:p>
            <a:pPr marL="285750" lvl="0" indent="-285750">
              <a:spcBef>
                <a:spcPts val="400"/>
              </a:spcBef>
              <a:buClr>
                <a:srgbClr val="C60C30"/>
              </a:buClr>
              <a:buFont typeface="Arial" panose="020B0604020202020204" pitchFamily="34" charset="0"/>
              <a:buChar char="•"/>
              <a:defRPr/>
            </a:pPr>
            <a:r>
              <a:rPr lang="en-GB" sz="1600" b="0" dirty="0" smtClean="0">
                <a:solidFill>
                  <a:schemeClr val="tx1"/>
                </a:solidFill>
                <a:latin typeface="+mj-lt"/>
                <a:cs typeface="Courier New" panose="02070309020205020404" pitchFamily="49" charset="0"/>
              </a:rPr>
              <a:t>As user types more characters the results return a more accurate match</a:t>
            </a:r>
          </a:p>
          <a:p>
            <a:pPr marL="285750" lvl="0" indent="-285750">
              <a:spcBef>
                <a:spcPts val="400"/>
              </a:spcBef>
              <a:buClr>
                <a:srgbClr val="C60C30"/>
              </a:buClr>
              <a:buFont typeface="Arial" panose="020B0604020202020204" pitchFamily="34" charset="0"/>
              <a:buChar char="•"/>
              <a:defRPr/>
            </a:pPr>
            <a:endParaRPr lang="en-GB" sz="1600" b="0" dirty="0">
              <a:solidFill>
                <a:schemeClr val="tx1"/>
              </a:solidFill>
              <a:latin typeface="+mj-lt"/>
              <a:cs typeface="Courier New" panose="02070309020205020404" pitchFamily="49" charset="0"/>
            </a:endParaRPr>
          </a:p>
          <a:p>
            <a:pPr lvl="0">
              <a:spcBef>
                <a:spcPts val="400"/>
              </a:spcBef>
              <a:buClr>
                <a:srgbClr val="C60C30"/>
              </a:buClr>
              <a:defRPr/>
            </a:pPr>
            <a:r>
              <a:rPr lang="en-GB" sz="2400" b="0" dirty="0" smtClean="0">
                <a:solidFill>
                  <a:schemeClr val="tx1"/>
                </a:solidFill>
                <a:latin typeface="+mj-lt"/>
                <a:cs typeface="Courier New" panose="02070309020205020404" pitchFamily="49" charset="0"/>
              </a:rPr>
              <a:t>Create this test application from the previous slides</a:t>
            </a:r>
          </a:p>
        </p:txBody>
      </p:sp>
    </p:spTree>
    <p:extLst>
      <p:ext uri="{BB962C8B-B14F-4D97-AF65-F5344CB8AC3E}">
        <p14:creationId xmlns:p14="http://schemas.microsoft.com/office/powerpoint/2010/main" val="2873526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200</a:t>
            </a:fld>
            <a:endParaRPr lang="en-US">
              <a:latin typeface="+mn-lt"/>
              <a:cs typeface="+mn-cs"/>
            </a:endParaRPr>
          </a:p>
        </p:txBody>
      </p:sp>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338" t="13438" r="58233" b="65229"/>
          <a:stretch/>
        </p:blipFill>
        <p:spPr bwMode="auto">
          <a:xfrm>
            <a:off x="412247" y="2587262"/>
            <a:ext cx="4124653" cy="2309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1"/>
          <p:cNvSpPr txBox="1">
            <a:spLocks/>
          </p:cNvSpPr>
          <p:nvPr/>
        </p:nvSpPr>
        <p:spPr>
          <a:xfrm>
            <a:off x="2129556" y="126386"/>
            <a:ext cx="6563072" cy="720000"/>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600" b="1" dirty="0" smtClean="0">
                <a:latin typeface="Arial" pitchFamily="34" charset="0"/>
                <a:ea typeface="ＭＳ Ｐゴシック" pitchFamily="34" charset="-128"/>
                <a:cs typeface="Arial" pitchFamily="34" charset="0"/>
                <a:sym typeface="Arial" pitchFamily="34" charset="0"/>
              </a:rPr>
              <a:t>Workshop 15.6 – live search better UI component</a:t>
            </a:r>
            <a:endParaRPr lang="en-GB" sz="3600" b="0" dirty="0"/>
          </a:p>
        </p:txBody>
      </p:sp>
      <p:sp>
        <p:nvSpPr>
          <p:cNvPr id="5" name="Rectangle 4"/>
          <p:cNvSpPr/>
          <p:nvPr/>
        </p:nvSpPr>
        <p:spPr>
          <a:xfrm>
            <a:off x="568374" y="1484784"/>
            <a:ext cx="7937052" cy="1015663"/>
          </a:xfrm>
          <a:prstGeom prst="rect">
            <a:avLst/>
          </a:prstGeom>
        </p:spPr>
        <p:txBody>
          <a:bodyPr wrap="square">
            <a:spAutoFit/>
          </a:bodyPr>
          <a:lstStyle/>
          <a:p>
            <a:pPr marL="342900" lvl="0" indent="-342900">
              <a:spcBef>
                <a:spcPts val="400"/>
              </a:spcBef>
              <a:buClr>
                <a:srgbClr val="C60C30"/>
              </a:buClr>
              <a:buFont typeface="Arial" panose="020B0604020202020204" pitchFamily="34" charset="0"/>
              <a:buChar char="•"/>
              <a:defRPr/>
            </a:pPr>
            <a:r>
              <a:rPr lang="en-GB" sz="2000" b="0" dirty="0" smtClean="0">
                <a:solidFill>
                  <a:schemeClr val="tx1"/>
                </a:solidFill>
                <a:latin typeface="+mj-lt"/>
                <a:cs typeface="Courier New" panose="02070309020205020404" pitchFamily="49" charset="0"/>
              </a:rPr>
              <a:t>It is useful if the returned values are displayed in an HTML form control such as a list box (&lt;select&gt;) so that the user can select one of them to move to the next part of the page feature</a:t>
            </a:r>
            <a:endParaRPr lang="en-GB" sz="3200" b="0" dirty="0" smtClean="0">
              <a:solidFill>
                <a:schemeClr val="tx1"/>
              </a:solidFill>
              <a:latin typeface="+mj-lt"/>
              <a:cs typeface="Courier New" panose="02070309020205020404" pitchFamily="49" charset="0"/>
            </a:endParaRPr>
          </a:p>
        </p:txBody>
      </p:sp>
      <p:sp>
        <p:nvSpPr>
          <p:cNvPr id="6" name="Rectangle 1"/>
          <p:cNvSpPr>
            <a:spLocks noChangeArrowheads="1"/>
          </p:cNvSpPr>
          <p:nvPr/>
        </p:nvSpPr>
        <p:spPr bwMode="auto">
          <a:xfrm>
            <a:off x="4211960" y="3164787"/>
            <a:ext cx="3960440"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&lt;</a:t>
            </a:r>
            <a:r>
              <a:rPr kumimoji="0" lang="en-US" altLang="en-US" sz="1400" b="1" i="0" u="none" strike="noStrike" cap="none" normalizeH="0" baseline="0" dirty="0" smtClean="0">
                <a:ln>
                  <a:noFill/>
                </a:ln>
                <a:solidFill>
                  <a:srgbClr val="000080"/>
                </a:solidFill>
                <a:effectLst/>
                <a:latin typeface="Courier New" pitchFamily="49" charset="0"/>
                <a:cs typeface="Courier New" pitchFamily="49" charset="0"/>
              </a:rPr>
              <a:t>select </a:t>
            </a:r>
            <a:r>
              <a:rPr kumimoji="0" lang="en-US" altLang="en-US" sz="1400" b="1" i="0" u="none" strike="noStrike" cap="none" normalizeH="0" baseline="0" dirty="0" smtClean="0">
                <a:ln>
                  <a:noFill/>
                </a:ln>
                <a:solidFill>
                  <a:srgbClr val="0000FF"/>
                </a:solidFill>
                <a:effectLst/>
                <a:latin typeface="Courier New" pitchFamily="49" charset="0"/>
                <a:cs typeface="Courier New" pitchFamily="49" charset="0"/>
              </a:rPr>
              <a:t>id=</a:t>
            </a:r>
            <a:r>
              <a:rPr kumimoji="0" lang="en-US" altLang="en-US" sz="1400" b="1" i="0" u="none" strike="noStrike" cap="none" normalizeH="0" baseline="0" dirty="0" smtClean="0">
                <a:ln>
                  <a:noFill/>
                </a:ln>
                <a:solidFill>
                  <a:srgbClr val="008000"/>
                </a:solidFill>
                <a:effectLst/>
                <a:latin typeface="Courier New" pitchFamily="49" charset="0"/>
                <a:cs typeface="Courier New" pitchFamily="49" charset="0"/>
              </a:rPr>
              <a:t>"</a:t>
            </a:r>
            <a:r>
              <a:rPr kumimoji="0" lang="en-US" altLang="en-US" sz="1400" b="1" i="0" u="none" strike="noStrike" cap="none" normalizeH="0" baseline="0" dirty="0" err="1" smtClean="0">
                <a:ln>
                  <a:noFill/>
                </a:ln>
                <a:solidFill>
                  <a:srgbClr val="008000"/>
                </a:solidFill>
                <a:effectLst/>
                <a:latin typeface="Courier New" pitchFamily="49" charset="0"/>
                <a:cs typeface="Courier New" pitchFamily="49" charset="0"/>
              </a:rPr>
              <a:t>resultsSelectionBox</a:t>
            </a:r>
            <a:r>
              <a:rPr kumimoji="0" lang="en-US" altLang="en-US" sz="1400" b="1" i="0" u="none" strike="noStrike" cap="none" normalizeH="0" baseline="0" dirty="0" smtClean="0">
                <a:ln>
                  <a:noFill/>
                </a:ln>
                <a:solidFill>
                  <a:srgbClr val="008000"/>
                </a:solidFill>
                <a:effectLst/>
                <a:latin typeface="Courier New" pitchFamily="49" charset="0"/>
                <a:cs typeface="Courier New" pitchFamily="49" charset="0"/>
              </a:rPr>
              <a:t>"</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&gt;</a:t>
            </a:r>
            <a:b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b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&lt;/</a:t>
            </a:r>
            <a:r>
              <a:rPr kumimoji="0" lang="en-US" altLang="en-US" sz="1400" b="1" i="0" u="none" strike="noStrike" cap="none" normalizeH="0" baseline="0" dirty="0" smtClean="0">
                <a:ln>
                  <a:noFill/>
                </a:ln>
                <a:solidFill>
                  <a:srgbClr val="000080"/>
                </a:solidFill>
                <a:effectLst/>
                <a:latin typeface="Courier New" pitchFamily="49" charset="0"/>
                <a:cs typeface="Courier New" pitchFamily="49" charset="0"/>
              </a:rPr>
              <a:t>select</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&gt;</a:t>
            </a:r>
            <a:endParaRPr kumimoji="0" lang="en-US" altLang="en-US" sz="36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Rectangle 2"/>
          <p:cNvSpPr>
            <a:spLocks noChangeArrowheads="1"/>
          </p:cNvSpPr>
          <p:nvPr/>
        </p:nvSpPr>
        <p:spPr bwMode="auto">
          <a:xfrm>
            <a:off x="3779912" y="4068340"/>
            <a:ext cx="5220755" cy="20005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ltLang="en-US" sz="1200" b="0" dirty="0" err="1">
                <a:solidFill>
                  <a:srgbClr val="458383"/>
                </a:solidFill>
                <a:latin typeface="Courier New" pitchFamily="49" charset="0"/>
                <a:cs typeface="Courier New" pitchFamily="49" charset="0"/>
              </a:rPr>
              <a:t>uic</a:t>
            </a:r>
            <a:r>
              <a:rPr lang="en-US" altLang="en-US" sz="1200" b="0" dirty="0">
                <a:solidFill>
                  <a:srgbClr val="458383"/>
                </a:solidFill>
                <a:latin typeface="Courier New" pitchFamily="49" charset="0"/>
                <a:cs typeface="Courier New" pitchFamily="49" charset="0"/>
              </a:rPr>
              <a:t> </a:t>
            </a:r>
            <a:r>
              <a:rPr lang="en-US" altLang="en-US" sz="1200" b="0" dirty="0">
                <a:solidFill>
                  <a:srgbClr val="000000"/>
                </a:solidFill>
                <a:latin typeface="Courier New" pitchFamily="49" charset="0"/>
                <a:cs typeface="Courier New" pitchFamily="49" charset="0"/>
              </a:rPr>
              <a:t>= </a:t>
            </a:r>
            <a:r>
              <a:rPr lang="en-US" altLang="en-US" sz="1200" dirty="0" err="1">
                <a:solidFill>
                  <a:srgbClr val="660E7A"/>
                </a:solidFill>
                <a:latin typeface="Courier New" pitchFamily="49" charset="0"/>
                <a:cs typeface="Courier New" pitchFamily="49" charset="0"/>
              </a:rPr>
              <a:t>document</a:t>
            </a:r>
            <a:r>
              <a:rPr lang="en-US" altLang="en-US" sz="1200" b="0" dirty="0" err="1">
                <a:solidFill>
                  <a:srgbClr val="000000"/>
                </a:solidFill>
                <a:latin typeface="Courier New" pitchFamily="49" charset="0"/>
                <a:cs typeface="Courier New" pitchFamily="49" charset="0"/>
              </a:rPr>
              <a:t>.</a:t>
            </a:r>
            <a:r>
              <a:rPr lang="en-US" altLang="en-US" sz="1200" b="0" dirty="0" err="1">
                <a:solidFill>
                  <a:srgbClr val="7A7A43"/>
                </a:solidFill>
                <a:latin typeface="Courier New" pitchFamily="49" charset="0"/>
                <a:cs typeface="Courier New" pitchFamily="49" charset="0"/>
              </a:rPr>
              <a:t>getElementById</a:t>
            </a:r>
            <a:r>
              <a:rPr lang="en-US" altLang="en-US" sz="1200" b="0" dirty="0">
                <a:solidFill>
                  <a:srgbClr val="000000"/>
                </a:solidFill>
                <a:latin typeface="Courier New" pitchFamily="49" charset="0"/>
                <a:cs typeface="Courier New" pitchFamily="49" charset="0"/>
              </a:rPr>
              <a:t>(</a:t>
            </a:r>
            <a:r>
              <a:rPr lang="en-US" altLang="en-US" sz="1200" dirty="0">
                <a:solidFill>
                  <a:srgbClr val="008000"/>
                </a:solidFill>
                <a:latin typeface="Courier New" pitchFamily="49" charset="0"/>
                <a:cs typeface="Courier New" pitchFamily="49" charset="0"/>
              </a:rPr>
              <a:t>"</a:t>
            </a:r>
            <a:r>
              <a:rPr lang="en-US" altLang="en-US" sz="1200" dirty="0" err="1">
                <a:solidFill>
                  <a:srgbClr val="008000"/>
                </a:solidFill>
                <a:latin typeface="Courier New" pitchFamily="49" charset="0"/>
                <a:cs typeface="Courier New" pitchFamily="49" charset="0"/>
              </a:rPr>
              <a:t>resultsSelectionBox</a:t>
            </a:r>
            <a:r>
              <a:rPr lang="en-US" altLang="en-US" sz="1200" dirty="0">
                <a:solidFill>
                  <a:srgbClr val="008000"/>
                </a:solidFill>
                <a:latin typeface="Courier New" pitchFamily="49" charset="0"/>
                <a:cs typeface="Courier New" pitchFamily="49" charset="0"/>
              </a:rPr>
              <a:t>"</a:t>
            </a:r>
            <a:r>
              <a:rPr lang="en-US" altLang="en-US" sz="1200" b="0" dirty="0">
                <a:solidFill>
                  <a:srgbClr val="000000"/>
                </a:solidFill>
                <a:latin typeface="Courier New" pitchFamily="49" charset="0"/>
                <a:cs typeface="Courier New" pitchFamily="49" charset="0"/>
              </a:rPr>
              <a:t>)</a:t>
            </a:r>
            <a:endParaRPr lang="en-US" altLang="en-US" sz="3200" b="0" dirty="0">
              <a:solidFill>
                <a:schemeClr val="tx1"/>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err="1" smtClean="0">
                <a:ln>
                  <a:noFill/>
                </a:ln>
                <a:solidFill>
                  <a:srgbClr val="000080"/>
                </a:solidFill>
                <a:effectLst/>
                <a:latin typeface="Courier New" pitchFamily="49" charset="0"/>
                <a:cs typeface="Courier New" pitchFamily="49" charset="0"/>
              </a:rPr>
              <a:t>var</a:t>
            </a:r>
            <a:r>
              <a:rPr kumimoji="0" lang="en-US" altLang="en-US" sz="1400" b="1" i="0" u="none" strike="noStrike" cap="none" normalizeH="0" baseline="0" dirty="0" smtClean="0">
                <a:ln>
                  <a:noFill/>
                </a:ln>
                <a:solidFill>
                  <a:srgbClr val="000080"/>
                </a:solidFill>
                <a:effectLst/>
                <a:latin typeface="Courier New" pitchFamily="49" charset="0"/>
                <a:cs typeface="Courier New" pitchFamily="49" charset="0"/>
              </a:rPr>
              <a:t> </a:t>
            </a:r>
            <a:r>
              <a:rPr kumimoji="0" lang="en-US" altLang="en-US" sz="1400" b="0" i="0" u="none" strike="noStrike" cap="none" normalizeH="0" baseline="0" dirty="0" smtClean="0">
                <a:ln>
                  <a:noFill/>
                </a:ln>
                <a:solidFill>
                  <a:srgbClr val="458383"/>
                </a:solidFill>
                <a:effectLst/>
                <a:latin typeface="Courier New" pitchFamily="49" charset="0"/>
                <a:cs typeface="Courier New" pitchFamily="49" charset="0"/>
              </a:rPr>
              <a:t>names </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1" i="0" u="none" strike="noStrike" cap="none" normalizeH="0" baseline="0" dirty="0" err="1" smtClean="0">
                <a:ln>
                  <a:noFill/>
                </a:ln>
                <a:solidFill>
                  <a:srgbClr val="000080"/>
                </a:solidFill>
                <a:effectLst/>
                <a:latin typeface="Courier New" pitchFamily="49" charset="0"/>
                <a:cs typeface="Courier New" pitchFamily="49" charset="0"/>
              </a:rPr>
              <a:t>this</a:t>
            </a:r>
            <a:r>
              <a:rPr kumimoji="0" lang="en-US" altLang="en-US" sz="1400" b="0" i="0" u="none" strike="noStrike" cap="none" normalizeH="0" baseline="0" dirty="0" err="1" smtClean="0">
                <a:ln>
                  <a:noFill/>
                </a:ln>
                <a:solidFill>
                  <a:srgbClr val="000000"/>
                </a:solidFill>
                <a:effectLst/>
                <a:latin typeface="Courier New" pitchFamily="49" charset="0"/>
                <a:cs typeface="Courier New" pitchFamily="49" charset="0"/>
              </a:rPr>
              <a:t>.</a:t>
            </a:r>
            <a:r>
              <a:rPr kumimoji="0" lang="en-US" altLang="en-US" sz="1400" b="1" i="0" u="none" strike="noStrike" cap="none" normalizeH="0" baseline="0" dirty="0" err="1" smtClean="0">
                <a:ln>
                  <a:noFill/>
                </a:ln>
                <a:solidFill>
                  <a:srgbClr val="660E7A"/>
                </a:solidFill>
                <a:effectLst/>
                <a:latin typeface="Courier New" pitchFamily="49" charset="0"/>
                <a:cs typeface="Courier New" pitchFamily="49" charset="0"/>
              </a:rPr>
              <a:t>responseText</a:t>
            </a:r>
            <a:r>
              <a:rPr kumimoji="0" lang="en-US" altLang="en-US" sz="1400" b="0" i="0" u="none" strike="noStrike" cap="none" normalizeH="0" baseline="0" dirty="0" err="1" smtClean="0">
                <a:ln>
                  <a:noFill/>
                </a:ln>
                <a:solidFill>
                  <a:srgbClr val="000000"/>
                </a:solidFill>
                <a:effectLst/>
                <a:latin typeface="Courier New" pitchFamily="49" charset="0"/>
                <a:cs typeface="Courier New" pitchFamily="49" charset="0"/>
              </a:rPr>
              <a:t>.</a:t>
            </a:r>
            <a:r>
              <a:rPr kumimoji="0" lang="en-US" altLang="en-US" sz="1400" b="0" i="0" u="none" strike="noStrike" cap="none" normalizeH="0" baseline="0" dirty="0" err="1" smtClean="0">
                <a:ln>
                  <a:noFill/>
                </a:ln>
                <a:solidFill>
                  <a:srgbClr val="7A7A43"/>
                </a:solidFill>
                <a:effectLst/>
                <a:latin typeface="Courier New" pitchFamily="49" charset="0"/>
                <a:cs typeface="Courier New" pitchFamily="49" charset="0"/>
              </a:rPr>
              <a:t>split</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r>
              <a:rPr kumimoji="0" lang="en-US" altLang="en-US" sz="1400" b="1" i="0" u="none" strike="noStrike" cap="none" normalizeH="0" baseline="0" dirty="0" smtClean="0">
                <a:ln>
                  <a:noFill/>
                </a:ln>
                <a:solidFill>
                  <a:srgbClr val="008000"/>
                </a:solidFill>
                <a:effectLst/>
                <a:latin typeface="Courier New" pitchFamily="49" charset="0"/>
                <a:cs typeface="Courier New" pitchFamily="49" charset="0"/>
              </a:rPr>
              <a:t>','</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b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b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r>
            <a:b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b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1" i="0" u="none" strike="noStrike" cap="none" normalizeH="0" baseline="0" dirty="0" smtClean="0">
                <a:ln>
                  <a:noFill/>
                </a:ln>
                <a:solidFill>
                  <a:srgbClr val="000080"/>
                </a:solidFill>
                <a:effectLst/>
                <a:latin typeface="Courier New" pitchFamily="49" charset="0"/>
                <a:cs typeface="Courier New" pitchFamily="49" charset="0"/>
              </a:rPr>
              <a:t>for </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r>
              <a:rPr kumimoji="0" lang="en-US" altLang="en-US" sz="1400" b="1" i="0" u="none" strike="noStrike" cap="none" normalizeH="0" baseline="0" dirty="0" err="1" smtClean="0">
                <a:ln>
                  <a:noFill/>
                </a:ln>
                <a:solidFill>
                  <a:srgbClr val="000080"/>
                </a:solidFill>
                <a:effectLst/>
                <a:latin typeface="Courier New" pitchFamily="49" charset="0"/>
                <a:cs typeface="Courier New" pitchFamily="49" charset="0"/>
              </a:rPr>
              <a:t>var</a:t>
            </a:r>
            <a:r>
              <a:rPr kumimoji="0" lang="en-US" altLang="en-US" sz="1400" b="1" i="0" u="none" strike="noStrike" cap="none" normalizeH="0" baseline="0" dirty="0" smtClean="0">
                <a:ln>
                  <a:noFill/>
                </a:ln>
                <a:solidFill>
                  <a:srgbClr val="000080"/>
                </a:solidFill>
                <a:effectLst/>
                <a:latin typeface="Courier New" pitchFamily="49" charset="0"/>
                <a:cs typeface="Courier New" pitchFamily="49" charset="0"/>
              </a:rPr>
              <a:t> </a:t>
            </a:r>
            <a:r>
              <a:rPr kumimoji="0" lang="en-US" altLang="en-US" sz="1400" b="0" i="0" u="none" strike="noStrike" cap="none" normalizeH="0" baseline="0" dirty="0" err="1" smtClean="0">
                <a:ln>
                  <a:noFill/>
                </a:ln>
                <a:solidFill>
                  <a:srgbClr val="458383"/>
                </a:solidFill>
                <a:effectLst/>
                <a:latin typeface="Courier New" pitchFamily="49" charset="0"/>
                <a:cs typeface="Courier New" pitchFamily="49" charset="0"/>
              </a:rPr>
              <a:t>i</a:t>
            </a:r>
            <a:r>
              <a:rPr kumimoji="0" lang="en-US" altLang="en-US" sz="1400" b="0" i="0" u="none" strike="noStrike" cap="none" normalizeH="0" baseline="0" dirty="0" smtClean="0">
                <a:ln>
                  <a:noFill/>
                </a:ln>
                <a:solidFill>
                  <a:srgbClr val="458383"/>
                </a:solidFill>
                <a:effectLst/>
                <a:latin typeface="Courier New" pitchFamily="49" charset="0"/>
                <a:cs typeface="Courier New" pitchFamily="49" charset="0"/>
              </a:rPr>
              <a:t> </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0" i="0" u="none" strike="noStrike" cap="none" normalizeH="0" baseline="0" dirty="0" smtClean="0">
                <a:ln>
                  <a:noFill/>
                </a:ln>
                <a:solidFill>
                  <a:srgbClr val="0000FF"/>
                </a:solidFill>
                <a:effectLst/>
                <a:latin typeface="Courier New" pitchFamily="49" charset="0"/>
                <a:cs typeface="Courier New" pitchFamily="49" charset="0"/>
              </a:rPr>
              <a:t>0</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0" i="0" u="none" strike="noStrike" cap="none" normalizeH="0" baseline="0" dirty="0" err="1" smtClean="0">
                <a:ln>
                  <a:noFill/>
                </a:ln>
                <a:solidFill>
                  <a:srgbClr val="458383"/>
                </a:solidFill>
                <a:effectLst/>
                <a:latin typeface="Courier New" pitchFamily="49" charset="0"/>
                <a:cs typeface="Courier New" pitchFamily="49" charset="0"/>
              </a:rPr>
              <a:t>i</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&lt;</a:t>
            </a:r>
            <a:r>
              <a:rPr kumimoji="0" lang="en-US" altLang="en-US" sz="1400" b="0" i="0" u="none" strike="noStrike" cap="none" normalizeH="0" baseline="0" dirty="0" err="1" smtClean="0">
                <a:ln>
                  <a:noFill/>
                </a:ln>
                <a:solidFill>
                  <a:srgbClr val="458383"/>
                </a:solidFill>
                <a:effectLst/>
                <a:latin typeface="Courier New" pitchFamily="49" charset="0"/>
                <a:cs typeface="Courier New" pitchFamily="49" charset="0"/>
              </a:rPr>
              <a:t>names</a:t>
            </a:r>
            <a:r>
              <a:rPr kumimoji="0" lang="en-US" altLang="en-US" sz="1400" b="0" i="0" u="none" strike="noStrike" cap="none" normalizeH="0" baseline="0" dirty="0" err="1" smtClean="0">
                <a:ln>
                  <a:noFill/>
                </a:ln>
                <a:solidFill>
                  <a:srgbClr val="000000"/>
                </a:solidFill>
                <a:effectLst/>
                <a:latin typeface="Courier New" pitchFamily="49" charset="0"/>
                <a:cs typeface="Courier New" pitchFamily="49" charset="0"/>
              </a:rPr>
              <a:t>.</a:t>
            </a:r>
            <a:r>
              <a:rPr kumimoji="0" lang="en-US" altLang="en-US" sz="1400" b="1" i="0" u="none" strike="noStrike" cap="none" normalizeH="0" baseline="0" dirty="0" err="1" smtClean="0">
                <a:ln>
                  <a:noFill/>
                </a:ln>
                <a:solidFill>
                  <a:srgbClr val="660E7A"/>
                </a:solidFill>
                <a:effectLst/>
                <a:latin typeface="Courier New" pitchFamily="49" charset="0"/>
                <a:cs typeface="Courier New" pitchFamily="49" charset="0"/>
              </a:rPr>
              <a:t>length</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0" i="0" u="none" strike="noStrike" cap="none" normalizeH="0" baseline="0" dirty="0" err="1" smtClean="0">
                <a:ln>
                  <a:noFill/>
                </a:ln>
                <a:solidFill>
                  <a:srgbClr val="458383"/>
                </a:solidFill>
                <a:effectLst/>
                <a:latin typeface="Courier New" pitchFamily="49" charset="0"/>
                <a:cs typeface="Courier New" pitchFamily="49" charset="0"/>
              </a:rPr>
              <a:t>i</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b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b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1" i="0" u="none" strike="noStrike" cap="none" normalizeH="0" baseline="0" dirty="0" err="1" smtClean="0">
                <a:ln>
                  <a:noFill/>
                </a:ln>
                <a:solidFill>
                  <a:srgbClr val="000080"/>
                </a:solidFill>
                <a:effectLst/>
                <a:latin typeface="Courier New" pitchFamily="49" charset="0"/>
                <a:cs typeface="Courier New" pitchFamily="49" charset="0"/>
              </a:rPr>
              <a:t>var</a:t>
            </a:r>
            <a:r>
              <a:rPr kumimoji="0" lang="en-US" altLang="en-US" sz="1400" b="1" i="0" u="none" strike="noStrike" cap="none" normalizeH="0" baseline="0" dirty="0" smtClean="0">
                <a:ln>
                  <a:noFill/>
                </a:ln>
                <a:solidFill>
                  <a:srgbClr val="000080"/>
                </a:solidFill>
                <a:effectLst/>
                <a:latin typeface="Courier New" pitchFamily="49" charset="0"/>
                <a:cs typeface="Courier New" pitchFamily="49" charset="0"/>
              </a:rPr>
              <a:t> </a:t>
            </a:r>
            <a:r>
              <a:rPr kumimoji="0" lang="en-US" altLang="en-US" sz="1400" b="0" i="0" u="none" strike="noStrike" cap="none" normalizeH="0" baseline="0" dirty="0" smtClean="0">
                <a:ln>
                  <a:noFill/>
                </a:ln>
                <a:solidFill>
                  <a:srgbClr val="458383"/>
                </a:solidFill>
                <a:effectLst/>
                <a:latin typeface="Courier New" pitchFamily="49" charset="0"/>
                <a:cs typeface="Courier New" pitchFamily="49" charset="0"/>
              </a:rPr>
              <a:t>opt </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1" i="0" u="none" strike="noStrike" cap="none" normalizeH="0" baseline="0" dirty="0" err="1" smtClean="0">
                <a:ln>
                  <a:noFill/>
                </a:ln>
                <a:solidFill>
                  <a:srgbClr val="660E7A"/>
                </a:solidFill>
                <a:effectLst/>
                <a:latin typeface="Courier New" pitchFamily="49" charset="0"/>
                <a:cs typeface="Courier New" pitchFamily="49" charset="0"/>
              </a:rPr>
              <a:t>document</a:t>
            </a:r>
            <a:r>
              <a:rPr kumimoji="0" lang="en-US" altLang="en-US" sz="1400" b="0" i="0" u="none" strike="noStrike" cap="none" normalizeH="0" baseline="0" dirty="0" err="1" smtClean="0">
                <a:ln>
                  <a:noFill/>
                </a:ln>
                <a:solidFill>
                  <a:srgbClr val="000000"/>
                </a:solidFill>
                <a:effectLst/>
                <a:latin typeface="Courier New" pitchFamily="49" charset="0"/>
                <a:cs typeface="Courier New" pitchFamily="49" charset="0"/>
              </a:rPr>
              <a:t>.</a:t>
            </a:r>
            <a:r>
              <a:rPr kumimoji="0" lang="en-US" altLang="en-US" sz="1400" b="0" i="0" u="none" strike="noStrike" cap="none" normalizeH="0" baseline="0" dirty="0" err="1" smtClean="0">
                <a:ln>
                  <a:noFill/>
                </a:ln>
                <a:solidFill>
                  <a:srgbClr val="7A7A43"/>
                </a:solidFill>
                <a:effectLst/>
                <a:latin typeface="Courier New" pitchFamily="49" charset="0"/>
                <a:cs typeface="Courier New" pitchFamily="49" charset="0"/>
              </a:rPr>
              <a:t>createElement</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r>
              <a:rPr kumimoji="0" lang="en-US" altLang="en-US" sz="1400" b="1" i="0" u="none" strike="noStrike" cap="none" normalizeH="0" baseline="0" dirty="0" smtClean="0">
                <a:ln>
                  <a:noFill/>
                </a:ln>
                <a:solidFill>
                  <a:srgbClr val="008000"/>
                </a:solidFill>
                <a:effectLst/>
                <a:latin typeface="Courier New" pitchFamily="49" charset="0"/>
                <a:cs typeface="Courier New" pitchFamily="49" charset="0"/>
              </a:rPr>
              <a:t>'option'</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b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b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0" i="0" u="none" strike="noStrike" cap="none" normalizeH="0" baseline="0" dirty="0" err="1" smtClean="0">
                <a:ln>
                  <a:noFill/>
                </a:ln>
                <a:solidFill>
                  <a:srgbClr val="458383"/>
                </a:solidFill>
                <a:effectLst/>
                <a:latin typeface="Courier New" pitchFamily="49" charset="0"/>
                <a:cs typeface="Courier New" pitchFamily="49" charset="0"/>
              </a:rPr>
              <a:t>opt</a:t>
            </a:r>
            <a:r>
              <a:rPr kumimoji="0" lang="en-US" altLang="en-US" sz="1400" b="0" i="0" u="none" strike="noStrike" cap="none" normalizeH="0" baseline="0" dirty="0" err="1" smtClean="0">
                <a:ln>
                  <a:noFill/>
                </a:ln>
                <a:solidFill>
                  <a:srgbClr val="000000"/>
                </a:solidFill>
                <a:effectLst/>
                <a:latin typeface="Courier New" pitchFamily="49" charset="0"/>
                <a:cs typeface="Courier New" pitchFamily="49" charset="0"/>
              </a:rPr>
              <a:t>.</a:t>
            </a:r>
            <a:r>
              <a:rPr kumimoji="0" lang="en-US" altLang="en-US" sz="1400" b="1" i="0" u="none" strike="noStrike" cap="none" normalizeH="0" baseline="0" dirty="0" err="1" smtClean="0">
                <a:ln>
                  <a:noFill/>
                </a:ln>
                <a:solidFill>
                  <a:srgbClr val="660E7A"/>
                </a:solidFill>
                <a:effectLst/>
                <a:latin typeface="Courier New" pitchFamily="49" charset="0"/>
                <a:cs typeface="Courier New" pitchFamily="49" charset="0"/>
              </a:rPr>
              <a:t>value</a:t>
            </a:r>
            <a:r>
              <a:rPr kumimoji="0" lang="en-US" altLang="en-US" sz="1400" b="1" i="0" u="none" strike="noStrike" cap="none" normalizeH="0" baseline="0" dirty="0" smtClean="0">
                <a:ln>
                  <a:noFill/>
                </a:ln>
                <a:solidFill>
                  <a:srgbClr val="660E7A"/>
                </a:solidFill>
                <a:effectLst/>
                <a:latin typeface="Courier New" pitchFamily="49" charset="0"/>
                <a:cs typeface="Courier New" pitchFamily="49" charset="0"/>
              </a:rPr>
              <a:t> </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0" i="0" u="none" strike="noStrike" cap="none" normalizeH="0" baseline="0" dirty="0" smtClean="0">
                <a:ln>
                  <a:noFill/>
                </a:ln>
                <a:solidFill>
                  <a:srgbClr val="458383"/>
                </a:solidFill>
                <a:effectLst/>
                <a:latin typeface="Courier New" pitchFamily="49" charset="0"/>
                <a:cs typeface="Courier New" pitchFamily="49" charset="0"/>
              </a:rPr>
              <a:t>names</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r>
              <a:rPr kumimoji="0" lang="en-US" altLang="en-US" sz="1400" b="0" i="0" u="none" strike="noStrike" cap="none" normalizeH="0" baseline="0" dirty="0" err="1" smtClean="0">
                <a:ln>
                  <a:noFill/>
                </a:ln>
                <a:solidFill>
                  <a:srgbClr val="458383"/>
                </a:solidFill>
                <a:effectLst/>
                <a:latin typeface="Courier New" pitchFamily="49" charset="0"/>
                <a:cs typeface="Courier New" pitchFamily="49" charset="0"/>
              </a:rPr>
              <a:t>i</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b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b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0" i="0" u="none" strike="noStrike" cap="none" normalizeH="0" baseline="0" dirty="0" err="1" smtClean="0">
                <a:ln>
                  <a:noFill/>
                </a:ln>
                <a:solidFill>
                  <a:srgbClr val="458383"/>
                </a:solidFill>
                <a:effectLst/>
                <a:latin typeface="Courier New" pitchFamily="49" charset="0"/>
                <a:cs typeface="Courier New" pitchFamily="49" charset="0"/>
              </a:rPr>
              <a:t>opt</a:t>
            </a:r>
            <a:r>
              <a:rPr kumimoji="0" lang="en-US" altLang="en-US" sz="1400" b="0" i="0" u="none" strike="noStrike" cap="none" normalizeH="0" baseline="0" dirty="0" err="1" smtClean="0">
                <a:ln>
                  <a:noFill/>
                </a:ln>
                <a:solidFill>
                  <a:srgbClr val="000000"/>
                </a:solidFill>
                <a:effectLst/>
                <a:latin typeface="Courier New" pitchFamily="49" charset="0"/>
                <a:cs typeface="Courier New" pitchFamily="49" charset="0"/>
              </a:rPr>
              <a:t>.</a:t>
            </a:r>
            <a:r>
              <a:rPr kumimoji="0" lang="en-US" altLang="en-US" sz="1400" b="1" i="0" u="none" strike="noStrike" cap="none" normalizeH="0" baseline="0" dirty="0" err="1" smtClean="0">
                <a:ln>
                  <a:noFill/>
                </a:ln>
                <a:solidFill>
                  <a:srgbClr val="660E7A"/>
                </a:solidFill>
                <a:effectLst/>
                <a:latin typeface="Courier New" pitchFamily="49" charset="0"/>
                <a:cs typeface="Courier New" pitchFamily="49" charset="0"/>
              </a:rPr>
              <a:t>innerHTML</a:t>
            </a:r>
            <a:r>
              <a:rPr kumimoji="0" lang="en-US" altLang="en-US" sz="1400" b="1" i="0" u="none" strike="noStrike" cap="none" normalizeH="0" baseline="0" dirty="0" smtClean="0">
                <a:ln>
                  <a:noFill/>
                </a:ln>
                <a:solidFill>
                  <a:srgbClr val="660E7A"/>
                </a:solidFill>
                <a:effectLst/>
                <a:latin typeface="Courier New" pitchFamily="49" charset="0"/>
                <a:cs typeface="Courier New" pitchFamily="49" charset="0"/>
              </a:rPr>
              <a:t> </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0" i="0" u="none" strike="noStrike" cap="none" normalizeH="0" baseline="0" dirty="0" smtClean="0">
                <a:ln>
                  <a:noFill/>
                </a:ln>
                <a:solidFill>
                  <a:srgbClr val="458383"/>
                </a:solidFill>
                <a:effectLst/>
                <a:latin typeface="Courier New" pitchFamily="49" charset="0"/>
                <a:cs typeface="Courier New" pitchFamily="49" charset="0"/>
              </a:rPr>
              <a:t>names</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r>
              <a:rPr kumimoji="0" lang="en-US" altLang="en-US" sz="1400" b="0" i="0" u="none" strike="noStrike" cap="none" normalizeH="0" baseline="0" dirty="0" err="1" smtClean="0">
                <a:ln>
                  <a:noFill/>
                </a:ln>
                <a:solidFill>
                  <a:srgbClr val="458383"/>
                </a:solidFill>
                <a:effectLst/>
                <a:latin typeface="Courier New" pitchFamily="49" charset="0"/>
                <a:cs typeface="Courier New" pitchFamily="49" charset="0"/>
              </a:rPr>
              <a:t>i</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b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b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    </a:t>
            </a:r>
            <a:r>
              <a:rPr kumimoji="0" lang="en-US" altLang="en-US" sz="1400" b="0" i="0" u="none" strike="noStrike" cap="none" normalizeH="0" baseline="0" dirty="0" err="1" smtClean="0">
                <a:ln>
                  <a:noFill/>
                </a:ln>
                <a:solidFill>
                  <a:srgbClr val="458383"/>
                </a:solidFill>
                <a:effectLst/>
                <a:latin typeface="Courier New" pitchFamily="49" charset="0"/>
                <a:cs typeface="Courier New" pitchFamily="49" charset="0"/>
              </a:rPr>
              <a:t>uic</a:t>
            </a:r>
            <a:r>
              <a:rPr kumimoji="0" lang="en-US" altLang="en-US" sz="1400" b="0" i="0" u="none" strike="noStrike" cap="none" normalizeH="0" baseline="0" dirty="0" err="1" smtClean="0">
                <a:ln>
                  <a:noFill/>
                </a:ln>
                <a:solidFill>
                  <a:srgbClr val="000000"/>
                </a:solidFill>
                <a:effectLst/>
                <a:latin typeface="Courier New" pitchFamily="49" charset="0"/>
                <a:cs typeface="Courier New" pitchFamily="49" charset="0"/>
              </a:rPr>
              <a:t>.</a:t>
            </a:r>
            <a:r>
              <a:rPr kumimoji="0" lang="en-US" altLang="en-US" sz="1400" b="0" i="0" u="none" strike="noStrike" cap="none" normalizeH="0" baseline="0" dirty="0" err="1" smtClean="0">
                <a:ln>
                  <a:noFill/>
                </a:ln>
                <a:solidFill>
                  <a:srgbClr val="7A7A43"/>
                </a:solidFill>
                <a:effectLst/>
                <a:latin typeface="Courier New" pitchFamily="49" charset="0"/>
                <a:cs typeface="Courier New" pitchFamily="49" charset="0"/>
              </a:rPr>
              <a:t>appendChild</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r>
              <a:rPr kumimoji="0" lang="en-US" altLang="en-US" sz="1400" b="0" i="0" u="none" strike="noStrike" cap="none" normalizeH="0" baseline="0" dirty="0" smtClean="0">
                <a:ln>
                  <a:noFill/>
                </a:ln>
                <a:solidFill>
                  <a:srgbClr val="458383"/>
                </a:solidFill>
                <a:effectLst/>
                <a:latin typeface="Courier New" pitchFamily="49" charset="0"/>
                <a:cs typeface="Courier New" pitchFamily="49" charset="0"/>
              </a:rPr>
              <a:t>opt</a:t>
            </a: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b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br>
            <a:r>
              <a:rPr kumimoji="0" lang="en-US" altLang="en-US" sz="1400" b="0" i="0" u="none" strike="noStrike" cap="none" normalizeH="0" baseline="0" dirty="0" smtClean="0">
                <a:ln>
                  <a:noFill/>
                </a:ln>
                <a:solidFill>
                  <a:srgbClr val="000000"/>
                </a:solidFill>
                <a:effectLst/>
                <a:latin typeface="Courier New" pitchFamily="49" charset="0"/>
                <a:cs typeface="Courier New" pitchFamily="49" charset="0"/>
              </a:rPr>
              <a:t>}</a:t>
            </a:r>
            <a:endParaRPr kumimoji="0" lang="en-US" altLang="en-US" sz="36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Rectangle 7"/>
          <p:cNvSpPr/>
          <p:nvPr/>
        </p:nvSpPr>
        <p:spPr>
          <a:xfrm>
            <a:off x="464254" y="4809326"/>
            <a:ext cx="3315658" cy="1938992"/>
          </a:xfrm>
          <a:prstGeom prst="rect">
            <a:avLst/>
          </a:prstGeom>
          <a:ln>
            <a:solidFill>
              <a:schemeClr val="tx2"/>
            </a:solidFill>
          </a:ln>
        </p:spPr>
        <p:txBody>
          <a:bodyPr wrap="square">
            <a:spAutoFit/>
          </a:bodyPr>
          <a:lstStyle/>
          <a:p>
            <a:pPr lvl="0">
              <a:spcBef>
                <a:spcPts val="400"/>
              </a:spcBef>
              <a:buClr>
                <a:srgbClr val="C60C30"/>
              </a:buClr>
              <a:defRPr/>
            </a:pPr>
            <a:r>
              <a:rPr lang="en-GB" sz="2000" b="0" dirty="0" smtClean="0">
                <a:solidFill>
                  <a:schemeClr val="tx1"/>
                </a:solidFill>
                <a:latin typeface="+mj-lt"/>
                <a:cs typeface="Courier New" panose="02070309020205020404" pitchFamily="49" charset="0"/>
              </a:rPr>
              <a:t>Modify the JavaScript to split the csv list returned at the comma and create an &lt;option&gt; element per name returned in the &lt;select&gt; </a:t>
            </a:r>
            <a:r>
              <a:rPr lang="en-GB" sz="2000" b="0" dirty="0" err="1" smtClean="0">
                <a:solidFill>
                  <a:schemeClr val="tx1"/>
                </a:solidFill>
                <a:latin typeface="+mj-lt"/>
                <a:cs typeface="Courier New" panose="02070309020205020404" pitchFamily="49" charset="0"/>
              </a:rPr>
              <a:t>listbox</a:t>
            </a:r>
            <a:r>
              <a:rPr lang="en-GB" sz="2000" b="0" dirty="0" smtClean="0">
                <a:solidFill>
                  <a:schemeClr val="tx1"/>
                </a:solidFill>
                <a:latin typeface="+mj-lt"/>
                <a:cs typeface="Courier New" panose="02070309020205020404" pitchFamily="49" charset="0"/>
              </a:rPr>
              <a:t>.</a:t>
            </a:r>
            <a:endParaRPr lang="en-GB" sz="3200" b="0" dirty="0" smtClean="0">
              <a:solidFill>
                <a:schemeClr val="tx1"/>
              </a:solidFill>
              <a:latin typeface="+mj-lt"/>
              <a:cs typeface="Courier New" panose="02070309020205020404" pitchFamily="49" charset="0"/>
            </a:endParaRPr>
          </a:p>
        </p:txBody>
      </p:sp>
      <p:cxnSp>
        <p:nvCxnSpPr>
          <p:cNvPr id="10" name="Straight Arrow Connector 9"/>
          <p:cNvCxnSpPr/>
          <p:nvPr/>
        </p:nvCxnSpPr>
        <p:spPr>
          <a:xfrm flipV="1">
            <a:off x="3635896" y="5339824"/>
            <a:ext cx="360040" cy="1774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1475656" y="3573016"/>
            <a:ext cx="2736304" cy="57606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6214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3FA1391E-90C5-4B3E-8AA2-EAC73E3BE8DE}" type="slidenum">
              <a:rPr lang="en-US" smtClean="0"/>
              <a:pPr>
                <a:defRPr/>
              </a:pPr>
              <a:t>201</a:t>
            </a:fld>
            <a:endParaRPr lang="en-US">
              <a:latin typeface="+mn-lt"/>
              <a:cs typeface="+mn-cs"/>
            </a:endParaRPr>
          </a:p>
        </p:txBody>
      </p:sp>
      <p:sp>
        <p:nvSpPr>
          <p:cNvPr id="3" name="Title 1"/>
          <p:cNvSpPr txBox="1">
            <a:spLocks/>
          </p:cNvSpPr>
          <p:nvPr/>
        </p:nvSpPr>
        <p:spPr>
          <a:xfrm>
            <a:off x="1979712" y="126386"/>
            <a:ext cx="6984776" cy="1070366"/>
          </a:xfrm>
          <a:prstGeom prst="rect">
            <a:avLst/>
          </a:prstGeom>
        </p:spPr>
        <p:txBody>
          <a:bodyPr/>
          <a:lstStyle>
            <a:lvl1pPr algn="l" defTabSz="455613" rtl="0" eaLnBrk="1" fontAlgn="base" hangingPunct="1">
              <a:spcBef>
                <a:spcPct val="0"/>
              </a:spcBef>
              <a:spcAft>
                <a:spcPct val="0"/>
              </a:spcAft>
              <a:defRPr sz="4000" kern="1200">
                <a:solidFill>
                  <a:srgbClr val="C60C30"/>
                </a:solidFill>
                <a:latin typeface="Arial Bold"/>
                <a:ea typeface="ＭＳ Ｐゴシック" charset="-128"/>
                <a:cs typeface="Arial Bold"/>
              </a:defRPr>
            </a:lvl1pPr>
            <a:lvl2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5613" rtl="0" eaLnBrk="1" fontAlgn="base" hangingPunct="1">
              <a:spcBef>
                <a:spcPct val="0"/>
              </a:spcBef>
              <a:spcAft>
                <a:spcPct val="0"/>
              </a:spcAft>
              <a:defRPr sz="4000">
                <a:solidFill>
                  <a:srgbClr val="C60C30"/>
                </a:solidFill>
                <a:latin typeface="Arial Bold" charset="0"/>
                <a:ea typeface="ＭＳ Ｐゴシック" charset="-128"/>
                <a:cs typeface="Arial Bold" pitchFamily="34" charset="0"/>
              </a:defRPr>
            </a:lvl5pPr>
            <a:lvl6pPr marL="457153" algn="l" defTabSz="457153" rtl="0" eaLnBrk="1" fontAlgn="base" hangingPunct="1">
              <a:spcBef>
                <a:spcPct val="0"/>
              </a:spcBef>
              <a:spcAft>
                <a:spcPct val="0"/>
              </a:spcAft>
              <a:defRPr sz="4000">
                <a:solidFill>
                  <a:srgbClr val="C60C30"/>
                </a:solidFill>
                <a:latin typeface="Arial Bold" charset="0"/>
                <a:ea typeface="ＭＳ Ｐゴシック" charset="-128"/>
              </a:defRPr>
            </a:lvl6pPr>
            <a:lvl7pPr marL="914305" algn="l" defTabSz="457153" rtl="0" eaLnBrk="1" fontAlgn="base" hangingPunct="1">
              <a:spcBef>
                <a:spcPct val="0"/>
              </a:spcBef>
              <a:spcAft>
                <a:spcPct val="0"/>
              </a:spcAft>
              <a:defRPr sz="4000">
                <a:solidFill>
                  <a:srgbClr val="C60C30"/>
                </a:solidFill>
                <a:latin typeface="Arial Bold" charset="0"/>
                <a:ea typeface="ＭＳ Ｐゴシック" charset="-128"/>
              </a:defRPr>
            </a:lvl7pPr>
            <a:lvl8pPr marL="1371458" algn="l" defTabSz="457153" rtl="0" eaLnBrk="1" fontAlgn="base" hangingPunct="1">
              <a:spcBef>
                <a:spcPct val="0"/>
              </a:spcBef>
              <a:spcAft>
                <a:spcPct val="0"/>
              </a:spcAft>
              <a:defRPr sz="4000">
                <a:solidFill>
                  <a:srgbClr val="C60C30"/>
                </a:solidFill>
                <a:latin typeface="Arial Bold" charset="0"/>
                <a:ea typeface="ＭＳ Ｐゴシック" charset="-128"/>
              </a:defRPr>
            </a:lvl8pPr>
            <a:lvl9pPr marL="1828610" algn="l" defTabSz="457153" rtl="0" eaLnBrk="1" fontAlgn="base" hangingPunct="1">
              <a:spcBef>
                <a:spcPct val="0"/>
              </a:spcBef>
              <a:spcAft>
                <a:spcPct val="0"/>
              </a:spcAft>
              <a:defRPr sz="4000">
                <a:solidFill>
                  <a:srgbClr val="C60C30"/>
                </a:solidFill>
                <a:latin typeface="Arial Bold" charset="0"/>
                <a:ea typeface="ＭＳ Ｐゴシック" charset="-128"/>
              </a:defRPr>
            </a:lvl9pPr>
          </a:lstStyle>
          <a:p>
            <a:r>
              <a:rPr lang="en-US" altLang="en-US" sz="3200" b="1" dirty="0" smtClean="0">
                <a:latin typeface="Arial" pitchFamily="34" charset="0"/>
                <a:ea typeface="ＭＳ Ｐゴシック" pitchFamily="34" charset="-128"/>
                <a:cs typeface="Arial" pitchFamily="34" charset="0"/>
                <a:sym typeface="Arial" pitchFamily="34" charset="0"/>
              </a:rPr>
              <a:t>Workshop 15.7 – </a:t>
            </a:r>
            <a:r>
              <a:rPr lang="en-US" altLang="en-US" sz="2400" b="1" dirty="0" smtClean="0">
                <a:latin typeface="Arial" pitchFamily="34" charset="0"/>
                <a:ea typeface="ＭＳ Ｐゴシック" pitchFamily="34" charset="-128"/>
                <a:cs typeface="Arial" pitchFamily="34" charset="0"/>
                <a:sym typeface="Arial" pitchFamily="34" charset="0"/>
              </a:rPr>
              <a:t>live search with database</a:t>
            </a:r>
            <a:endParaRPr lang="en-GB" sz="2400" b="0" dirty="0"/>
          </a:p>
        </p:txBody>
      </p:sp>
      <p:sp>
        <p:nvSpPr>
          <p:cNvPr id="7" name="Rectangle 6"/>
          <p:cNvSpPr/>
          <p:nvPr/>
        </p:nvSpPr>
        <p:spPr>
          <a:xfrm>
            <a:off x="467544" y="1340768"/>
            <a:ext cx="8352928" cy="4914166"/>
          </a:xfrm>
          <a:prstGeom prst="rect">
            <a:avLst/>
          </a:prstGeom>
        </p:spPr>
        <p:txBody>
          <a:bodyPr wrap="square">
            <a:spAutoFit/>
          </a:bodyPr>
          <a:lstStyle/>
          <a:p>
            <a:pPr marL="285750" lvl="0" indent="-285750">
              <a:spcBef>
                <a:spcPts val="400"/>
              </a:spcBef>
              <a:buClr>
                <a:srgbClr val="C60C30"/>
              </a:buClr>
              <a:buFont typeface="Arial" panose="020B0604020202020204" pitchFamily="34" charset="0"/>
              <a:buChar char="•"/>
              <a:defRPr/>
            </a:pPr>
            <a:r>
              <a:rPr lang="en-GB" sz="2000" b="0" dirty="0" smtClean="0">
                <a:solidFill>
                  <a:schemeClr val="tx1"/>
                </a:solidFill>
                <a:latin typeface="+mj-lt"/>
                <a:cs typeface="Courier New" panose="02070309020205020404" pitchFamily="49" charset="0"/>
              </a:rPr>
              <a:t>In example 15.5 a simple static array of values was used as the source of data which can be useful sometimes (e.g. looking up city names in a country where there is a finite list). When using this technique to search on larger datasets it would be better to connect to and search a database</a:t>
            </a:r>
          </a:p>
          <a:p>
            <a:pPr marL="285750" lvl="0" indent="-285750">
              <a:spcBef>
                <a:spcPts val="400"/>
              </a:spcBef>
              <a:buClr>
                <a:srgbClr val="C60C30"/>
              </a:buClr>
              <a:buFont typeface="Arial" panose="020B0604020202020204" pitchFamily="34" charset="0"/>
              <a:buChar char="•"/>
              <a:defRPr/>
            </a:pPr>
            <a:endParaRPr lang="en-GB" sz="2000" b="0" dirty="0">
              <a:solidFill>
                <a:schemeClr val="tx1"/>
              </a:solidFill>
              <a:latin typeface="+mj-lt"/>
              <a:cs typeface="Courier New" panose="02070309020205020404" pitchFamily="49" charset="0"/>
            </a:endParaRPr>
          </a:p>
          <a:p>
            <a:pPr marL="285750" lvl="0" indent="-285750">
              <a:spcBef>
                <a:spcPts val="400"/>
              </a:spcBef>
              <a:buClr>
                <a:srgbClr val="C60C30"/>
              </a:buClr>
              <a:buFont typeface="Arial" panose="020B0604020202020204" pitchFamily="34" charset="0"/>
              <a:buChar char="•"/>
              <a:defRPr/>
            </a:pPr>
            <a:r>
              <a:rPr lang="en-GB" sz="2000" b="0" dirty="0" smtClean="0">
                <a:solidFill>
                  <a:schemeClr val="tx1"/>
                </a:solidFill>
                <a:latin typeface="+mj-lt"/>
                <a:cs typeface="Courier New" panose="02070309020205020404" pitchFamily="49" charset="0"/>
              </a:rPr>
              <a:t>Create an HTML page in the Student Data system built towards the end of the PHP workshops and create an AJAX function to call a PHP script which uses a  function </a:t>
            </a:r>
            <a:r>
              <a:rPr lang="en-GB" sz="2000" b="0" dirty="0" err="1" smtClean="0">
                <a:solidFill>
                  <a:schemeClr val="tx1"/>
                </a:solidFill>
                <a:latin typeface="+mj-lt"/>
                <a:cs typeface="Courier New" panose="02070309020205020404" pitchFamily="49" charset="0"/>
              </a:rPr>
              <a:t>fetchStudents</a:t>
            </a:r>
            <a:r>
              <a:rPr lang="en-GB" sz="2000" b="0" dirty="0" smtClean="0">
                <a:solidFill>
                  <a:schemeClr val="tx1"/>
                </a:solidFill>
                <a:latin typeface="+mj-lt"/>
                <a:cs typeface="Courier New" panose="02070309020205020404" pitchFamily="49" charset="0"/>
              </a:rPr>
              <a:t>(</a:t>
            </a:r>
            <a:r>
              <a:rPr lang="en-GB" sz="2000" b="0" i="1" dirty="0" smtClean="0">
                <a:solidFill>
                  <a:schemeClr val="tx1"/>
                </a:solidFill>
                <a:latin typeface="+mj-lt"/>
                <a:cs typeface="Courier New" panose="02070309020205020404" pitchFamily="49" charset="0"/>
              </a:rPr>
              <a:t>$</a:t>
            </a:r>
            <a:r>
              <a:rPr lang="en-GB" sz="2000" b="0" i="1" dirty="0" err="1" smtClean="0">
                <a:solidFill>
                  <a:schemeClr val="tx1"/>
                </a:solidFill>
                <a:latin typeface="+mj-lt"/>
                <a:cs typeface="Courier New" panose="02070309020205020404" pitchFamily="49" charset="0"/>
              </a:rPr>
              <a:t>searchText</a:t>
            </a:r>
            <a:r>
              <a:rPr lang="en-GB" sz="2000" b="0" dirty="0" smtClean="0">
                <a:solidFill>
                  <a:schemeClr val="tx1"/>
                </a:solidFill>
                <a:latin typeface="+mj-lt"/>
                <a:cs typeface="Courier New" panose="02070309020205020404" pitchFamily="49" charset="0"/>
              </a:rPr>
              <a:t>) based on </a:t>
            </a:r>
            <a:r>
              <a:rPr lang="en-GB" sz="2000" b="0" dirty="0">
                <a:solidFill>
                  <a:schemeClr val="tx1"/>
                </a:solidFill>
                <a:latin typeface="+mj-lt"/>
                <a:cs typeface="Courier New" panose="02070309020205020404" pitchFamily="49" charset="0"/>
              </a:rPr>
              <a:t>the original </a:t>
            </a:r>
            <a:r>
              <a:rPr lang="en-GB" sz="2000" b="0" dirty="0" smtClean="0">
                <a:solidFill>
                  <a:schemeClr val="tx1"/>
                </a:solidFill>
                <a:latin typeface="+mj-lt"/>
                <a:cs typeface="Courier New" panose="02070309020205020404" pitchFamily="49" charset="0"/>
              </a:rPr>
              <a:t>function </a:t>
            </a:r>
            <a:r>
              <a:rPr lang="en-GB" sz="2000" b="0" dirty="0" err="1">
                <a:solidFill>
                  <a:schemeClr val="tx1"/>
                </a:solidFill>
                <a:latin typeface="+mj-lt"/>
                <a:cs typeface="Courier New" panose="02070309020205020404" pitchFamily="49" charset="0"/>
              </a:rPr>
              <a:t>fetchAllStudents</a:t>
            </a:r>
            <a:r>
              <a:rPr lang="en-GB" sz="2000" b="0" dirty="0" smtClean="0">
                <a:solidFill>
                  <a:schemeClr val="tx1"/>
                </a:solidFill>
                <a:latin typeface="+mj-lt"/>
                <a:cs typeface="Courier New" panose="02070309020205020404" pitchFamily="49" charset="0"/>
              </a:rPr>
              <a:t>() </a:t>
            </a:r>
            <a:r>
              <a:rPr lang="en-GB" sz="2000" b="0" dirty="0" err="1" smtClean="0">
                <a:solidFill>
                  <a:schemeClr val="tx1"/>
                </a:solidFill>
                <a:latin typeface="+mj-lt"/>
                <a:cs typeface="Courier New" panose="02070309020205020404" pitchFamily="49" charset="0"/>
              </a:rPr>
              <a:t>StudentsDataSet</a:t>
            </a:r>
            <a:r>
              <a:rPr lang="en-GB" sz="2000" b="0" dirty="0" smtClean="0">
                <a:solidFill>
                  <a:schemeClr val="tx1"/>
                </a:solidFill>
                <a:latin typeface="+mj-lt"/>
                <a:cs typeface="Courier New" panose="02070309020205020404" pitchFamily="49" charset="0"/>
              </a:rPr>
              <a:t> class modified to take a text search parameter and return a set of comma separated values </a:t>
            </a:r>
            <a:r>
              <a:rPr lang="en-GB" sz="2000" b="0" i="1" dirty="0" smtClean="0">
                <a:solidFill>
                  <a:schemeClr val="tx1"/>
                </a:solidFill>
                <a:latin typeface="+mj-lt"/>
                <a:cs typeface="Courier New" panose="02070309020205020404" pitchFamily="49" charset="0"/>
              </a:rPr>
              <a:t>(as per </a:t>
            </a:r>
            <a:r>
              <a:rPr lang="en-GB" sz="2000" b="0" i="1" dirty="0" smtClean="0">
                <a:solidFill>
                  <a:srgbClr val="C00000"/>
                </a:solidFill>
                <a:latin typeface="+mj-lt"/>
                <a:cs typeface="Courier New" panose="02070309020205020404" pitchFamily="49" charset="0"/>
              </a:rPr>
              <a:t>15.6</a:t>
            </a:r>
            <a:r>
              <a:rPr lang="en-GB" sz="2000" b="0" i="1" dirty="0" smtClean="0">
                <a:solidFill>
                  <a:schemeClr val="tx1"/>
                </a:solidFill>
                <a:latin typeface="+mj-lt"/>
                <a:cs typeface="Courier New" panose="02070309020205020404" pitchFamily="49" charset="0"/>
              </a:rPr>
              <a:t>)</a:t>
            </a:r>
          </a:p>
          <a:p>
            <a:pPr marL="285750" lvl="0" indent="-285750">
              <a:spcBef>
                <a:spcPts val="400"/>
              </a:spcBef>
              <a:buClr>
                <a:srgbClr val="C60C30"/>
              </a:buClr>
              <a:buFont typeface="Arial" panose="020B0604020202020204" pitchFamily="34" charset="0"/>
              <a:buChar char="•"/>
              <a:defRPr/>
            </a:pPr>
            <a:endParaRPr lang="en-GB" sz="2000" b="0" dirty="0">
              <a:solidFill>
                <a:schemeClr val="tx1"/>
              </a:solidFill>
              <a:latin typeface="+mj-lt"/>
              <a:cs typeface="Courier New" panose="02070309020205020404" pitchFamily="49" charset="0"/>
            </a:endParaRPr>
          </a:p>
          <a:p>
            <a:pPr marL="285750" lvl="0" indent="-285750">
              <a:spcBef>
                <a:spcPts val="400"/>
              </a:spcBef>
              <a:buClr>
                <a:srgbClr val="C60C30"/>
              </a:buClr>
              <a:buFont typeface="Arial" panose="020B0604020202020204" pitchFamily="34" charset="0"/>
              <a:buChar char="•"/>
              <a:defRPr/>
            </a:pPr>
            <a:r>
              <a:rPr lang="en-GB" sz="2000" b="0" dirty="0" smtClean="0">
                <a:solidFill>
                  <a:schemeClr val="tx1"/>
                </a:solidFill>
                <a:latin typeface="+mj-lt"/>
                <a:cs typeface="Courier New" panose="02070309020205020404" pitchFamily="49" charset="0"/>
              </a:rPr>
              <a:t>Display the returned values in a UI component and make the returned values individually clickable.</a:t>
            </a:r>
            <a:endParaRPr lang="en-GB" sz="2000" b="0" dirty="0">
              <a:solidFill>
                <a:schemeClr val="tx1"/>
              </a:solidFill>
              <a:latin typeface="+mj-lt"/>
              <a:cs typeface="Courier New" panose="02070309020205020404" pitchFamily="49" charset="0"/>
            </a:endParaRPr>
          </a:p>
        </p:txBody>
      </p:sp>
    </p:spTree>
    <p:extLst>
      <p:ext uri="{BB962C8B-B14F-4D97-AF65-F5344CB8AC3E}">
        <p14:creationId xmlns:p14="http://schemas.microsoft.com/office/powerpoint/2010/main" val="2498287548"/>
      </p:ext>
    </p:extLst>
  </p:cSld>
  <p:clrMapOvr>
    <a:masterClrMapping/>
  </p:clrMapOvr>
</p:sld>
</file>

<file path=ppt/theme/theme1.xml><?xml version="1.0" encoding="utf-8"?>
<a:theme xmlns:a="http://schemas.openxmlformats.org/drawingml/2006/main" name="UoS template_no_logo_white">
  <a:themeElements>
    <a:clrScheme name="UoS01">
      <a:dk1>
        <a:sysClr val="windowText" lastClr="000000"/>
      </a:dk1>
      <a:lt1>
        <a:sysClr val="window" lastClr="FFFFFF"/>
      </a:lt1>
      <a:dk2>
        <a:srgbClr val="C60C30"/>
      </a:dk2>
      <a:lt2>
        <a:srgbClr val="FFFFFF"/>
      </a:lt2>
      <a:accent1>
        <a:srgbClr val="C60C30"/>
      </a:accent1>
      <a:accent2>
        <a:srgbClr val="009AA6"/>
      </a:accent2>
      <a:accent3>
        <a:srgbClr val="920075"/>
      </a:accent3>
      <a:accent4>
        <a:srgbClr val="BED600"/>
      </a:accent4>
      <a:accent5>
        <a:srgbClr val="E37222"/>
      </a:accent5>
      <a:accent6>
        <a:srgbClr val="782327"/>
      </a:accent6>
      <a:hlink>
        <a:srgbClr val="002060"/>
      </a:hlink>
      <a:folHlink>
        <a:srgbClr val="C2BDB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C60C30"/>
          </a:solidFill>
        </a:ln>
        <a:effectLst>
          <a:glow rad="101600">
            <a:schemeClr val="accent1">
              <a:satMod val="175000"/>
              <a:alpha val="40000"/>
            </a:schemeClr>
          </a:glow>
        </a:effectLst>
      </a:spPr>
      <a:bodyPr rtlCol="0" anchor="ctr"/>
      <a:lstStyle>
        <a:defPPr algn="ctr">
          <a:defRPr/>
        </a:defPPr>
      </a:lstStyle>
      <a:style>
        <a:lnRef idx="2">
          <a:schemeClr val="accent1"/>
        </a:lnRef>
        <a:fillRef idx="1">
          <a:schemeClr val="lt1"/>
        </a:fillRef>
        <a:effectRef idx="0">
          <a:schemeClr val="accent1"/>
        </a:effectRef>
        <a:fontRef idx="minor">
          <a:schemeClr val="dk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572E2D"/>
      </a:dk1>
      <a:lt1>
        <a:srgbClr val="2A5657"/>
      </a:lt1>
      <a:dk2>
        <a:srgbClr val="42464D"/>
      </a:dk2>
      <a:lt2>
        <a:srgbClr val="D4D6D9"/>
      </a:lt2>
      <a:accent1>
        <a:srgbClr val="095CC4"/>
      </a:accent1>
      <a:accent2>
        <a:srgbClr val="1B8518"/>
      </a:accent2>
      <a:accent3>
        <a:srgbClr val="ACB4B4"/>
      </a:accent3>
      <a:accent4>
        <a:srgbClr val="492625"/>
      </a:accent4>
      <a:accent5>
        <a:srgbClr val="AAB5DE"/>
      </a:accent5>
      <a:accent6>
        <a:srgbClr val="177815"/>
      </a:accent6>
      <a:hlink>
        <a:srgbClr val="0000FF"/>
      </a:hlink>
      <a:folHlink>
        <a:srgbClr val="FF00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Workshop 7 - MySQL Databases</Template>
  <TotalTime>4784</TotalTime>
  <Words>1349</Words>
  <Application>Microsoft Office PowerPoint</Application>
  <PresentationFormat>On-screen Show (4:3)</PresentationFormat>
  <Paragraphs>174</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UoS template_no_logo_white</vt:lpstr>
      <vt:lpstr>PowerPoint Presentation</vt:lpstr>
      <vt:lpstr>Introduction to AJAX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 Development  Version 5.4</dc:title>
  <dc:creator>Lee Griffiths</dc:creator>
  <cp:lastModifiedBy>Lee Griffiths</cp:lastModifiedBy>
  <cp:revision>346</cp:revision>
  <dcterms:modified xsi:type="dcterms:W3CDTF">2018-02-08T18:08:11Z</dcterms:modified>
</cp:coreProperties>
</file>